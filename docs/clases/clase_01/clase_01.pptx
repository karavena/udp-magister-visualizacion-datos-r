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EB Garamond Medium"/>
      <p:regular r:id="rId32"/>
      <p:bold r:id="rId33"/>
      <p:italic r:id="rId34"/>
      <p:boldItalic r:id="rId35"/>
    </p:embeddedFont>
    <p:embeddedFont>
      <p:font typeface="EB Garamond SemiBold"/>
      <p:regular r:id="rId36"/>
      <p:bold r:id="rId37"/>
      <p:italic r:id="rId38"/>
      <p:boldItalic r:id="rId39"/>
    </p:embeddedFont>
    <p:embeddedFont>
      <p:font typeface="EB Garamond"/>
      <p:regular r:id="rId40"/>
      <p:bold r:id="rId41"/>
      <p:italic r:id="rId42"/>
      <p:boldItalic r:id="rId43"/>
    </p:embeddedFont>
    <p:embeddedFont>
      <p:font typeface="EB Garamond ExtraBold"/>
      <p:bold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BGaramond-regular.fntdata"/><Relationship Id="rId20" Type="http://schemas.openxmlformats.org/officeDocument/2006/relationships/slide" Target="slides/slide15.xml"/><Relationship Id="rId42" Type="http://schemas.openxmlformats.org/officeDocument/2006/relationships/font" Target="fonts/EBGaramond-italic.fntdata"/><Relationship Id="rId41" Type="http://schemas.openxmlformats.org/officeDocument/2006/relationships/font" Target="fonts/EBGaramond-bold.fntdata"/><Relationship Id="rId22" Type="http://schemas.openxmlformats.org/officeDocument/2006/relationships/slide" Target="slides/slide17.xml"/><Relationship Id="rId44" Type="http://schemas.openxmlformats.org/officeDocument/2006/relationships/font" Target="fonts/EBGaramondExtraBold-bold.fntdata"/><Relationship Id="rId21" Type="http://schemas.openxmlformats.org/officeDocument/2006/relationships/slide" Target="slides/slide16.xml"/><Relationship Id="rId43" Type="http://schemas.openxmlformats.org/officeDocument/2006/relationships/font" Target="fonts/EBGaramond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EBGaramondExtra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EBGaramondMedium-bold.fntdata"/><Relationship Id="rId10" Type="http://schemas.openxmlformats.org/officeDocument/2006/relationships/slide" Target="slides/slide5.xml"/><Relationship Id="rId32" Type="http://schemas.openxmlformats.org/officeDocument/2006/relationships/font" Target="fonts/EBGaramondMedium-regular.fntdata"/><Relationship Id="rId13" Type="http://schemas.openxmlformats.org/officeDocument/2006/relationships/slide" Target="slides/slide8.xml"/><Relationship Id="rId35" Type="http://schemas.openxmlformats.org/officeDocument/2006/relationships/font" Target="fonts/EBGaramond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EBGaramondMedium-italic.fntdata"/><Relationship Id="rId15" Type="http://schemas.openxmlformats.org/officeDocument/2006/relationships/slide" Target="slides/slide10.xml"/><Relationship Id="rId37" Type="http://schemas.openxmlformats.org/officeDocument/2006/relationships/font" Target="fonts/EBGaramondSemiBold-bold.fntdata"/><Relationship Id="rId14" Type="http://schemas.openxmlformats.org/officeDocument/2006/relationships/slide" Target="slides/slide9.xml"/><Relationship Id="rId36" Type="http://schemas.openxmlformats.org/officeDocument/2006/relationships/font" Target="fonts/EBGaramondSemiBold-regular.fntdata"/><Relationship Id="rId17" Type="http://schemas.openxmlformats.org/officeDocument/2006/relationships/slide" Target="slides/slide12.xml"/><Relationship Id="rId39" Type="http://schemas.openxmlformats.org/officeDocument/2006/relationships/font" Target="fonts/EBGaramondSemi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EBGaramondSemiBold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b0a6c9a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b0a6c9a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b0a6c9a6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b0a6c9a6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be0ec9c984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be0ec9c984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e0ec9c984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be0ec9c984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43ab1a40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43ab1a40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43ab1a40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43ab1a40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43ab1a40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43ab1a40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43ab1a40c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43ab1a40c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43ab1a40c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43ab1a40c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b0a6c9a6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b0a6c9a6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43ab1a40c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43ab1a40c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43ab1a40c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43ab1a40c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43ab1a40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43ab1a40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be0ec9c984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be0ec9c984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43ab1a40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43ab1a40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43ab1a40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443ab1a40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43ab1a40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443ab1a40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443ab1a40c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443ab1a40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43ab1a40c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43ab1a40c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443ab1a40c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443ab1a40c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43ab1a40c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443ab1a40c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443ab1a40c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443ab1a40c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443ab1a40c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443ab1a40c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443ab1a40c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443ab1a40c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443ab1a40c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443ab1a40c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b0a6c9a6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db0a6c9a6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daniela.olivares2@mail.udp.cl" TargetMode="External"/><Relationship Id="rId4" Type="http://schemas.openxmlformats.org/officeDocument/2006/relationships/hyperlink" Target="mailto:katherine.aravena@ug.uchile.c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11" Type="http://schemas.openxmlformats.org/officeDocument/2006/relationships/hyperlink" Target="https://www.biobiochile.cl/noticias/ciencia-y-tecnologia/astronomia/2021/05/04/ingeniero-chileno-colaboro-en-el-software-de-ingenuity-el-helicoptero-de-la-nasa-que-esta-en-marte.shtml" TargetMode="External"/><Relationship Id="rId10" Type="http://schemas.openxmlformats.org/officeDocument/2006/relationships/hyperlink" Target="https://www.biobiochile.cl/noticias/ciencia-y-tecnologia/astronomia/2021/05/04/ingeniero-chileno-colaboro-en-el-software-de-ingenuity-el-helicoptero-de-la-nasa-que-esta-en-marte.shtml" TargetMode="External"/><Relationship Id="rId9" Type="http://schemas.openxmlformats.org/officeDocument/2006/relationships/hyperlink" Target="https://www.elmostrador.cl/cultura/2021/05/20/profesor-de-universidad-chilena-es-reconocido-por-aporte-a-mision-de-la-nasa/" TargetMode="External"/><Relationship Id="rId5" Type="http://schemas.openxmlformats.org/officeDocument/2006/relationships/image" Target="../media/image10.png"/><Relationship Id="rId6" Type="http://schemas.openxmlformats.org/officeDocument/2006/relationships/hyperlink" Target="https://www.inf.utfsm.cl/noticias/504-chihau-chau-mision-de-la-nasa" TargetMode="External"/><Relationship Id="rId7" Type="http://schemas.openxmlformats.org/officeDocument/2006/relationships/hyperlink" Target="https://www.inf.utfsm.cl/noticias/504-chihau-chau-mision-de-la-nasa" TargetMode="External"/><Relationship Id="rId8" Type="http://schemas.openxmlformats.org/officeDocument/2006/relationships/hyperlink" Target="https://www.elmostrador.cl/cultura/2021/05/20/profesor-de-universidad-chilena-es-reconocido-por-aporte-a-mision-de-la-nasa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23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hyperlink" Target="https://twitter.com/geokaramanis/status/1549010093924130819?s=48&amp;t=C1fVO10sgNN3Vl9zLXQZ9g" TargetMode="External"/><Relationship Id="rId5" Type="http://schemas.openxmlformats.org/officeDocument/2006/relationships/hyperlink" Target="https://twitter.com/geokaramanis/status/1549010093924130819?s=48&amp;t=C1fVO10sgNN3Vl9zLXQZ9g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hyperlink" Target="https://radiografia-cambio-social-2016-2022.netlify.app/" TargetMode="External"/><Relationship Id="rId5" Type="http://schemas.openxmlformats.org/officeDocument/2006/relationships/hyperlink" Target="https://radiografia-cambio-social-2016-2022.netlify.app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Relationship Id="rId4" Type="http://schemas.openxmlformats.org/officeDocument/2006/relationships/hyperlink" Target="https://descriptiva-2024.netlify.app/netlify.app/" TargetMode="External"/><Relationship Id="rId5" Type="http://schemas.openxmlformats.org/officeDocument/2006/relationships/hyperlink" Target="https://descriptiva-2024.netlify.app/netlify.app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ocs-coes.netlify.app/app/" TargetMode="External"/><Relationship Id="rId4" Type="http://schemas.openxmlformats.org/officeDocument/2006/relationships/hyperlink" Target="https://ocs-coes.netlify.app/app/" TargetMode="External"/><Relationship Id="rId5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EB Garamond"/>
                <a:ea typeface="EB Garamond"/>
                <a:cs typeface="EB Garamond"/>
                <a:sym typeface="EB Garamond"/>
              </a:rPr>
              <a:t>PROCESAMIENTO Y 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EB Garamond"/>
                <a:ea typeface="EB Garamond"/>
                <a:cs typeface="EB Garamond"/>
                <a:sym typeface="EB Garamond"/>
              </a:rPr>
              <a:t>VISUALIZACIÓN DE DATOS EN R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latin typeface="EB Garamond"/>
                <a:ea typeface="EB Garamond"/>
                <a:cs typeface="EB Garamond"/>
                <a:sym typeface="EB Garamond"/>
              </a:rPr>
              <a:t>Clase 01 | Unidad 1. Introducción al uso de R</a:t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Universidad </a:t>
            </a: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Diego Portales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Magíster en Métodos para la Investigación Social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 sz="1405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1er semestre 2026</a:t>
            </a:r>
            <a:endParaRPr sz="1405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58" name="Google Shape;58;p13" title="Logo_Universidad_Diego_Portal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675" y="384875"/>
            <a:ext cx="2942624" cy="71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1090500"/>
            <a:ext cx="8520600" cy="25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3"/>
              </a:rPr>
              <a:t>daniela.olivares2@mail.udp.cl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4"/>
              </a:rPr>
              <a:t>katherine.aravena@ug.uchile.cl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 SemiBold"/>
                <a:ea typeface="EB Garamond SemiBold"/>
                <a:cs typeface="EB Garamond SemiBold"/>
                <a:sym typeface="EB Garamond SemiBold"/>
              </a:rPr>
              <a:t>Objetivos</a:t>
            </a:r>
            <a:endParaRPr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1. </a:t>
            </a:r>
            <a:r>
              <a:rPr lang="es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Introducción al software y lenguaje de programación R</a:t>
            </a:r>
            <a:endParaRPr>
              <a:solidFill>
                <a:schemeClr val="dk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AutoNum type="arabicPeriod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Introducción a la Ciencia Abierta 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AutoNum type="arabicPeriod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Flujo de trabajo reproducible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AutoNum type="arabicPeriod"/>
            </a:pPr>
            <a:r>
              <a:rPr lang="es" sz="14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 environment: interfaz de RStudio, script, workspace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AutoNum type="arabicPeriod"/>
            </a:pPr>
            <a:r>
              <a:rPr lang="es" sz="14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Ejemplos del uso de R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AutoNum type="arabicPeriod"/>
            </a:pPr>
            <a:r>
              <a:rPr lang="es" sz="14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Prácticas y herramientas de consulta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AutoNum type="arabicPeriod"/>
            </a:pPr>
            <a:r>
              <a:rPr lang="es" sz="14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Lógica de R Project y flujo de trabajo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 SemiBold"/>
                <a:ea typeface="EB Garamond SemiBold"/>
                <a:cs typeface="EB Garamond SemiBold"/>
                <a:sym typeface="EB Garamond SemiBold"/>
              </a:rPr>
              <a:t>Sesión </a:t>
            </a:r>
            <a:r>
              <a:rPr lang="es">
                <a:latin typeface="EB Garamond SemiBold"/>
                <a:ea typeface="EB Garamond SemiBold"/>
                <a:cs typeface="EB Garamond SemiBold"/>
                <a:sym typeface="EB Garamond SemiBold"/>
              </a:rPr>
              <a:t>01</a:t>
            </a:r>
            <a:endParaRPr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5818E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1.1.	Introducción a la Ciencia Abierta</a:t>
            </a:r>
            <a:endParaRPr>
              <a:solidFill>
                <a:schemeClr val="lt2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Ciencia Abierta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6259200" cy="35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La ciencia abierta busca hacer que la investigación científica sea más </a:t>
            </a:r>
            <a:r>
              <a:rPr lang="es">
                <a:solidFill>
                  <a:schemeClr val="dk1"/>
                </a:solidFill>
                <a:highlight>
                  <a:srgbClr val="A2C4C9"/>
                </a:highlight>
                <a:latin typeface="EB Garamond"/>
                <a:ea typeface="EB Garamond"/>
                <a:cs typeface="EB Garamond"/>
                <a:sym typeface="EB Garamond"/>
              </a:rPr>
              <a:t>accesible, transparente, colaborativa y eficiente</a:t>
            </a: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, lo que puede tener un impacto positivo en la calidad y relevancia de la investigación, así como en la sociedad en general.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Busca fomentar la </a:t>
            </a:r>
            <a:r>
              <a:rPr lang="es">
                <a:solidFill>
                  <a:schemeClr val="dk1"/>
                </a:solidFill>
                <a:highlight>
                  <a:srgbClr val="A2C4C9"/>
                </a:highlight>
                <a:latin typeface="EB Garamond"/>
                <a:ea typeface="EB Garamond"/>
                <a:cs typeface="EB Garamond"/>
                <a:sym typeface="EB Garamond"/>
              </a:rPr>
              <a:t>colaboración</a:t>
            </a: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, el </a:t>
            </a:r>
            <a:r>
              <a:rPr lang="es">
                <a:solidFill>
                  <a:schemeClr val="dk1"/>
                </a:solidFill>
                <a:highlight>
                  <a:srgbClr val="A2C4C9"/>
                </a:highlight>
                <a:latin typeface="EB Garamond"/>
                <a:ea typeface="EB Garamond"/>
                <a:cs typeface="EB Garamond"/>
                <a:sym typeface="EB Garamond"/>
              </a:rPr>
              <a:t>intercambio</a:t>
            </a: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de información y la </a:t>
            </a:r>
            <a:r>
              <a:rPr lang="es">
                <a:solidFill>
                  <a:schemeClr val="dk1"/>
                </a:solidFill>
                <a:highlight>
                  <a:srgbClr val="A2C4C9"/>
                </a:highlight>
                <a:latin typeface="EB Garamond"/>
                <a:ea typeface="EB Garamond"/>
                <a:cs typeface="EB Garamond"/>
                <a:sym typeface="EB Garamond"/>
              </a:rPr>
              <a:t>difusión</a:t>
            </a: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de conocimientos.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Implica la publicación de datos, artículos, informes y otros tipos de resultados de investigación en formatos que sean de acceso libre y que permitan la reutilización de los mismos.</a:t>
            </a:r>
            <a:endParaRPr sz="20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0900" y="1771375"/>
            <a:ext cx="2268300" cy="235454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7049375" y="4300200"/>
            <a:ext cx="13755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Fuente: UNESCO</a:t>
            </a:r>
            <a:endParaRPr sz="1200">
              <a:solidFill>
                <a:schemeClr val="dk2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Ciencia Abierta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6259200" cy="35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850" y="1301100"/>
            <a:ext cx="5070800" cy="3417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000" y="2792500"/>
            <a:ext cx="1644450" cy="175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2050" y="2043475"/>
            <a:ext cx="2400750" cy="15760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6391500" y="3951300"/>
            <a:ext cx="26514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Fuente:</a:t>
            </a:r>
            <a:r>
              <a:rPr lang="es" sz="1200">
                <a:solidFill>
                  <a:schemeClr val="dk1"/>
                </a:solidFill>
                <a:uFill>
                  <a:noFill/>
                </a:uFill>
                <a:latin typeface="EB Garamond Medium"/>
                <a:ea typeface="EB Garamond Medium"/>
                <a:cs typeface="EB Garamond Medium"/>
                <a:sym typeface="EB Garamond Medium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200" u="sng">
                <a:solidFill>
                  <a:schemeClr val="hlink"/>
                </a:solidFill>
                <a:latin typeface="EB Garamond Medium"/>
                <a:ea typeface="EB Garamond Medium"/>
                <a:cs typeface="EB Garamond Medium"/>
                <a:sym typeface="EB Garamond Medium"/>
                <a:hlinkClick r:id="rId7"/>
              </a:rPr>
              <a:t>UTFSM</a:t>
            </a:r>
            <a:r>
              <a:rPr lang="es" sz="1200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,</a:t>
            </a:r>
            <a:r>
              <a:rPr lang="es" sz="1200">
                <a:solidFill>
                  <a:schemeClr val="dk1"/>
                </a:solidFill>
                <a:uFill>
                  <a:noFill/>
                </a:uFill>
                <a:latin typeface="EB Garamond Medium"/>
                <a:ea typeface="EB Garamond Medium"/>
                <a:cs typeface="EB Garamond Medium"/>
                <a:sym typeface="EB Garamond Medium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200" u="sng">
                <a:solidFill>
                  <a:schemeClr val="hlink"/>
                </a:solidFill>
                <a:latin typeface="EB Garamond Medium"/>
                <a:ea typeface="EB Garamond Medium"/>
                <a:cs typeface="EB Garamond Medium"/>
                <a:sym typeface="EB Garamond Medium"/>
                <a:hlinkClick r:id="rId9"/>
              </a:rPr>
              <a:t>El Mostrador</a:t>
            </a:r>
            <a:r>
              <a:rPr lang="es" sz="1200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,</a:t>
            </a:r>
            <a:r>
              <a:rPr lang="es" sz="1200">
                <a:solidFill>
                  <a:schemeClr val="dk1"/>
                </a:solidFill>
                <a:uFill>
                  <a:noFill/>
                </a:uFill>
                <a:latin typeface="EB Garamond Medium"/>
                <a:ea typeface="EB Garamond Medium"/>
                <a:cs typeface="EB Garamond Medium"/>
                <a:sym typeface="EB Garamond Medium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200" u="sng">
                <a:solidFill>
                  <a:schemeClr val="hlink"/>
                </a:solidFill>
                <a:latin typeface="EB Garamond Medium"/>
                <a:ea typeface="EB Garamond Medium"/>
                <a:cs typeface="EB Garamond Medium"/>
                <a:sym typeface="EB Garamond Medium"/>
                <a:hlinkClick r:id="rId11"/>
              </a:rPr>
              <a:t>Biobio</a:t>
            </a:r>
            <a:endParaRPr sz="1200" u="sng">
              <a:solidFill>
                <a:schemeClr val="hlink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¿Por qué optar por software libre?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452200" cy="35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Definición: “El software libre es una cuestión de libertad, no de precio. (...) Con software libre nos referimos a la libertad que tienen los usuarios para </a:t>
            </a:r>
            <a:r>
              <a:rPr lang="es">
                <a:solidFill>
                  <a:schemeClr val="dk1"/>
                </a:solidFill>
                <a:highlight>
                  <a:srgbClr val="A2C4C9"/>
                </a:highlight>
                <a:latin typeface="EB Garamond"/>
                <a:ea typeface="EB Garamond"/>
                <a:cs typeface="EB Garamond"/>
                <a:sym typeface="EB Garamond"/>
              </a:rPr>
              <a:t>ejecutar, copiar, distribuir, estudiar, modificar y mejorar</a:t>
            </a: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el software.” (Stallman, 2004).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Un gran punto a favor es no tener que pagar licencia.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No es sólo cuestión de “costo”: ejemplos de uso limitante de software pagado: Técnica como caja negra.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Herramientas computacionales e investigación científica: deberíamos poder tener control sobre todos los componentes de nuestro proceso investigativo.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5818E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1.2. Flujo de trabajo reproducible</a:t>
            </a:r>
            <a:endParaRPr>
              <a:solidFill>
                <a:schemeClr val="lt2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F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lujo de trabajo reproducible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725" y="1608725"/>
            <a:ext cx="6228550" cy="31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Flujo de trabajo reproducible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488" y="1575850"/>
            <a:ext cx="6963024" cy="28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Lógica de R Project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 y flujo de trabajo reproducible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1988" y="1255925"/>
            <a:ext cx="5960025" cy="284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7863" y="4105275"/>
            <a:ext cx="5068774" cy="79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5818E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1.3. Introducción al software y lenguaje de programación R</a:t>
            </a:r>
            <a:endParaRPr>
              <a:solidFill>
                <a:schemeClr val="lt2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Relevancia del uso de software en investigación social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6428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El análisis de datos sociales hoy: tendencias emergentes en los procesos de producción de información social.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Es central manejar herramientas altamente flexibles.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Diferentes alternativas de softwares para análisis de datos.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El software como decisión metodológica: conocer y controlar potencialidades y límites de nuestra herramienta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0650" y="1836050"/>
            <a:ext cx="5905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1450" y="1737488"/>
            <a:ext cx="58102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0450" y="2462100"/>
            <a:ext cx="3810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52688" y="2997075"/>
            <a:ext cx="7334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50475" y="3027350"/>
            <a:ext cx="702965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07988" y="3609013"/>
            <a:ext cx="735886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42700" y="3620100"/>
            <a:ext cx="1047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debo considerar para decidir aprender un nuevo software?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152475"/>
            <a:ext cx="659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¿Qué tipo de datos quiero analizar?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¿Cuáles son los costos netos para aprender un lenguaje?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¿Cuáles son las herramientas más usadas en mi disciplina?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¿Cuáles son las otras herramientas disponibles y cómo se relacionan entre sí?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Desarrollo del software en el tiempo.</a:t>
            </a:r>
            <a:endParaRPr sz="20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49" name="Google Shape;1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5413" y="1533525"/>
            <a:ext cx="1666875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Software, Ciencia Abierta y R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6179400" cy="35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-331946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EB Garamond"/>
              <a:buChar char="●"/>
            </a:pPr>
            <a:r>
              <a:rPr lang="es" sz="21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Software libre (freeware): Licencia Pública General (General Public License).</a:t>
            </a:r>
            <a:endParaRPr sz="21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1946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EB Garamond"/>
              <a:buChar char="●"/>
            </a:pPr>
            <a:r>
              <a:rPr lang="es" sz="21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Distribución gratuita de su versión básica y funciones especializadas.</a:t>
            </a:r>
            <a:endParaRPr sz="21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1946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EB Garamond"/>
              <a:buChar char="●"/>
            </a:pPr>
            <a:r>
              <a:rPr lang="es" sz="21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 Development Core Team y CRAN (Comprehensive R Archive Network) como espacio de desarrollo y distribución del software.</a:t>
            </a:r>
            <a:endParaRPr sz="21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1946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EB Garamond"/>
              <a:buChar char="●"/>
            </a:pPr>
            <a:r>
              <a:rPr lang="es" sz="21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Actualización pública, gratuita y permanente de versión básica y especializada.</a:t>
            </a:r>
            <a:endParaRPr sz="21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1946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EB Garamond"/>
              <a:buChar char="●"/>
            </a:pPr>
            <a:r>
              <a:rPr lang="es" sz="21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Contribución de comunidades científicas activas alrededor del mundo desarrollan herramientas de procesamiento, visualización y análisis de datos.</a:t>
            </a:r>
            <a:endParaRPr sz="21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0900" y="1771375"/>
            <a:ext cx="2268300" cy="235454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7"/>
          <p:cNvSpPr txBox="1"/>
          <p:nvPr/>
        </p:nvSpPr>
        <p:spPr>
          <a:xfrm>
            <a:off x="7049375" y="4300200"/>
            <a:ext cx="13755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Fuente: UNESCO</a:t>
            </a:r>
            <a:endParaRPr sz="1200">
              <a:solidFill>
                <a:schemeClr val="dk2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Por qué elegir R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311700" y="1152475"/>
            <a:ext cx="6179400" cy="35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Gratis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Open Source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Multiplataforma (Windows, MacOS, Linux)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 evolución rápida (mediante paquetes)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Potente en la manipulación de datos, cálculo y gráficos. Procedimientos eficientes para el tratamiento de datos y su almacenamiento.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Sistema de documentación integrado y muy bien concebido.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RStudio: interfaz gráfica de R.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2700" y="1575088"/>
            <a:ext cx="1711700" cy="272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Estructura de un comando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3203725"/>
            <a:ext cx="8442300" cy="15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 un objeto se le asigna el resultado de una función que se ejecuta sobre un conjunto de datos especificado y una serie de configuraciones particulares.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Esta es la estructura de un comando básico del lenguaje R.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</a:pP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Hay paquetes que tienen ciertas especificidades y hay algunos “atajos” a esta estructura.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71" name="Google Shape;17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326" y="1349525"/>
            <a:ext cx="7879050" cy="16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Interfaz de RStudio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187" y="1220100"/>
            <a:ext cx="7213624" cy="369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5818E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1.3. Ejemplos del uso de R</a:t>
            </a:r>
            <a:endParaRPr>
              <a:solidFill>
                <a:schemeClr val="lt2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1.3. Ejemplos del uso de R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3909450" y="1162425"/>
            <a:ext cx="4824000" cy="35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2424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2424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2424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2424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2424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424242"/>
                </a:solidFill>
                <a:latin typeface="Courier New"/>
                <a:ea typeface="Courier New"/>
                <a:cs typeface="Courier New"/>
                <a:sym typeface="Courier New"/>
              </a:rPr>
              <a:t>library(ggforce)</a:t>
            </a:r>
            <a:endParaRPr sz="900">
              <a:solidFill>
                <a:srgbClr val="42424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424242"/>
                </a:solidFill>
                <a:latin typeface="Courier New"/>
                <a:ea typeface="Courier New"/>
                <a:cs typeface="Courier New"/>
                <a:sym typeface="Courier New"/>
              </a:rPr>
              <a:t>library(dplyr)</a:t>
            </a:r>
            <a:endParaRPr sz="900">
              <a:solidFill>
                <a:srgbClr val="42424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2424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424242"/>
                </a:solidFill>
                <a:latin typeface="Courier New"/>
                <a:ea typeface="Courier New"/>
                <a:cs typeface="Courier New"/>
                <a:sym typeface="Courier New"/>
              </a:rPr>
              <a:t>tibble(t=seq(-6,6,8e3)) %&gt;%</a:t>
            </a:r>
            <a:endParaRPr sz="900">
              <a:solidFill>
                <a:srgbClr val="42424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424242"/>
                </a:solidFill>
                <a:latin typeface="Courier New"/>
                <a:ea typeface="Courier New"/>
                <a:cs typeface="Courier New"/>
                <a:sym typeface="Courier New"/>
              </a:rPr>
              <a:t>mutate(x=sin(5*t)^2*2^cos(cos(8*t)),y=sin(sin(5*t))*cos(7*t)^2) %&gt;%</a:t>
            </a:r>
            <a:endParaRPr sz="900">
              <a:solidFill>
                <a:srgbClr val="42424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424242"/>
                </a:solidFill>
                <a:latin typeface="Courier New"/>
                <a:ea typeface="Courier New"/>
                <a:cs typeface="Courier New"/>
                <a:sym typeface="Courier New"/>
              </a:rPr>
              <a:t>    ggplot(aes(x,y,fill=sin(x^6))) +</a:t>
            </a:r>
            <a:endParaRPr sz="900">
              <a:solidFill>
                <a:srgbClr val="42424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424242"/>
                </a:solidFill>
                <a:latin typeface="Courier New"/>
                <a:ea typeface="Courier New"/>
                <a:cs typeface="Courier New"/>
                <a:sym typeface="Courier New"/>
              </a:rPr>
              <a:t>    geom_voronoi_tile(color=1) +</a:t>
            </a:r>
            <a:endParaRPr sz="900">
              <a:solidFill>
                <a:srgbClr val="42424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424242"/>
                </a:solidFill>
                <a:latin typeface="Courier New"/>
                <a:ea typeface="Courier New"/>
                <a:cs typeface="Courier New"/>
                <a:sym typeface="Courier New"/>
              </a:rPr>
              <a:t>    scale_fill_fermenter(guide="none",palette=7) +</a:t>
            </a:r>
            <a:endParaRPr sz="900">
              <a:solidFill>
                <a:srgbClr val="42424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424242"/>
                </a:solidFill>
                <a:latin typeface="Courier New"/>
                <a:ea typeface="Courier New"/>
                <a:cs typeface="Courier New"/>
                <a:sym typeface="Courier New"/>
              </a:rPr>
              <a:t>    coord_flip() +</a:t>
            </a:r>
            <a:endParaRPr sz="900">
              <a:solidFill>
                <a:srgbClr val="42424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424242"/>
                </a:solidFill>
                <a:latin typeface="Courier New"/>
                <a:ea typeface="Courier New"/>
                <a:cs typeface="Courier New"/>
                <a:sym typeface="Courier New"/>
              </a:rPr>
              <a:t>    theme_void()</a:t>
            </a:r>
            <a:endParaRPr sz="900">
              <a:solidFill>
                <a:srgbClr val="42424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pic>
        <p:nvPicPr>
          <p:cNvPr id="189" name="Google Shape;18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550" y="1231563"/>
            <a:ext cx="3428125" cy="342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2"/>
          <p:cNvSpPr txBox="1"/>
          <p:nvPr/>
        </p:nvSpPr>
        <p:spPr>
          <a:xfrm>
            <a:off x="842466" y="4659675"/>
            <a:ext cx="25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424242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Fuente:</a:t>
            </a:r>
            <a:r>
              <a:rPr lang="es" sz="1200">
                <a:solidFill>
                  <a:srgbClr val="424242"/>
                </a:solidFill>
                <a:uFill>
                  <a:noFill/>
                </a:uFill>
                <a:latin typeface="EB Garamond Medium"/>
                <a:ea typeface="EB Garamond Medium"/>
                <a:cs typeface="EB Garamond Medium"/>
                <a:sym typeface="EB Garamon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200" u="sng">
                <a:solidFill>
                  <a:schemeClr val="hlink"/>
                </a:solidFill>
                <a:latin typeface="EB Garamond Medium"/>
                <a:ea typeface="EB Garamond Medium"/>
                <a:cs typeface="EB Garamond Medium"/>
                <a:sym typeface="EB Garamond Medium"/>
                <a:hlinkClick r:id="rId5"/>
              </a:rPr>
              <a:t>Georgios Karamanis en Twitter</a:t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1.3. Ejemplos del uso de R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96" name="Google Shape;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9375" y="1070425"/>
            <a:ext cx="6715703" cy="358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3"/>
          <p:cNvSpPr txBox="1"/>
          <p:nvPr/>
        </p:nvSpPr>
        <p:spPr>
          <a:xfrm>
            <a:off x="2752625" y="4838475"/>
            <a:ext cx="340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424242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Fuente:</a:t>
            </a:r>
            <a:r>
              <a:rPr lang="es" sz="1200">
                <a:solidFill>
                  <a:srgbClr val="424242"/>
                </a:solidFill>
                <a:uFill>
                  <a:noFill/>
                </a:uFill>
                <a:latin typeface="EB Garamond Medium"/>
                <a:ea typeface="EB Garamond Medium"/>
                <a:cs typeface="EB Garamond Medium"/>
                <a:sym typeface="EB Garamon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200" u="sng">
                <a:solidFill>
                  <a:schemeClr val="hlink"/>
                </a:solidFill>
                <a:latin typeface="EB Garamond Medium"/>
                <a:ea typeface="EB Garamond Medium"/>
                <a:cs typeface="EB Garamond Medium"/>
                <a:sym typeface="EB Garamond Medium"/>
                <a:hlinkClick r:id="rId5"/>
              </a:rPr>
              <a:t>Radiografía del Cambio Social 2016-2022</a:t>
            </a:r>
            <a:endParaRPr sz="2200">
              <a:solidFill>
                <a:schemeClr val="dk2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1.3. Ejemplos del uso de R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03" name="Google Shape;20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3825" y="1170125"/>
            <a:ext cx="7096350" cy="353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4"/>
          <p:cNvSpPr txBox="1"/>
          <p:nvPr/>
        </p:nvSpPr>
        <p:spPr>
          <a:xfrm>
            <a:off x="2997000" y="4815375"/>
            <a:ext cx="31500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rgbClr val="424242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Fuente:</a:t>
            </a:r>
            <a:r>
              <a:rPr lang="es" sz="1200">
                <a:solidFill>
                  <a:srgbClr val="424242"/>
                </a:solidFill>
                <a:uFill>
                  <a:noFill/>
                </a:uFill>
                <a:latin typeface="EB Garamond Medium"/>
                <a:ea typeface="EB Garamond Medium"/>
                <a:cs typeface="EB Garamond Medium"/>
                <a:sym typeface="EB Garamon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200" u="sng">
                <a:solidFill>
                  <a:schemeClr val="hlink"/>
                </a:solidFill>
                <a:latin typeface="EB Garamond Medium"/>
                <a:ea typeface="EB Garamond Medium"/>
                <a:cs typeface="EB Garamond Medium"/>
                <a:sym typeface="EB Garamond Medium"/>
                <a:hlinkClick r:id="rId5"/>
              </a:rPr>
              <a:t>Sitio web Estadística Descriptiva 2024</a:t>
            </a:r>
            <a:endParaRPr sz="1200" u="sng">
              <a:solidFill>
                <a:schemeClr val="hlink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1.3. Ejemplos del uso de R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0" name="Google Shape;210;p35"/>
          <p:cNvSpPr txBox="1"/>
          <p:nvPr/>
        </p:nvSpPr>
        <p:spPr>
          <a:xfrm>
            <a:off x="2790000" y="4815375"/>
            <a:ext cx="35640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424242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Fuente:</a:t>
            </a:r>
            <a:r>
              <a:rPr lang="es" sz="1200">
                <a:solidFill>
                  <a:srgbClr val="424242"/>
                </a:solidFill>
                <a:uFill>
                  <a:noFill/>
                </a:uFill>
                <a:latin typeface="EB Garamond Medium"/>
                <a:ea typeface="EB Garamond Medium"/>
                <a:cs typeface="EB Garamond Medium"/>
                <a:sym typeface="EB Garamon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200" u="sng">
                <a:solidFill>
                  <a:schemeClr val="hlink"/>
                </a:solidFill>
                <a:latin typeface="EB Garamond Medium"/>
                <a:ea typeface="EB Garamond Medium"/>
                <a:cs typeface="EB Garamond Medium"/>
                <a:sym typeface="EB Garamond Medium"/>
                <a:hlinkClick r:id="rId4"/>
              </a:rPr>
              <a:t>Sitio web Observatorio de Cohesión Social</a:t>
            </a:r>
            <a:endParaRPr sz="1600">
              <a:solidFill>
                <a:srgbClr val="424242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11" name="Google Shape;21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5538" y="1170125"/>
            <a:ext cx="4292937" cy="349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5818E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1.4. Prácticas y herramientas de consulta</a:t>
            </a:r>
            <a:endParaRPr>
              <a:solidFill>
                <a:schemeClr val="lt2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1.4. Prácticas y herramientas de consulta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2" name="Google Shape;222;p37"/>
          <p:cNvSpPr txBox="1"/>
          <p:nvPr>
            <p:ph idx="1" type="body"/>
          </p:nvPr>
        </p:nvSpPr>
        <p:spPr>
          <a:xfrm>
            <a:off x="311700" y="1152475"/>
            <a:ext cx="4803900" cy="35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-342900" lvl="0" marL="1371600" rtl="0" algn="just">
              <a:spcBef>
                <a:spcPts val="0"/>
              </a:spcBef>
              <a:spcAft>
                <a:spcPts val="0"/>
              </a:spcAft>
              <a:buSzPts val="1800"/>
              <a:buFont typeface="EB Garamond Medium"/>
              <a:buChar char="●"/>
            </a:pPr>
            <a:r>
              <a:rPr lang="es">
                <a:latin typeface="EB Garamond Medium"/>
                <a:ea typeface="EB Garamond Medium"/>
                <a:cs typeface="EB Garamond Medium"/>
                <a:sym typeface="EB Garamond Medium"/>
              </a:rPr>
              <a:t>CRAN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342900" lvl="0" marL="1371600" rtl="0" algn="just">
              <a:spcBef>
                <a:spcPts val="0"/>
              </a:spcBef>
              <a:spcAft>
                <a:spcPts val="0"/>
              </a:spcAft>
              <a:buSzPts val="1800"/>
              <a:buFont typeface="EB Garamond Medium"/>
              <a:buChar char="●"/>
            </a:pPr>
            <a:r>
              <a:rPr lang="es">
                <a:latin typeface="EB Garamond Medium"/>
                <a:ea typeface="EB Garamond Medium"/>
                <a:cs typeface="EB Garamond Medium"/>
                <a:sym typeface="EB Garamond Medium"/>
              </a:rPr>
              <a:t>Stack overflow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342900" lvl="0" marL="1371600" rtl="0" algn="just">
              <a:spcBef>
                <a:spcPts val="0"/>
              </a:spcBef>
              <a:spcAft>
                <a:spcPts val="0"/>
              </a:spcAft>
              <a:buSzPts val="1800"/>
              <a:buFont typeface="EB Garamond Medium"/>
              <a:buChar char="●"/>
            </a:pPr>
            <a:r>
              <a:rPr lang="es">
                <a:latin typeface="EB Garamond Medium"/>
                <a:ea typeface="EB Garamond Medium"/>
                <a:cs typeface="EB Garamond Medium"/>
                <a:sym typeface="EB Garamond Medium"/>
              </a:rPr>
              <a:t>R Community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342900" lvl="0" marL="1371600" rtl="0" algn="just">
              <a:spcBef>
                <a:spcPts val="0"/>
              </a:spcBef>
              <a:spcAft>
                <a:spcPts val="0"/>
              </a:spcAft>
              <a:buSzPts val="1800"/>
              <a:buFont typeface="EB Garamond Medium"/>
              <a:buChar char="●"/>
            </a:pPr>
            <a:r>
              <a:rPr lang="es">
                <a:latin typeface="EB Garamond Medium"/>
                <a:ea typeface="EB Garamond Medium"/>
                <a:cs typeface="EB Garamond Medium"/>
                <a:sym typeface="EB Garamond Medium"/>
              </a:rPr>
              <a:t>Chat GPT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342900" lvl="0" marL="1371600" rtl="0" algn="just">
              <a:spcBef>
                <a:spcPts val="0"/>
              </a:spcBef>
              <a:spcAft>
                <a:spcPts val="0"/>
              </a:spcAft>
              <a:buSzPts val="1800"/>
              <a:buFont typeface="EB Garamond Medium"/>
              <a:buChar char="●"/>
            </a:pPr>
            <a:r>
              <a:rPr lang="es">
                <a:latin typeface="EB Garamond Medium"/>
                <a:ea typeface="EB Garamond Medium"/>
                <a:cs typeface="EB Garamond Medium"/>
                <a:sym typeface="EB Garamond Medium"/>
              </a:rPr>
              <a:t>DeepSeek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342900" lvl="0" marL="1371600" rtl="0" algn="just">
              <a:spcBef>
                <a:spcPts val="0"/>
              </a:spcBef>
              <a:spcAft>
                <a:spcPts val="0"/>
              </a:spcAft>
              <a:buSzPts val="1800"/>
              <a:buFont typeface="EB Garamond Medium"/>
              <a:buChar char="●"/>
            </a:pPr>
            <a:r>
              <a:rPr lang="es">
                <a:latin typeface="EB Garamond Medium"/>
                <a:ea typeface="EB Garamond Medium"/>
                <a:cs typeface="EB Garamond Medium"/>
                <a:sym typeface="EB Garamond Medium"/>
              </a:rPr>
              <a:t>Otros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pic>
        <p:nvPicPr>
          <p:cNvPr id="223" name="Google Shape;22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6928" y="1414588"/>
            <a:ext cx="3739475" cy="2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EB Garamond"/>
                <a:ea typeface="EB Garamond"/>
                <a:cs typeface="EB Garamond"/>
                <a:sym typeface="EB Garamond"/>
              </a:rPr>
              <a:t>PROCESAMIENTO Y 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EB Garamond"/>
                <a:ea typeface="EB Garamond"/>
                <a:cs typeface="EB Garamond"/>
                <a:sym typeface="EB Garamond"/>
              </a:rPr>
              <a:t>VISUALIZACIÓN DE DATOS EN R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9" name="Google Shape;229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latin typeface="EB Garamond"/>
                <a:ea typeface="EB Garamond"/>
                <a:cs typeface="EB Garamond"/>
                <a:sym typeface="EB Garamond"/>
              </a:rPr>
              <a:t>Clase 01 | Unidad 1. Introducción al uso de R</a:t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30" name="Google Shape;230;p38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Universidad </a:t>
            </a: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Diego Portales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Magíster en Métodos para la Investigación Social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31" name="Google Shape;231;p38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 sz="1405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1er semestre 2026</a:t>
            </a:r>
            <a:endParaRPr sz="1405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32" name="Google Shape;232;p38" title="Logo_Universidad_Diego_Portal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675" y="384875"/>
            <a:ext cx="2942624" cy="71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