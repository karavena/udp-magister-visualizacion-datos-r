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EB Garamond SemiBold"/>
      <p:regular r:id="rId19"/>
      <p:bold r:id="rId20"/>
      <p:italic r:id="rId21"/>
      <p:boldItalic r:id="rId22"/>
    </p:embeddedFont>
    <p:embeddedFont>
      <p:font typeface="EB Garamond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5CB723C-8EFE-4F8F-9C26-953C3A1F9752}">
  <a:tblStyle styleId="{35CB723C-8EFE-4F8F-9C26-953C3A1F975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EBGaramondSemiBold-bold.fntdata"/><Relationship Id="rId22" Type="http://schemas.openxmlformats.org/officeDocument/2006/relationships/font" Target="fonts/EBGaramondSemiBold-boldItalic.fntdata"/><Relationship Id="rId21" Type="http://schemas.openxmlformats.org/officeDocument/2006/relationships/font" Target="fonts/EBGaramondSemiBold-italic.fntdata"/><Relationship Id="rId24" Type="http://schemas.openxmlformats.org/officeDocument/2006/relationships/font" Target="fonts/EBGaramond-bold.fntdata"/><Relationship Id="rId23" Type="http://schemas.openxmlformats.org/officeDocument/2006/relationships/font" Target="fonts/EBGaramon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EBGaramond-boldItalic.fntdata"/><Relationship Id="rId25" Type="http://schemas.openxmlformats.org/officeDocument/2006/relationships/font" Target="fonts/EBGaramond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EBGaramondSemiBold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6198bc8c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6198bc8c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2be0ec9c984_0_4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2be0ec9c984_0_4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be0ec9c984_0_4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be0ec9c984_0_4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be0ec9c984_0_5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be0ec9c984_0_5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be0ec9c984_0_5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2be0ec9c984_0_5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be0ec9c984_0_5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be0ec9c984_0_5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c1e8b56e6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c1e8b56e6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be0ec9c984_0_5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be0ec9c984_0_5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be0ec9c984_0_5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2be0ec9c984_0_5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be0ec9c984_0_5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be0ec9c984_0_5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b0acc19d7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db0acc19d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30200" lvl="1" marL="9144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B Garamond SemiBold"/>
              <a:buNone/>
              <a:defRPr sz="2800">
                <a:solidFill>
                  <a:schemeClr val="dk1"/>
                </a:solidFill>
                <a:latin typeface="EB Garamond SemiBold"/>
                <a:ea typeface="EB Garamond SemiBold"/>
                <a:cs typeface="EB Garamond SemiBold"/>
                <a:sym typeface="EB Garamon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EB Garamond"/>
              <a:buChar char="●"/>
              <a:defRPr sz="1800"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EB Garamond"/>
              <a:buChar char="○"/>
              <a:defRPr sz="1600"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B Garamond"/>
              <a:buChar char="■"/>
              <a:defRPr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B Garamond"/>
              <a:buChar char="●"/>
              <a:defRPr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B Garamond"/>
              <a:buChar char="○"/>
              <a:defRPr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B Garamond"/>
              <a:buChar char="■"/>
              <a:defRPr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B Garamond"/>
              <a:buChar char="●"/>
              <a:defRPr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EB Garamond"/>
              <a:buChar char="○"/>
              <a:defRPr>
                <a:latin typeface="EB Garamond"/>
                <a:ea typeface="EB Garamond"/>
                <a:cs typeface="EB Garamond"/>
                <a:sym typeface="EB Garamond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B Garamond"/>
              <a:buChar char="■"/>
              <a:defRPr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mailto:daniela.olivares2@mail.udp.cl" TargetMode="External"/><Relationship Id="rId4" Type="http://schemas.openxmlformats.org/officeDocument/2006/relationships/hyperlink" Target="mailto:katherine.aravena@ug.uchile.cl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dp-visualizacion-datos-r.netlify.app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latin typeface="EB Garamond"/>
                <a:ea typeface="EB Garamond"/>
                <a:cs typeface="EB Garamond"/>
                <a:sym typeface="EB Garamond"/>
              </a:rPr>
              <a:t>PROCESAMIENTO Y </a:t>
            </a:r>
            <a:endParaRPr sz="3000"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latin typeface="EB Garamond"/>
                <a:ea typeface="EB Garamond"/>
                <a:cs typeface="EB Garamond"/>
                <a:sym typeface="EB Garamond"/>
              </a:rPr>
              <a:t>VISUALIZACIÓN DE DATOS EN R</a:t>
            </a:r>
            <a:endParaRPr sz="3000"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Clase 00</a:t>
            </a:r>
            <a:r>
              <a:rPr lang="es" sz="2400">
                <a:solidFill>
                  <a:schemeClr val="dk2"/>
                </a:solidFill>
              </a:rPr>
              <a:t> | </a:t>
            </a:r>
            <a:r>
              <a:rPr lang="es" sz="24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Presentación</a:t>
            </a:r>
            <a:endParaRPr sz="24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311700" y="38487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Universidad </a:t>
            </a:r>
            <a:r>
              <a:rPr lang="es" sz="1400">
                <a:solidFill>
                  <a:schemeClr val="dk2"/>
                </a:solidFill>
              </a:rPr>
              <a:t>Diego Portales</a:t>
            </a:r>
            <a:endParaRPr sz="14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Facultad de Ciencias Sociales e Historia</a:t>
            </a:r>
            <a:endParaRPr sz="14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>
                <a:solidFill>
                  <a:schemeClr val="dk2"/>
                </a:solidFill>
              </a:rPr>
              <a:t>Magíster en Métodos para la Investigación Social</a:t>
            </a:r>
            <a:endParaRPr sz="14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403315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" sz="1405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Profesora: Daniela Olivares Collío</a:t>
            </a:r>
            <a:endParaRPr sz="1405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" sz="1405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Ayudante: Katherine Aravena Herrera</a:t>
            </a:r>
            <a:endParaRPr sz="1405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" sz="1405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1er semestre 2026</a:t>
            </a:r>
            <a:endParaRPr sz="1405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</p:txBody>
      </p:sp>
      <p:pic>
        <p:nvPicPr>
          <p:cNvPr id="58" name="Google Shape;58;p13" title="Logo_Universidad_Diego_Porta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89675" y="384875"/>
            <a:ext cx="2942624" cy="71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311700" y="1090500"/>
            <a:ext cx="8520600" cy="257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Profesora: Daniela Olivares Collío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>
                <a:solidFill>
                  <a:schemeClr val="hlink"/>
                </a:solidFill>
                <a:latin typeface="EB Garamond"/>
                <a:ea typeface="EB Garamond"/>
                <a:cs typeface="EB Garamond"/>
                <a:sym typeface="EB Garamond"/>
                <a:hlinkClick r:id="rId3"/>
              </a:rPr>
              <a:t>daniela.olivares2@mail.udp.cl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Ayudante: Katherine Aravena Herrera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>
                <a:solidFill>
                  <a:schemeClr val="hlink"/>
                </a:solidFill>
                <a:latin typeface="EB Garamond"/>
                <a:ea typeface="EB Garamond"/>
                <a:cs typeface="EB Garamond"/>
                <a:sym typeface="EB Garamond"/>
                <a:hlinkClick r:id="rId4"/>
              </a:rPr>
              <a:t>katherine.aravena@ug.uchile.cl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64" name="Google Shape;64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Objetivos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EB Garamond"/>
              <a:buAutoNum type="arabicPeriod"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Presentar el programa del curso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71" name="Google Shape;71;p15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Clase 00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5818E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2"/>
                </a:solidFill>
              </a:rPr>
              <a:t>1. Programa del curso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latin typeface="EB Garamond"/>
                <a:ea typeface="EB Garamond"/>
                <a:cs typeface="EB Garamond"/>
                <a:sym typeface="EB Garamond"/>
              </a:rPr>
              <a:t>Descripción del curso</a:t>
            </a:r>
            <a:endParaRPr b="1"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latin typeface="EB Garamond"/>
                <a:ea typeface="EB Garamond"/>
                <a:cs typeface="EB Garamond"/>
                <a:sym typeface="EB Garamond"/>
              </a:rPr>
              <a:t>El objetivo central del curso es entregar los conocimientos y destrezas básicos para el </a:t>
            </a:r>
            <a:r>
              <a:rPr b="1" lang="es" sz="2000">
                <a:highlight>
                  <a:srgbClr val="A2C4C9"/>
                </a:highlight>
              </a:rPr>
              <a:t>análisis y desarrollo de una investigación social</a:t>
            </a:r>
            <a:r>
              <a:rPr lang="es" sz="2000">
                <a:latin typeface="EB Garamond"/>
                <a:ea typeface="EB Garamond"/>
                <a:cs typeface="EB Garamond"/>
                <a:sym typeface="EB Garamond"/>
              </a:rPr>
              <a:t>, a través de </a:t>
            </a:r>
            <a:r>
              <a:rPr lang="es" sz="2000">
                <a:highlight>
                  <a:srgbClr val="A2C4C9"/>
                </a:highlight>
                <a:latin typeface="EB Garamond"/>
                <a:ea typeface="EB Garamond"/>
                <a:cs typeface="EB Garamond"/>
                <a:sym typeface="EB Garamond"/>
              </a:rPr>
              <a:t>métodos cuantitativos</a:t>
            </a:r>
            <a:r>
              <a:rPr lang="es" sz="2000">
                <a:latin typeface="EB Garamond"/>
                <a:ea typeface="EB Garamond"/>
                <a:cs typeface="EB Garamond"/>
                <a:sym typeface="EB Garamond"/>
              </a:rPr>
              <a:t>, específicamente utilizando </a:t>
            </a:r>
            <a:r>
              <a:rPr lang="es" sz="2000">
                <a:highlight>
                  <a:srgbClr val="A2C4C9"/>
                </a:highlight>
                <a:latin typeface="EB Garamond"/>
                <a:ea typeface="EB Garamond"/>
                <a:cs typeface="EB Garamond"/>
                <a:sym typeface="EB Garamond"/>
              </a:rPr>
              <a:t>estadística descriptiva, </a:t>
            </a:r>
            <a:r>
              <a:rPr lang="es" sz="2000">
                <a:latin typeface="EB Garamond"/>
                <a:ea typeface="EB Garamond"/>
                <a:cs typeface="EB Garamond"/>
                <a:sym typeface="EB Garamond"/>
              </a:rPr>
              <a:t>a través del </a:t>
            </a:r>
            <a:r>
              <a:rPr lang="es" sz="2000">
                <a:highlight>
                  <a:srgbClr val="A2C4C9"/>
                </a:highlight>
                <a:latin typeface="EB Garamond"/>
                <a:ea typeface="EB Garamond"/>
                <a:cs typeface="EB Garamond"/>
                <a:sym typeface="EB Garamond"/>
              </a:rPr>
              <a:t>software R</a:t>
            </a:r>
            <a:r>
              <a:rPr lang="es" sz="2000">
                <a:latin typeface="EB Garamond"/>
                <a:ea typeface="EB Garamond"/>
                <a:cs typeface="EB Garamond"/>
                <a:sym typeface="EB Garamond"/>
              </a:rPr>
              <a:t>.</a:t>
            </a:r>
            <a:endParaRPr sz="2000">
              <a:latin typeface="EB Garamond"/>
              <a:ea typeface="EB Garamond"/>
              <a:cs typeface="EB Garamond"/>
              <a:sym typeface="EB Garamon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Unidades de aprendizaje</a:t>
            </a:r>
            <a:endParaRPr/>
          </a:p>
        </p:txBody>
      </p:sp>
      <p:sp>
        <p:nvSpPr>
          <p:cNvPr id="88" name="Google Shape;88;p18"/>
          <p:cNvSpPr txBox="1"/>
          <p:nvPr>
            <p:ph idx="1" type="body"/>
          </p:nvPr>
        </p:nvSpPr>
        <p:spPr>
          <a:xfrm>
            <a:off x="311700" y="1152475"/>
            <a:ext cx="4397400" cy="373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b="1" lang="es"/>
              <a:t>1</a:t>
            </a:r>
            <a:r>
              <a:rPr b="1" lang="es">
                <a:latin typeface="EB Garamond"/>
                <a:ea typeface="EB Garamond"/>
                <a:cs typeface="EB Garamond"/>
                <a:sym typeface="EB Garamond"/>
              </a:rPr>
              <a:t>. Introducción a</a:t>
            </a:r>
            <a:r>
              <a:rPr b="1" lang="es"/>
              <a:t>l uso de R</a:t>
            </a:r>
            <a:endParaRPr b="1"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s"/>
              <a:t>a.	Introducción a la Ciencia Abierta y lógica de investigación reproducible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s"/>
              <a:t>b.	Introducción al software y lenguaje de programación 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s"/>
              <a:t>1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.3. </a:t>
            </a:r>
            <a:r>
              <a:rPr lang="es"/>
              <a:t>P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roblema de Investigación Cuantitativ</a:t>
            </a:r>
            <a:r>
              <a:rPr lang="es"/>
              <a:t>o</a:t>
            </a:r>
            <a:endParaRPr/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.4. Conceptualización y operacionalización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marR="25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254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b="1" lang="es"/>
              <a:t>2</a:t>
            </a:r>
            <a:r>
              <a:rPr b="1" lang="es">
                <a:latin typeface="EB Garamond"/>
                <a:ea typeface="EB Garamond"/>
                <a:cs typeface="EB Garamond"/>
                <a:sym typeface="EB Garamond"/>
              </a:rPr>
              <a:t>. Elaboración de la matriz de datos</a:t>
            </a:r>
            <a:endParaRPr b="1"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2.1. Nociones de Universo, Población y Muestra</a:t>
            </a:r>
            <a:endParaRPr/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2.2. Tipos de muestreo</a:t>
            </a:r>
            <a:endParaRPr/>
          </a:p>
          <a:p>
            <a:pPr indent="0" lvl="0" marL="0" marR="254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2.3. Técnicas de recolección y procesamiento de datos</a:t>
            </a:r>
            <a:endParaRPr/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2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</a:t>
            </a:r>
            <a:r>
              <a:rPr lang="es"/>
              <a:t>4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 Elaboración de una matriz de datos y su libro de códigos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"/>
              <a:t>2.5. Noción de distribución</a:t>
            </a:r>
            <a:endParaRPr/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t/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89" name="Google Shape;89;p18"/>
          <p:cNvSpPr txBox="1"/>
          <p:nvPr>
            <p:ph idx="2" type="body"/>
          </p:nvPr>
        </p:nvSpPr>
        <p:spPr>
          <a:xfrm>
            <a:off x="4832400" y="1152475"/>
            <a:ext cx="3999900" cy="373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/>
              <a:t>3</a:t>
            </a:r>
            <a:r>
              <a:rPr b="1" lang="es">
                <a:latin typeface="EB Garamond"/>
                <a:ea typeface="EB Garamond"/>
                <a:cs typeface="EB Garamond"/>
                <a:sym typeface="EB Garamond"/>
              </a:rPr>
              <a:t>. Análisis de datos descriptivo univariado</a:t>
            </a:r>
            <a:endParaRPr b="1"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/>
              <a:t>3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</a:t>
            </a:r>
            <a:r>
              <a:rPr lang="es"/>
              <a:t>1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 Tipos de análisis estadístico univariado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/>
              <a:t>3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</a:t>
            </a:r>
            <a:r>
              <a:rPr lang="es"/>
              <a:t>2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 Frecuencias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/>
              <a:t>3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</a:t>
            </a:r>
            <a:r>
              <a:rPr lang="es"/>
              <a:t>3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 Medidas de tendencia central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/>
              <a:t>3.4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 Medidas de dispersión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/>
              <a:t>3.5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 Medidas de posición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/>
              <a:t>3.6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 Medidas de forma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/>
              <a:t>3.7. Visualización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t/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s"/>
              <a:t>4</a:t>
            </a:r>
            <a:r>
              <a:rPr b="1" lang="es">
                <a:latin typeface="EB Garamond"/>
                <a:ea typeface="EB Garamond"/>
                <a:cs typeface="EB Garamond"/>
                <a:sym typeface="EB Garamond"/>
              </a:rPr>
              <a:t>. Análisis de datos descriptivo bivariado</a:t>
            </a:r>
            <a:endParaRPr b="1"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4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.1. Tipos de análisis estadístico bivariado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4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.2. Tablas de contingencia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4.3. Correlación </a:t>
            </a:r>
            <a:endParaRPr/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4.4. Visualización</a:t>
            </a:r>
            <a:endParaRPr/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4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</a:t>
            </a:r>
            <a:r>
              <a:rPr lang="es"/>
              <a:t>5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 Indicadores, Índices y Escalas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marR="25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t/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endParaRPr/>
          </a:p>
        </p:txBody>
      </p:sp>
      <p:sp>
        <p:nvSpPr>
          <p:cNvPr id="95" name="Google Shape;95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Clases presenciales </a:t>
            </a:r>
            <a:r>
              <a:rPr b="1" lang="es">
                <a:highlight>
                  <a:srgbClr val="A2C4C9"/>
                </a:highlight>
              </a:rPr>
              <a:t>teórico-prácticas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, donde conoceremos los conceptos fundamentales para la investigación social cuantitativa y aplicaremos estos conocimientos utilizando estadística descriptiva </a:t>
            </a:r>
            <a:r>
              <a:rPr lang="es"/>
              <a:t>a través del software R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.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Semanalmente</a:t>
            </a:r>
            <a:r>
              <a:rPr lang="es"/>
              <a:t> tendremos tres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 bloques </a:t>
            </a:r>
            <a:r>
              <a:rPr lang="es"/>
              <a:t>de</a:t>
            </a: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 clases, y algunas semanas un bloque a ayudantía.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Font typeface="EB Garamond"/>
              <a:buChar char="●"/>
            </a:pPr>
            <a:r>
              <a:rPr lang="es" sz="1600"/>
              <a:t>Bloque 1: Lunes 08:30 - 09:45 hrs.</a:t>
            </a:r>
            <a:endParaRPr sz="1600">
              <a:latin typeface="EB Garamond"/>
              <a:ea typeface="EB Garamond"/>
              <a:cs typeface="EB Garamond"/>
              <a:sym typeface="EB Garamond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EB Garamond"/>
              <a:buChar char="●"/>
            </a:pPr>
            <a:r>
              <a:rPr lang="es" sz="1600">
                <a:latin typeface="EB Garamond"/>
                <a:ea typeface="EB Garamond"/>
                <a:cs typeface="EB Garamond"/>
                <a:sym typeface="EB Garamond"/>
              </a:rPr>
              <a:t>Bloque 2: Lunes 09:50 - 11:05 hrs.</a:t>
            </a:r>
            <a:endParaRPr sz="1600">
              <a:latin typeface="EB Garamond"/>
              <a:ea typeface="EB Garamond"/>
              <a:cs typeface="EB Garamond"/>
              <a:sym typeface="EB Garamond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Bloque 3: Lunes 11:10 - 12:25 hrs.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endParaRPr/>
          </a:p>
        </p:txBody>
      </p:sp>
      <p:sp>
        <p:nvSpPr>
          <p:cNvPr id="101" name="Google Shape;101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Todo el material de la asignatura se encontrará disponible en el sitio web del curso: </a:t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>
                <a:solidFill>
                  <a:schemeClr val="hlink"/>
                </a:solidFill>
                <a:hlinkClick r:id="rId3"/>
              </a:rPr>
              <a:t>https://udp-visualizacion-datos-r.netlify.app/</a:t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2" name="Google Shape;102;p20"/>
          <p:cNvPicPr preferRelativeResize="0"/>
          <p:nvPr/>
        </p:nvPicPr>
        <p:blipFill rotWithShape="1">
          <a:blip r:embed="rId4">
            <a:alphaModFix/>
          </a:blip>
          <a:srcRect b="2401" l="1526" r="0" t="0"/>
          <a:stretch/>
        </p:blipFill>
        <p:spPr>
          <a:xfrm>
            <a:off x="1430837" y="2118500"/>
            <a:ext cx="6896876" cy="2851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Eva</a:t>
            </a:r>
            <a:r>
              <a:rPr lang="es"/>
              <a:t>luaciones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274200" y="3466325"/>
            <a:ext cx="8520600" cy="149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latin typeface="EB Garamond"/>
                <a:ea typeface="EB Garamond"/>
                <a:cs typeface="EB Garamond"/>
                <a:sym typeface="EB Garamond"/>
              </a:rPr>
              <a:t>* </a:t>
            </a:r>
            <a:r>
              <a:rPr lang="es" sz="1300">
                <a:latin typeface="EB Garamond"/>
                <a:ea typeface="EB Garamond"/>
                <a:cs typeface="EB Garamond"/>
                <a:sym typeface="EB Garamond"/>
              </a:rPr>
              <a:t>Para poder aprobar el curso se requiere cumplir una asistencia mínima de 75%.</a:t>
            </a:r>
            <a:endParaRPr sz="1300"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latin typeface="EB Garamond"/>
                <a:ea typeface="EB Garamond"/>
                <a:cs typeface="EB Garamond"/>
                <a:sym typeface="EB Garamond"/>
              </a:rPr>
              <a:t>* Posibilidad de eximirse del examen con nota 5.5 o superior (Nota de presentación a examen = P1*0.3 + P2*0.3+TP*0.1+TI*0.3).</a:t>
            </a:r>
            <a:endParaRPr sz="1300"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00">
                <a:latin typeface="EB Garamond"/>
                <a:ea typeface="EB Garamond"/>
                <a:cs typeface="EB Garamond"/>
                <a:sym typeface="EB Garamond"/>
              </a:rPr>
              <a:t>* Examen reprobatorio (es decir, se debe obtener nota igual o superior a 4.0)</a:t>
            </a:r>
            <a:endParaRPr sz="1300">
              <a:latin typeface="EB Garamond"/>
              <a:ea typeface="EB Garamond"/>
              <a:cs typeface="EB Garamond"/>
              <a:sym typeface="EB Garamond"/>
            </a:endParaRPr>
          </a:p>
        </p:txBody>
      </p:sp>
      <p:graphicFrame>
        <p:nvGraphicFramePr>
          <p:cNvPr id="109" name="Google Shape;109;p21"/>
          <p:cNvGraphicFramePr/>
          <p:nvPr/>
        </p:nvGraphicFramePr>
        <p:xfrm>
          <a:off x="1106500" y="1485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{35CB723C-8EFE-4F8F-9C26-953C3A1F9752}</a:tableStyleId>
              </a:tblPr>
              <a:tblGrid>
                <a:gridCol w="1141025"/>
                <a:gridCol w="1188725"/>
                <a:gridCol w="2663400"/>
                <a:gridCol w="19378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Ponderación</a:t>
                      </a:r>
                      <a:endParaRPr b="1"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Fecha</a:t>
                      </a:r>
                      <a:endParaRPr b="1"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Formato</a:t>
                      </a:r>
                      <a:endParaRPr b="1"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Contenidos</a:t>
                      </a:r>
                      <a:endParaRPr b="1"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>
                    <a:solidFill>
                      <a:srgbClr val="A2C4C9"/>
                    </a:solidFill>
                  </a:tcPr>
                </a:tc>
              </a:tr>
              <a:tr h="3287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30</a:t>
                      </a: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%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Lunes 13/04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Prueba 1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Unidades I y II.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30%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Lunes 25/05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Prueba 2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Unidad III y IV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10%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Lunes 15/06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Trabajo Presentación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Todas las unidades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30%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Lunes 22/06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Trabajo Informe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Todas las unidades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3</a:t>
                      </a: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0%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Lunes 15/07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Examen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>
                          <a:solidFill>
                            <a:schemeClr val="dk1"/>
                          </a:solidFill>
                          <a:latin typeface="EB Garamond"/>
                          <a:ea typeface="EB Garamond"/>
                          <a:cs typeface="EB Garamond"/>
                          <a:sym typeface="EB Garamond"/>
                        </a:rPr>
                        <a:t>Todas las unidades</a:t>
                      </a:r>
                      <a:endParaRPr>
                        <a:solidFill>
                          <a:schemeClr val="dk1"/>
                        </a:solidFill>
                        <a:latin typeface="EB Garamond"/>
                        <a:ea typeface="EB Garamond"/>
                        <a:cs typeface="EB Garamond"/>
                        <a:sym typeface="EB Garamond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5818E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lt2"/>
                </a:solidFill>
              </a:rPr>
              <a:t>3</a:t>
            </a:r>
            <a:r>
              <a:rPr lang="es">
                <a:solidFill>
                  <a:schemeClr val="lt2"/>
                </a:solidFill>
              </a:rPr>
              <a:t>. Lectura introductoria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Lectura introductoria</a:t>
            </a:r>
            <a:endParaRPr/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La lectura que nos acompañará en la primera unidad del curso es: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Ritchey, Ferris (2002). Estadística para las Ciencias Sociales. El potencial de la imaginación estadística. McGraw-Hill, México. 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latin typeface="EB Garamond"/>
                <a:ea typeface="EB Garamond"/>
                <a:cs typeface="EB Garamond"/>
                <a:sym typeface="EB Garamond"/>
              </a:rPr>
              <a:t>Cap. 1. “La imaginación estadística” (páginas 1-35)</a:t>
            </a:r>
            <a:endParaRPr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latin typeface="EB Garamond"/>
                <a:ea typeface="EB Garamond"/>
                <a:cs typeface="EB Garamond"/>
                <a:sym typeface="EB Garamond"/>
              </a:rPr>
              <a:t>PROCESAMIENTO Y </a:t>
            </a:r>
            <a:endParaRPr sz="3000"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latin typeface="EB Garamond"/>
                <a:ea typeface="EB Garamond"/>
                <a:cs typeface="EB Garamond"/>
                <a:sym typeface="EB Garamond"/>
              </a:rPr>
              <a:t>VISUALIZACIÓN DE DATOS EN R</a:t>
            </a:r>
            <a:endParaRPr sz="3000"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126" name="Google Shape;126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Clase 00</a:t>
            </a:r>
            <a:r>
              <a:rPr lang="es" sz="2400">
                <a:solidFill>
                  <a:schemeClr val="dk2"/>
                </a:solidFill>
              </a:rPr>
              <a:t> | </a:t>
            </a:r>
            <a:r>
              <a:rPr lang="es" sz="24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Presentación</a:t>
            </a:r>
            <a:endParaRPr sz="24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127" name="Google Shape;127;p24"/>
          <p:cNvSpPr txBox="1"/>
          <p:nvPr>
            <p:ph idx="1" type="subTitle"/>
          </p:nvPr>
        </p:nvSpPr>
        <p:spPr>
          <a:xfrm>
            <a:off x="311700" y="38487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Universidad </a:t>
            </a:r>
            <a:r>
              <a:rPr lang="es" sz="1400">
                <a:solidFill>
                  <a:schemeClr val="dk2"/>
                </a:solidFill>
              </a:rPr>
              <a:t>Diego Portales</a:t>
            </a:r>
            <a:endParaRPr sz="14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Facultad de Ciencias Sociales e Historia</a:t>
            </a:r>
            <a:endParaRPr sz="14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>
                <a:solidFill>
                  <a:schemeClr val="dk2"/>
                </a:solidFill>
              </a:rPr>
              <a:t>Magíster en Métodos para la Investigación Social</a:t>
            </a:r>
            <a:endParaRPr sz="14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</p:txBody>
      </p:sp>
      <p:sp>
        <p:nvSpPr>
          <p:cNvPr id="128" name="Google Shape;128;p24"/>
          <p:cNvSpPr txBox="1"/>
          <p:nvPr>
            <p:ph idx="1" type="subTitle"/>
          </p:nvPr>
        </p:nvSpPr>
        <p:spPr>
          <a:xfrm>
            <a:off x="311700" y="403315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" sz="1405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Profesora: Daniela Olivares Collío</a:t>
            </a:r>
            <a:endParaRPr sz="1405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" sz="1405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Ayudante: Katherine Aravena Herrera</a:t>
            </a:r>
            <a:endParaRPr sz="1405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" sz="1405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1er semestre 2026</a:t>
            </a:r>
            <a:endParaRPr sz="1405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</p:txBody>
      </p:sp>
      <p:pic>
        <p:nvPicPr>
          <p:cNvPr id="129" name="Google Shape;129;p24" title="Logo_Universidad_Diego_Porta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89675" y="384875"/>
            <a:ext cx="2942624" cy="71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