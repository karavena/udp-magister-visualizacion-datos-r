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EB Garamond SemiBold"/>
      <p:regular r:id="rId19"/>
      <p:bold r:id="rId20"/>
      <p:italic r:id="rId21"/>
      <p:boldItalic r:id="rId22"/>
    </p:embeddedFont>
    <p:embeddedFont>
      <p:font typeface="EB Garamon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7E3E97-7166-4A23-BB2A-B2715022EAEB}">
  <a:tblStyle styleId="{677E3E97-7166-4A23-BB2A-B2715022EA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SemiBold-bold.fntdata"/><Relationship Id="rId22" Type="http://schemas.openxmlformats.org/officeDocument/2006/relationships/font" Target="fonts/EBGaramondSemiBold-boldItalic.fntdata"/><Relationship Id="rId21" Type="http://schemas.openxmlformats.org/officeDocument/2006/relationships/font" Target="fonts/EBGaramondSemiBold-italic.fntdata"/><Relationship Id="rId24" Type="http://schemas.openxmlformats.org/officeDocument/2006/relationships/font" Target="fonts/EBGaramond-bold.fntdata"/><Relationship Id="rId23" Type="http://schemas.openxmlformats.org/officeDocument/2006/relationships/font" Target="fonts/EB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BGaramond-boldItalic.fntdata"/><Relationship Id="rId25" Type="http://schemas.openxmlformats.org/officeDocument/2006/relationships/font" Target="fonts/EBGaramon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BGaramond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6198bc8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6198bc8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e0ec9c984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e0ec9c984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e0ec9c984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e0ec9c984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e0ec9c984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e0ec9c984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1e8b56e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1e8b56e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e0ec9c984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be0ec9c984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e0ec9c984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e0ec9c984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be0ec9c984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be0ec9c984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b0acc19d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b0acc19d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B Garamond SemiBold"/>
              <a:buNone/>
              <a:defRPr sz="2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  <a:def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  <a:defRPr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katherine.aravena@ug.uchile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dp-visualizacion-datos-r.netlify.app/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PROCESAMIENTO Y 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VISUALIZACIÓN DE DATOS EN R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Clase 00</a:t>
            </a:r>
            <a:r>
              <a:rPr lang="es" sz="2400">
                <a:solidFill>
                  <a:schemeClr val="dk2"/>
                </a:solidFill>
              </a:rPr>
              <a:t> | </a:t>
            </a: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Presentación</a:t>
            </a:r>
            <a:endParaRPr sz="2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Universidad </a:t>
            </a:r>
            <a:r>
              <a:rPr lang="es" sz="1400">
                <a:solidFill>
                  <a:schemeClr val="dk2"/>
                </a:solidFill>
              </a:rPr>
              <a:t>Diego Portales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chemeClr val="dk2"/>
                </a:solidFill>
              </a:rPr>
              <a:t>Magíster en Métodos para la Investigación Social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1er semestre 2026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Logo_Universidad_Diego_Port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675" y="384875"/>
            <a:ext cx="2942624" cy="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daniela.olivares2@mail.udp.cl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katherine.aravena@ug.uchile.cl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Presentar el programa del curso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00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1. Programa del curso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Descripción del curso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El objetivo central del curso es entregar los conocimientos y destrezas básicos para el </a:t>
            </a:r>
            <a:r>
              <a:rPr b="1" lang="es" sz="2000">
                <a:highlight>
                  <a:srgbClr val="A2C4C9"/>
                </a:highlight>
              </a:rPr>
              <a:t>análisis y desarrollo de una investigación social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, a través de </a:t>
            </a:r>
            <a:r>
              <a:rPr lang="es" sz="2000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, específicamente utilizando </a:t>
            </a:r>
            <a:r>
              <a:rPr lang="es" sz="2000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estadística descriptiva, 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a través del </a:t>
            </a:r>
            <a:r>
              <a:rPr lang="es" sz="2000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software R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 de aprendizaje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397400" cy="3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/>
              <a:t>1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. Introducción a</a:t>
            </a:r>
            <a:r>
              <a:rPr b="1" lang="es"/>
              <a:t>l uso de 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/>
              <a:t>a.	Introducción a la Ciencia Abierta y lógica de investigación reproducible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/>
              <a:t>b.	Introducción al software y lenguaje de programación 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/>
              <a:t>1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.3. </a:t>
            </a:r>
            <a:r>
              <a:rPr lang="es"/>
              <a:t>P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roblema de Investigación Cuantitativ</a:t>
            </a:r>
            <a:r>
              <a:rPr lang="es"/>
              <a:t>o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.4. Conceptualización y operacionalización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s"/>
              <a:t>2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. Elaboración de la matriz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2.1. Nociones de Universo, Población y Muestra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2.2. Tipos de muestreo</a:t>
            </a:r>
            <a:endParaRPr/>
          </a:p>
          <a:p>
            <a:pPr indent="0" lvl="0" marL="0" marR="25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2.3. Técnicas de recolección y procesamiento de datos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2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r>
              <a:rPr lang="es"/>
              <a:t>4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Elaboración de una matriz de datos y su libro de códigos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2.5. Noción de distribución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832400" y="1152475"/>
            <a:ext cx="3999900" cy="3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s"/>
              <a:t>3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. Análisis de datos descriptivo univariado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r>
              <a:rPr lang="es"/>
              <a:t>1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Tipos de análisis estadístico univariado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r>
              <a:rPr lang="es"/>
              <a:t>2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Frecuencias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r>
              <a:rPr lang="es"/>
              <a:t>3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Medidas de tendencia central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3.4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Medidas de dispersión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3.5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Medidas de posición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3.6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Medidas de forma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3.7. Visualización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s"/>
              <a:t>4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. Análisis de datos descriptivo bivariado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.1. Tipos de análisis estadístico bivariado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.2. Tablas de contingencia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4.3. Correlación 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4.4. Visualización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r>
              <a:rPr lang="es"/>
              <a:t>5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 Indicadores, Índices y Escalas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Clases presenciales </a:t>
            </a:r>
            <a:r>
              <a:rPr b="1" lang="es">
                <a:highlight>
                  <a:srgbClr val="A2C4C9"/>
                </a:highlight>
              </a:rPr>
              <a:t>teórico-prácticas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, donde conoceremos los conceptos fundamentales para la investigación social cuantitativa y aplicaremos estos conocimientos utilizando estadística descriptiva </a:t>
            </a:r>
            <a:r>
              <a:rPr lang="es"/>
              <a:t>a través del software R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Semanalmente</a:t>
            </a:r>
            <a:r>
              <a:rPr lang="es"/>
              <a:t> tendremos tres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bloques </a:t>
            </a:r>
            <a:r>
              <a:rPr lang="es"/>
              <a:t>de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clases, y algunas semanas un bloque a ayudantía.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EB Garamond"/>
              <a:buChar char="●"/>
            </a:pPr>
            <a:r>
              <a:rPr lang="es" sz="1600"/>
              <a:t>Bloque 1: Lunes 08:30 - 09:45 hrs.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B Garamond"/>
              <a:buChar char="●"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Bloque 2: Lunes 09:50 - 11:05 hrs.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Bloque 3: Lunes 11:10 - 12:25 hrs.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 el material de la asignatura se encontrará disponible en el sitio web del curso: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https://udp-visualizacion-datos-r.netlify.app/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2401" l="1526" r="0" t="0"/>
          <a:stretch/>
        </p:blipFill>
        <p:spPr>
          <a:xfrm>
            <a:off x="1430837" y="2118500"/>
            <a:ext cx="6896876" cy="28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</a:t>
            </a:r>
            <a:r>
              <a:rPr lang="es"/>
              <a:t>luaciones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274200" y="3466325"/>
            <a:ext cx="8520600" cy="14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* </a:t>
            </a: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Para poder aprobar el curso se requiere cumplir una asistencia mínima de 75%.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* Posibilidad de eximirse del examen con nota 5.5 o superior (Nota de presentación a examen = P1*0.3 + P2*0.3+TP*0.1+TI*0.3).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latin typeface="EB Garamond"/>
                <a:ea typeface="EB Garamond"/>
                <a:cs typeface="EB Garamond"/>
                <a:sym typeface="EB Garamond"/>
              </a:rPr>
              <a:t>* Examen reprobatorio (es decir, se debe obtener nota igual o superior a 4.0)</a:t>
            </a:r>
            <a:endParaRPr sz="1300"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1106500" y="148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{677E3E97-7166-4A23-BB2A-B2715022EAEB}</a:tableStyleId>
              </a:tblPr>
              <a:tblGrid>
                <a:gridCol w="1141025"/>
                <a:gridCol w="1188725"/>
                <a:gridCol w="2663400"/>
                <a:gridCol w="193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Ponderación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Fecha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Formato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Contenidos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</a:tr>
              <a:tr h="32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%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Lunes 13/04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Prueba 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Unidades I y II.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30%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Lunes 25/05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Prueba 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Unidad III y IV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10%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Lunes 15/06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Trabajo Presentación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Todas las unidades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30%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Lunes 22/06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Trabajo Informe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Todas las unidades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0%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Lunes 15/07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Examen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Todas las unidades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3</a:t>
            </a:r>
            <a:r>
              <a:rPr lang="es">
                <a:solidFill>
                  <a:schemeClr val="lt2"/>
                </a:solidFill>
              </a:rPr>
              <a:t>. Lectura introductoria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Lectura introductoria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lectura que nos acompañará en la primera unidad del curso es: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Ritchey, Ferris (2002). Estadística para las Ciencias Sociales. El potencial de la imaginación estadística. McGraw-Hill, México.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Cap. 1. “La imaginación estadística” (páginas 1-35)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PROCESAMIENTO Y 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VISUALIZACIÓN DE DATOS EN R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Clase 00</a:t>
            </a:r>
            <a:r>
              <a:rPr lang="es" sz="2400">
                <a:solidFill>
                  <a:schemeClr val="dk2"/>
                </a:solidFill>
              </a:rPr>
              <a:t> | </a:t>
            </a: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Presentación</a:t>
            </a:r>
            <a:endParaRPr sz="2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Universidad </a:t>
            </a:r>
            <a:r>
              <a:rPr lang="es" sz="1400">
                <a:solidFill>
                  <a:schemeClr val="dk2"/>
                </a:solidFill>
              </a:rPr>
              <a:t>Diego Portales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chemeClr val="dk2"/>
                </a:solidFill>
              </a:rPr>
              <a:t>Magíster en Métodos para la Investigación Social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8" name="Google Shape;128;p24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1er semestre 2026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9" name="Google Shape;129;p24" title="Logo_Universidad_Diego_Port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675" y="384875"/>
            <a:ext cx="2942624" cy="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