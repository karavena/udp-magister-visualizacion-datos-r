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EB Garamond SemiBold"/>
      <p:regular r:id="rId19"/>
      <p:bold r:id="rId20"/>
      <p:italic r:id="rId21"/>
      <p:boldItalic r:id="rId22"/>
    </p:embeddedFont>
    <p:embeddedFont>
      <p:font typeface="EB Garamon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515D36-6FF7-48D5-A226-D6F2A6FE5446}">
  <a:tblStyle styleId="{69515D36-6FF7-48D5-A226-D6F2A6FE54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SemiBold-bold.fntdata"/><Relationship Id="rId22" Type="http://schemas.openxmlformats.org/officeDocument/2006/relationships/font" Target="fonts/EBGaramondSemiBold-boldItalic.fntdata"/><Relationship Id="rId21" Type="http://schemas.openxmlformats.org/officeDocument/2006/relationships/font" Target="fonts/EBGaramondSemiBold-italic.fntdata"/><Relationship Id="rId24" Type="http://schemas.openxmlformats.org/officeDocument/2006/relationships/font" Target="fonts/EBGaramond-bold.fntdata"/><Relationship Id="rId23" Type="http://schemas.openxmlformats.org/officeDocument/2006/relationships/font" Target="fonts/EB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BGaramond-boldItalic.fntdata"/><Relationship Id="rId25" Type="http://schemas.openxmlformats.org/officeDocument/2006/relationships/font" Target="fonts/EBGaramon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EBGaramond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6198bc8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6198bc8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e0ec9c984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e0ec9c984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e0ec9c984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e0ec9c984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e0ec9c984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be0ec9c984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1e8b56e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1e8b56e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e0ec9c984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be0ec9c984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e0ec9c984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e0ec9c984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be0ec9c984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be0ec9c984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b0acc19d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b0acc19d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B Garamond SemiBold"/>
              <a:buNone/>
              <a:defRPr sz="2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  <a:def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○"/>
              <a:defRPr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katherine.aravena@ug.uchile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dp-visualizacion-datos-r.netlify.app/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PROCESAMIENTO Y 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VISUALIZACIÓN DE DATOS EN R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Clase 00</a:t>
            </a:r>
            <a:r>
              <a:rPr lang="es" sz="2400">
                <a:solidFill>
                  <a:schemeClr val="dk2"/>
                </a:solidFill>
              </a:rPr>
              <a:t> | </a:t>
            </a:r>
            <a:r>
              <a:rPr lang="es" sz="2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Presentación</a:t>
            </a:r>
            <a:endParaRPr sz="2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Universidad </a:t>
            </a:r>
            <a:r>
              <a:rPr lang="es" sz="1400">
                <a:solidFill>
                  <a:schemeClr val="dk2"/>
                </a:solidFill>
              </a:rPr>
              <a:t>Diego Portales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chemeClr val="dk2"/>
                </a:solidFill>
              </a:rPr>
              <a:t>Magíster en Métodos para la Investigación Social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1er semestre 2026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8" name="Google Shape;58;p13" title="Logo_Universidad_Diego_Port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675" y="384875"/>
            <a:ext cx="2942624" cy="7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daniela.olivares2@mail.udp.cl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katherine.aravena@ug.uchile.cl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Presentar el programa del curso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00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1. Programa del curso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Descripción del curso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El objetivo central del curso es entregar los conocimientos y destrezas básicos para el </a:t>
            </a:r>
            <a:r>
              <a:rPr b="1" lang="es" sz="2000">
                <a:highlight>
                  <a:srgbClr val="A2C4C9"/>
                </a:highlight>
              </a:rPr>
              <a:t>análisis y desarrollo de una investigación social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, a través de </a:t>
            </a:r>
            <a:r>
              <a:rPr lang="es" sz="2000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, específicamente utilizando </a:t>
            </a:r>
            <a:r>
              <a:rPr lang="es" sz="2000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estadística descriptiva, 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a través del </a:t>
            </a:r>
            <a:r>
              <a:rPr lang="es" sz="2000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software R</a:t>
            </a:r>
            <a:r>
              <a:rPr lang="es" sz="2000"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Unidades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4397400" cy="37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s">
                <a:highlight>
                  <a:srgbClr val="A2C4C9"/>
                </a:highlight>
              </a:rPr>
              <a:t>1</a:t>
            </a:r>
            <a:r>
              <a:rPr b="1" lang="es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. Introducción a</a:t>
            </a:r>
            <a:r>
              <a:rPr b="1" lang="es">
                <a:highlight>
                  <a:srgbClr val="A2C4C9"/>
                </a:highlight>
              </a:rPr>
              <a:t>l uso de R</a:t>
            </a:r>
            <a:endParaRPr b="1">
              <a:highlight>
                <a:srgbClr val="A2C4C9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1.1.	Introducción a la Ciencia Abierta </a:t>
            </a:r>
            <a:endParaRPr/>
          </a:p>
          <a:p>
            <a:pPr indent="0" lvl="0" marL="0" marR="25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1.2.	Flujo de trabajo reproducible</a:t>
            </a:r>
            <a:endParaRPr/>
          </a:p>
          <a:p>
            <a:pPr indent="0" lvl="0" marL="0" marR="25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1.3.	Introducción al software y lenguaje de programación R</a:t>
            </a:r>
            <a:endParaRPr/>
          </a:p>
          <a:p>
            <a:pPr indent="0" lvl="0" marL="0" marR="25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1.4.	REnvironment e interfaz RStudio</a:t>
            </a:r>
            <a:endParaRPr/>
          </a:p>
          <a:p>
            <a:pPr indent="0" lvl="0" marL="0" marR="25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1.5.	Lógica del lenguaje R</a:t>
            </a:r>
            <a:endParaRPr/>
          </a:p>
          <a:p>
            <a:pPr indent="0" lvl="0" marL="0" marR="25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1.6.	Procesamiento de datos</a:t>
            </a:r>
            <a:endParaRPr/>
          </a:p>
          <a:p>
            <a:pPr indent="0" lvl="0" marL="0" marR="25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1.7.	Introducción a Quarto y documentos dinámicos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s">
                <a:highlight>
                  <a:srgbClr val="A2C4C9"/>
                </a:highlight>
              </a:rPr>
              <a:t>2</a:t>
            </a:r>
            <a:r>
              <a:rPr b="1" lang="es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. </a:t>
            </a:r>
            <a:r>
              <a:rPr b="1" lang="es">
                <a:highlight>
                  <a:srgbClr val="A2C4C9"/>
                </a:highlight>
              </a:rPr>
              <a:t>Introducción a la Estadística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2.1. Noción de distribución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2.2. Introducción a la estadística descriptiva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2.3. Tipos de análisis estadístico univariado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2.4. Tipos de análisis estadístico bivariado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2.5. Tipos de gráficos y formas de visualización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832400" y="1152475"/>
            <a:ext cx="3999900" cy="37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s">
                <a:highlight>
                  <a:srgbClr val="A2C4C9"/>
                </a:highlight>
              </a:rPr>
              <a:t>3</a:t>
            </a:r>
            <a:r>
              <a:rPr b="1" lang="es">
                <a:highlight>
                  <a:srgbClr val="A2C4C9"/>
                </a:highlight>
              </a:rPr>
              <a:t>. Estadística descriptiva</a:t>
            </a:r>
            <a:r>
              <a:rPr b="1" lang="es">
                <a:highlight>
                  <a:srgbClr val="A2C4C9"/>
                </a:highlight>
                <a:latin typeface="EB Garamond"/>
                <a:ea typeface="EB Garamond"/>
                <a:cs typeface="EB Garamond"/>
                <a:sym typeface="EB Garamond"/>
              </a:rPr>
              <a:t> univariad</a:t>
            </a:r>
            <a:r>
              <a:rPr b="1" lang="es">
                <a:highlight>
                  <a:srgbClr val="A2C4C9"/>
                </a:highlight>
              </a:rPr>
              <a:t>a</a:t>
            </a:r>
            <a:endParaRPr b="1">
              <a:highlight>
                <a:srgbClr val="A2C4C9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3.1.	Frecuencias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3.2.	Medidas de tendencia central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3.3.	Medidas de dispersión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3.4.	Medidas de posición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3.5.	Medidas de forma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s"/>
              <a:t>3.6.	Visualizaciones de datos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s">
                <a:highlight>
                  <a:srgbClr val="A2C4C9"/>
                </a:highlight>
              </a:rPr>
              <a:t>4. Estadística descriptiva bivariada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4.1. Tablas de contingencia</a:t>
            </a:r>
            <a:endParaRPr/>
          </a:p>
          <a:p>
            <a:pPr indent="0" lvl="0" marL="0" rtl="0" algn="l">
              <a:lnSpc>
                <a:spcPct val="11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4.2. La noción de asociación entre variables</a:t>
            </a:r>
            <a:endParaRPr/>
          </a:p>
          <a:p>
            <a:pPr indent="0" lvl="0" marL="0" rtl="0" algn="l">
              <a:lnSpc>
                <a:spcPct val="11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4.3. Correlación</a:t>
            </a:r>
            <a:endParaRPr/>
          </a:p>
          <a:p>
            <a:pPr indent="0" lvl="0" marL="0" rtl="0" algn="l">
              <a:lnSpc>
                <a:spcPct val="11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4.4. Visualizaciones de datos </a:t>
            </a:r>
            <a:endParaRPr/>
          </a:p>
          <a:p>
            <a:pPr indent="0" lvl="0" marL="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highlight>
                  <a:srgbClr val="A2C4C9"/>
                </a:highlight>
              </a:rPr>
              <a:t>Cinco sesiones de cátedra</a:t>
            </a:r>
            <a:r>
              <a:rPr lang="es"/>
              <a:t> desarrolladas sobre la base de </a:t>
            </a:r>
            <a:r>
              <a:rPr b="1" lang="es"/>
              <a:t>clases expositivas y discusión de ejemplos aplicados en R</a:t>
            </a:r>
            <a:r>
              <a:rPr lang="es"/>
              <a:t>, permitiendo el trabajo sobre los distintos tópicos detallados en el contenido. </a:t>
            </a:r>
            <a:r>
              <a:rPr b="1" lang="es">
                <a:highlight>
                  <a:srgbClr val="A2C4C9"/>
                </a:highlight>
              </a:rPr>
              <a:t>Dos sesiones de ayudantía</a:t>
            </a:r>
            <a:r>
              <a:rPr lang="es"/>
              <a:t> en las que se trabaja la aplicación práctica en R.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96" name="Google Shape;96;p19"/>
          <p:cNvGraphicFramePr/>
          <p:nvPr/>
        </p:nvGraphicFramePr>
        <p:xfrm>
          <a:off x="1729425" y="235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{69515D36-6FF7-48D5-A226-D6F2A6FE5446}</a:tableStyleId>
              </a:tblPr>
              <a:tblGrid>
                <a:gridCol w="1895050"/>
                <a:gridCol w="1895050"/>
                <a:gridCol w="1895050"/>
              </a:tblGrid>
              <a:tr h="2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Jueves 30/04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Clase 01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Presencial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Jueves 07/05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Clase 02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Presencial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Jueves 14/05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Clase 03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Presencial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Sábado 16/05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Clase 04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Presencial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Lunes 18/05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Ayudantía 01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Online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Jueves 28/05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Clase 05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Online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2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Lunes 01/06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Ayudantía 02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Online</a:t>
                      </a:r>
                      <a:endParaRPr sz="1200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Materiales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 el material de la asignatura se encontrará disponible en el </a:t>
            </a:r>
            <a:r>
              <a:rPr b="1" lang="es">
                <a:highlight>
                  <a:srgbClr val="A2C4C9"/>
                </a:highlight>
              </a:rPr>
              <a:t>sitio web del curso</a:t>
            </a:r>
            <a:r>
              <a:rPr lang="es"/>
              <a:t>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https://udp-visualizacion-datos-r.netlify.app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1100" y="2154200"/>
            <a:ext cx="5221801" cy="272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Eva</a:t>
            </a:r>
            <a:r>
              <a:rPr lang="es"/>
              <a:t>luaciones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42050" y="1505275"/>
            <a:ext cx="8520600" cy="14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Se realizará un </a:t>
            </a:r>
            <a:r>
              <a:rPr b="1" lang="es">
                <a:highlight>
                  <a:srgbClr val="A2C4C9"/>
                </a:highlight>
              </a:rPr>
              <a:t>reporte de investigación</a:t>
            </a:r>
            <a:r>
              <a:rPr lang="es"/>
              <a:t> breve con dos entregas: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620275" y="223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{69515D36-6FF7-48D5-A226-D6F2A6FE5446}</a:tableStyleId>
              </a:tblPr>
              <a:tblGrid>
                <a:gridCol w="1124275"/>
                <a:gridCol w="1297200"/>
                <a:gridCol w="3269725"/>
                <a:gridCol w="1963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Ponderación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Fecha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Formato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Contenidos</a:t>
                      </a:r>
                      <a:endParaRPr b="1"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A2C4C9"/>
                    </a:solidFill>
                  </a:tcPr>
                </a:tc>
              </a:tr>
              <a:tr h="32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45%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Domingo 24/05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Reporte de Investigación - Entrega parcial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Unidades I, II y III.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55%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Domingo 07/06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Reporte de Investigación - 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Entrega final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Unidades I, II, III y IV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818E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Lectura introductoria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Lectura introductoria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Ritchey, F. (2008). Estadística para las ciencias sociales: El potencial de la imaginación estadística (2.ª ed.). McGraw-Hill.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Cap. 1. “La imaginación estadística”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PROCESAMIENTO Y 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latin typeface="EB Garamond"/>
                <a:ea typeface="EB Garamond"/>
                <a:cs typeface="EB Garamond"/>
                <a:sym typeface="EB Garamond"/>
              </a:rPr>
              <a:t>VISUALIZACIÓN DE DATOS EN R</a:t>
            </a:r>
            <a:endParaRPr sz="3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Clase 00</a:t>
            </a:r>
            <a:r>
              <a:rPr lang="es" sz="2400">
                <a:solidFill>
                  <a:schemeClr val="dk2"/>
                </a:solidFill>
              </a:rPr>
              <a:t> | </a:t>
            </a:r>
            <a:r>
              <a:rPr lang="es" sz="2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Presentación</a:t>
            </a:r>
            <a:endParaRPr sz="2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8" name="Google Shape;128;p24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Universidad </a:t>
            </a:r>
            <a:r>
              <a:rPr lang="es" sz="1400">
                <a:solidFill>
                  <a:schemeClr val="dk2"/>
                </a:solidFill>
              </a:rPr>
              <a:t>Diego Portales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chemeClr val="dk2"/>
                </a:solidFill>
              </a:rPr>
              <a:t>Magíster en Métodos para la Investigación Social</a:t>
            </a:r>
            <a:endParaRPr sz="14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9" name="Google Shape;129;p24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Ayudante: Katherine Aravena Herrera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1er semestre 2026</a:t>
            </a:r>
            <a:endParaRPr sz="1405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30" name="Google Shape;130;p24" title="Logo_Universidad_Diego_Porta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675" y="384875"/>
            <a:ext cx="2942624" cy="7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