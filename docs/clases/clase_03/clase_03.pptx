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embeddedFontLst>
    <p:embeddedFont>
      <p:font typeface="Caveat"/>
      <p:regular r:id="rId58"/>
      <p:bold r:id="rId59"/>
    </p:embeddedFont>
    <p:embeddedFont>
      <p:font typeface="EB Garamond Medium"/>
      <p:regular r:id="rId60"/>
      <p:bold r:id="rId61"/>
      <p:italic r:id="rId62"/>
      <p:boldItalic r:id="rId63"/>
    </p:embeddedFont>
    <p:embeddedFont>
      <p:font typeface="EB Garamond SemiBold"/>
      <p:regular r:id="rId64"/>
      <p:bold r:id="rId65"/>
      <p:italic r:id="rId66"/>
      <p:boldItalic r:id="rId67"/>
    </p:embeddedFont>
    <p:embeddedFont>
      <p:font typeface="EB Garamond"/>
      <p:regular r:id="rId68"/>
      <p:bold r:id="rId69"/>
      <p:italic r:id="rId70"/>
      <p:boldItalic r:id="rId71"/>
    </p:embeddedFont>
    <p:embeddedFont>
      <p:font typeface="EB Garamond ExtraBold"/>
      <p:bold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82F134-3321-401F-9E9D-DD9B7BCCC576}">
  <a:tblStyle styleId="{2682F134-3321-401F-9E9D-DD9B7BCCC57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523307D-3957-4866-8D09-ACF051106280}" styleName="Table_1">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a:neCell>
    <a:nwCell>
      <a:tcTxStyle/>
    </a:nwCell>
  </a:tblStyle>
  <a:tblStyle styleId="{4A25CF3E-AA19-49CC-8E85-9930AF4A0C35}"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41DE032-D7ED-4C3B-852E-99012D6E978F}" styleName="Table_3">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font>
          <a:latin typeface="Calibri"/>
          <a:ea typeface="Calibri"/>
          <a:cs typeface="Calibri"/>
        </a:font>
        <a:srgbClr val="FFFFFF"/>
      </a:tcTxStyle>
      <a:tcStyle>
        <a:fill>
          <a:solidFill>
            <a:srgbClr val="000000"/>
          </a:solidFill>
        </a:fill>
      </a:tcStyle>
    </a:lastCol>
    <a:firstCol>
      <a:tcTxStyle b="on" i="off">
        <a:font>
          <a:latin typeface="Calibri"/>
          <a:ea typeface="Calibri"/>
          <a:cs typeface="Calibri"/>
        </a:font>
        <a:srgbClr val="FFFFFF"/>
      </a:tcTxStyle>
      <a:tcStyle>
        <a:fill>
          <a:solidFill>
            <a:srgbClr val="000000"/>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000000"/>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000000"/>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EBGaramondExtraBold-boldItalic.fntdata"/><Relationship Id="rId72" Type="http://schemas.openxmlformats.org/officeDocument/2006/relationships/font" Target="fonts/EBGaramondExtraBold-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EBGaramond-boldItalic.fntdata"/><Relationship Id="rId70" Type="http://schemas.openxmlformats.org/officeDocument/2006/relationships/font" Target="fonts/EBGaramon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EBGaramondMedium-italic.fntdata"/><Relationship Id="rId61" Type="http://schemas.openxmlformats.org/officeDocument/2006/relationships/font" Target="fonts/EBGaramondMedium-bold.fntdata"/><Relationship Id="rId20" Type="http://schemas.openxmlformats.org/officeDocument/2006/relationships/slide" Target="slides/slide14.xml"/><Relationship Id="rId64" Type="http://schemas.openxmlformats.org/officeDocument/2006/relationships/font" Target="fonts/EBGaramondSemiBold-regular.fntdata"/><Relationship Id="rId63" Type="http://schemas.openxmlformats.org/officeDocument/2006/relationships/font" Target="fonts/EBGaramondMedium-boldItalic.fntdata"/><Relationship Id="rId22" Type="http://schemas.openxmlformats.org/officeDocument/2006/relationships/slide" Target="slides/slide16.xml"/><Relationship Id="rId66" Type="http://schemas.openxmlformats.org/officeDocument/2006/relationships/font" Target="fonts/EBGaramondSemiBold-italic.fntdata"/><Relationship Id="rId21" Type="http://schemas.openxmlformats.org/officeDocument/2006/relationships/slide" Target="slides/slide15.xml"/><Relationship Id="rId65" Type="http://schemas.openxmlformats.org/officeDocument/2006/relationships/font" Target="fonts/EBGaramondSemiBold-bold.fntdata"/><Relationship Id="rId24" Type="http://schemas.openxmlformats.org/officeDocument/2006/relationships/slide" Target="slides/slide18.xml"/><Relationship Id="rId68" Type="http://schemas.openxmlformats.org/officeDocument/2006/relationships/font" Target="fonts/EBGaramond-regular.fntdata"/><Relationship Id="rId23" Type="http://schemas.openxmlformats.org/officeDocument/2006/relationships/slide" Target="slides/slide17.xml"/><Relationship Id="rId67" Type="http://schemas.openxmlformats.org/officeDocument/2006/relationships/font" Target="fonts/EBGaramondSemiBold-boldItalic.fntdata"/><Relationship Id="rId60" Type="http://schemas.openxmlformats.org/officeDocument/2006/relationships/font" Target="fonts/EBGaramondMedium-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EBGaramond-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Caveat-bold.fntdata"/><Relationship Id="rId14" Type="http://schemas.openxmlformats.org/officeDocument/2006/relationships/slide" Target="slides/slide8.xml"/><Relationship Id="rId58" Type="http://schemas.openxmlformats.org/officeDocument/2006/relationships/font" Target="fonts/Caveat-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b0a6c9a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db0a6c9a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db0a6c9a6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db0a6c9a6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be0ec9c984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be0ec9c984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be0ec9c984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be0ec9c984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443ab1a40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443ab1a40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43ab1a40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443ab1a40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43ab1a40c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443ab1a40c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200701ab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200701ab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43ab1a40c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443ab1a40c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200701abb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200701abb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200701abb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e200701abb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e200701abb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e200701abb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200701abb_0_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e200701abb_0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200701abb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e200701abb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200701abb_0_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e200701abb_0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200701abb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200701abb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200701abb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e200701abb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200701abb_0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e200701abb_0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200701abb_0_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200701abb_0_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200701ab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e200701ab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200701ab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e200701ab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e200701abb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e200701abb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200701abb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e200701abb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200701abb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e200701abb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e200701abb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e200701abb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e200701abb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e200701abb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e200701abb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e200701abb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e200701abb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e200701abb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e200701abb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e200701abb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e200701abb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e200701abb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e200701abb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e200701abb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e200701abb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e200701abb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e200701abb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e200701abb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e200701abb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e200701abb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e200701abb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e200701abb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e200701abb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e200701abb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e200701abb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e200701abb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e200701abb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e200701abb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e200701abb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e200701abb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e200701abb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e200701abb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e200701abb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e200701abb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e200701abb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e200701abb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443ab1a40c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443ab1a40c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e200701abb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e200701abb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443ab1a40c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443ab1a40c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e200701ab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e200701ab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ddb230e3b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ddb230e3b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e200701ab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e200701ab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e200701ab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e200701ab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200701ab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e200701ab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e200701a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e200701a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daniela.olivares2@mail.udp.cl" TargetMode="External"/><Relationship Id="rId4" Type="http://schemas.openxmlformats.org/officeDocument/2006/relationships/hyperlink" Target="mailto:katherine.aravena@ug.uchile.c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sz="3000">
                <a:latin typeface="EB Garamond"/>
                <a:ea typeface="EB Garamond"/>
                <a:cs typeface="EB Garamond"/>
                <a:sym typeface="EB Garamond"/>
              </a:rPr>
              <a:t>PROCESAMIENTO Y </a:t>
            </a:r>
            <a:endParaRPr sz="3000">
              <a:latin typeface="EB Garamond"/>
              <a:ea typeface="EB Garamond"/>
              <a:cs typeface="EB Garamond"/>
              <a:sym typeface="EB Garamond"/>
            </a:endParaRPr>
          </a:p>
          <a:p>
            <a:pPr indent="0" lvl="0" marL="0" rtl="0" algn="ctr">
              <a:spcBef>
                <a:spcPts val="0"/>
              </a:spcBef>
              <a:spcAft>
                <a:spcPts val="0"/>
              </a:spcAft>
              <a:buNone/>
            </a:pPr>
            <a:r>
              <a:rPr lang="es" sz="3000">
                <a:latin typeface="EB Garamond"/>
                <a:ea typeface="EB Garamond"/>
                <a:cs typeface="EB Garamond"/>
                <a:sym typeface="EB Garamond"/>
              </a:rPr>
              <a:t>VISUALIZACIÓN DE DATOS EN R</a:t>
            </a:r>
            <a:endParaRPr sz="3000">
              <a:latin typeface="EB Garamond"/>
              <a:ea typeface="EB Garamond"/>
              <a:cs typeface="EB Garamond"/>
              <a:sym typeface="EB Garamond"/>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sz="2400">
                <a:latin typeface="EB Garamond"/>
                <a:ea typeface="EB Garamond"/>
                <a:cs typeface="EB Garamond"/>
                <a:sym typeface="EB Garamond"/>
              </a:rPr>
              <a:t>Clase 03 | Unidad 2. Introducción a la Estadística</a:t>
            </a:r>
            <a:endParaRPr sz="2400">
              <a:latin typeface="EB Garamond"/>
              <a:ea typeface="EB Garamond"/>
              <a:cs typeface="EB Garamond"/>
              <a:sym typeface="EB Garamond"/>
            </a:endParaRPr>
          </a:p>
        </p:txBody>
      </p:sp>
      <p:sp>
        <p:nvSpPr>
          <p:cNvPr id="56" name="Google Shape;56;p13"/>
          <p:cNvSpPr txBox="1"/>
          <p:nvPr>
            <p:ph idx="1" type="subTitle"/>
          </p:nvPr>
        </p:nvSpPr>
        <p:spPr>
          <a:xfrm>
            <a:off x="311700" y="384875"/>
            <a:ext cx="8520600" cy="7926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lang="es" sz="1400">
                <a:solidFill>
                  <a:schemeClr val="dk2"/>
                </a:solidFill>
                <a:latin typeface="EB Garamond"/>
                <a:ea typeface="EB Garamond"/>
                <a:cs typeface="EB Garamond"/>
                <a:sym typeface="EB Garamond"/>
              </a:rPr>
              <a:t>Universidad </a:t>
            </a:r>
            <a:r>
              <a:rPr lang="es" sz="1400">
                <a:latin typeface="EB Garamond"/>
                <a:ea typeface="EB Garamond"/>
                <a:cs typeface="EB Garamond"/>
                <a:sym typeface="EB Garamond"/>
              </a:rPr>
              <a:t>Diego Portales</a:t>
            </a:r>
            <a:endParaRPr sz="1400">
              <a:latin typeface="EB Garamond"/>
              <a:ea typeface="EB Garamond"/>
              <a:cs typeface="EB Garamond"/>
              <a:sym typeface="EB Garamond"/>
            </a:endParaRPr>
          </a:p>
          <a:p>
            <a:pPr indent="0" lvl="0" marL="0" rtl="0" algn="l">
              <a:lnSpc>
                <a:spcPct val="80000"/>
              </a:lnSpc>
              <a:spcBef>
                <a:spcPts val="0"/>
              </a:spcBef>
              <a:spcAft>
                <a:spcPts val="0"/>
              </a:spcAft>
              <a:buNone/>
            </a:pPr>
            <a:r>
              <a:rPr lang="es" sz="1400">
                <a:latin typeface="EB Garamond"/>
                <a:ea typeface="EB Garamond"/>
                <a:cs typeface="EB Garamond"/>
                <a:sym typeface="EB Garamond"/>
              </a:rPr>
              <a:t>Facultad de Ciencias Sociales e Historia</a:t>
            </a:r>
            <a:endParaRPr sz="1400">
              <a:latin typeface="EB Garamond"/>
              <a:ea typeface="EB Garamond"/>
              <a:cs typeface="EB Garamond"/>
              <a:sym typeface="EB Garamond"/>
            </a:endParaRPr>
          </a:p>
          <a:p>
            <a:pPr indent="0" lvl="0" marL="0" rtl="0" algn="l">
              <a:lnSpc>
                <a:spcPct val="80000"/>
              </a:lnSpc>
              <a:spcBef>
                <a:spcPts val="0"/>
              </a:spcBef>
              <a:spcAft>
                <a:spcPts val="0"/>
              </a:spcAft>
              <a:buClr>
                <a:schemeClr val="dk1"/>
              </a:buClr>
              <a:buSzPts val="1100"/>
              <a:buFont typeface="Arial"/>
              <a:buNone/>
            </a:pPr>
            <a:r>
              <a:rPr lang="es" sz="1400">
                <a:latin typeface="EB Garamond"/>
                <a:ea typeface="EB Garamond"/>
                <a:cs typeface="EB Garamond"/>
                <a:sym typeface="EB Garamond"/>
              </a:rPr>
              <a:t>Magíster en Métodos para la Investigación Social</a:t>
            </a:r>
            <a:endParaRPr sz="1400">
              <a:latin typeface="EB Garamond"/>
              <a:ea typeface="EB Garamond"/>
              <a:cs typeface="EB Garamond"/>
              <a:sym typeface="EB Garamond"/>
            </a:endParaRPr>
          </a:p>
        </p:txBody>
      </p:sp>
      <p:sp>
        <p:nvSpPr>
          <p:cNvPr id="57" name="Google Shape;57;p13"/>
          <p:cNvSpPr txBox="1"/>
          <p:nvPr>
            <p:ph idx="1" type="subTitle"/>
          </p:nvPr>
        </p:nvSpPr>
        <p:spPr>
          <a:xfrm>
            <a:off x="311700" y="4033150"/>
            <a:ext cx="8520600" cy="792600"/>
          </a:xfrm>
          <a:prstGeom prst="rect">
            <a:avLst/>
          </a:prstGeom>
        </p:spPr>
        <p:txBody>
          <a:bodyPr anchorCtr="0" anchor="t" bIns="91425" lIns="91425" spcFirstLastPara="1" rIns="91425" wrap="square" tIns="91425">
            <a:normAutofit/>
          </a:bodyPr>
          <a:lstStyle/>
          <a:p>
            <a:pPr indent="0" lvl="0" marL="0" rtl="0" algn="r">
              <a:lnSpc>
                <a:spcPct val="80000"/>
              </a:lnSpc>
              <a:spcBef>
                <a:spcPts val="0"/>
              </a:spcBef>
              <a:spcAft>
                <a:spcPts val="0"/>
              </a:spcAft>
              <a:buSzPts val="1018"/>
              <a:buNone/>
            </a:pPr>
            <a:r>
              <a:rPr lang="es" sz="1405">
                <a:solidFill>
                  <a:schemeClr val="dk2"/>
                </a:solidFill>
                <a:latin typeface="EB Garamond"/>
                <a:ea typeface="EB Garamond"/>
                <a:cs typeface="EB Garamond"/>
                <a:sym typeface="EB Garamond"/>
              </a:rPr>
              <a:t>Profesora: Daniela Olivares Collío</a:t>
            </a:r>
            <a:endParaRPr sz="1405">
              <a:solidFill>
                <a:schemeClr val="dk2"/>
              </a:solidFill>
              <a:latin typeface="EB Garamond"/>
              <a:ea typeface="EB Garamond"/>
              <a:cs typeface="EB Garamond"/>
              <a:sym typeface="EB Garamond"/>
            </a:endParaRPr>
          </a:p>
          <a:p>
            <a:pPr indent="0" lvl="0" marL="0" rtl="0" algn="r">
              <a:lnSpc>
                <a:spcPct val="80000"/>
              </a:lnSpc>
              <a:spcBef>
                <a:spcPts val="0"/>
              </a:spcBef>
              <a:spcAft>
                <a:spcPts val="0"/>
              </a:spcAft>
              <a:buSzPts val="1018"/>
              <a:buNone/>
            </a:pPr>
            <a:r>
              <a:rPr lang="es" sz="1405">
                <a:solidFill>
                  <a:schemeClr val="dk2"/>
                </a:solidFill>
                <a:latin typeface="EB Garamond"/>
                <a:ea typeface="EB Garamond"/>
                <a:cs typeface="EB Garamond"/>
                <a:sym typeface="EB Garamond"/>
              </a:rPr>
              <a:t>Ayudante: Katherine Aravena Herrera</a:t>
            </a:r>
            <a:endParaRPr sz="1405">
              <a:solidFill>
                <a:schemeClr val="dk2"/>
              </a:solidFill>
              <a:latin typeface="EB Garamond"/>
              <a:ea typeface="EB Garamond"/>
              <a:cs typeface="EB Garamond"/>
              <a:sym typeface="EB Garamond"/>
            </a:endParaRPr>
          </a:p>
          <a:p>
            <a:pPr indent="0" lvl="0" marL="0" rtl="0" algn="r">
              <a:lnSpc>
                <a:spcPct val="80000"/>
              </a:lnSpc>
              <a:spcBef>
                <a:spcPts val="0"/>
              </a:spcBef>
              <a:spcAft>
                <a:spcPts val="0"/>
              </a:spcAft>
              <a:buSzPts val="1018"/>
              <a:buNone/>
            </a:pPr>
            <a:r>
              <a:rPr lang="es" sz="1405">
                <a:solidFill>
                  <a:schemeClr val="dk2"/>
                </a:solidFill>
                <a:latin typeface="EB Garamond"/>
                <a:ea typeface="EB Garamond"/>
                <a:cs typeface="EB Garamond"/>
                <a:sym typeface="EB Garamond"/>
              </a:rPr>
              <a:t>1er semestre 2026</a:t>
            </a:r>
            <a:endParaRPr sz="1405">
              <a:solidFill>
                <a:schemeClr val="dk2"/>
              </a:solidFill>
              <a:latin typeface="EB Garamond"/>
              <a:ea typeface="EB Garamond"/>
              <a:cs typeface="EB Garamond"/>
              <a:sym typeface="EB Garamond"/>
            </a:endParaRPr>
          </a:p>
        </p:txBody>
      </p:sp>
      <p:pic>
        <p:nvPicPr>
          <p:cNvPr id="58" name="Google Shape;58;p13" title="Logo_Universidad_Diego_Portales.png"/>
          <p:cNvPicPr preferRelativeResize="0"/>
          <p:nvPr/>
        </p:nvPicPr>
        <p:blipFill>
          <a:blip r:embed="rId3">
            <a:alphaModFix/>
          </a:blip>
          <a:stretch>
            <a:fillRect/>
          </a:stretch>
        </p:blipFill>
        <p:spPr>
          <a:xfrm>
            <a:off x="5889675" y="384875"/>
            <a:ext cx="2942624" cy="716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1090500"/>
            <a:ext cx="8520600" cy="2571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
                <a:latin typeface="EB Garamond"/>
                <a:ea typeface="EB Garamond"/>
                <a:cs typeface="EB Garamond"/>
                <a:sym typeface="EB Garamond"/>
              </a:rPr>
              <a:t>Profesora: Daniela Olivares Collío</a:t>
            </a:r>
            <a:endParaRPr>
              <a:latin typeface="EB Garamond"/>
              <a:ea typeface="EB Garamond"/>
              <a:cs typeface="EB Garamond"/>
              <a:sym typeface="EB Garamond"/>
            </a:endParaRPr>
          </a:p>
          <a:p>
            <a:pPr indent="0" lvl="0" marL="0" rtl="0" algn="ctr">
              <a:spcBef>
                <a:spcPts val="0"/>
              </a:spcBef>
              <a:spcAft>
                <a:spcPts val="0"/>
              </a:spcAft>
              <a:buNone/>
            </a:pPr>
            <a:r>
              <a:rPr lang="es" u="sng">
                <a:solidFill>
                  <a:schemeClr val="hlink"/>
                </a:solidFill>
                <a:latin typeface="EB Garamond"/>
                <a:ea typeface="EB Garamond"/>
                <a:cs typeface="EB Garamond"/>
                <a:sym typeface="EB Garamond"/>
                <a:hlinkClick r:id="rId3"/>
              </a:rPr>
              <a:t>daniela.olivares2@mail.udp.cl</a:t>
            </a:r>
            <a:endParaRPr>
              <a:latin typeface="EB Garamond"/>
              <a:ea typeface="EB Garamond"/>
              <a:cs typeface="EB Garamond"/>
              <a:sym typeface="EB Garamond"/>
            </a:endParaRPr>
          </a:p>
          <a:p>
            <a:pPr indent="0" lvl="0" marL="0" rtl="0" algn="ctr">
              <a:spcBef>
                <a:spcPts val="0"/>
              </a:spcBef>
              <a:spcAft>
                <a:spcPts val="0"/>
              </a:spcAft>
              <a:buNone/>
            </a:pPr>
            <a:r>
              <a:t/>
            </a:r>
            <a:endParaRPr>
              <a:latin typeface="EB Garamond"/>
              <a:ea typeface="EB Garamond"/>
              <a:cs typeface="EB Garamond"/>
              <a:sym typeface="EB Garamond"/>
            </a:endParaRPr>
          </a:p>
          <a:p>
            <a:pPr indent="0" lvl="0" marL="0" rtl="0" algn="ctr">
              <a:spcBef>
                <a:spcPts val="0"/>
              </a:spcBef>
              <a:spcAft>
                <a:spcPts val="0"/>
              </a:spcAft>
              <a:buNone/>
            </a:pPr>
            <a:r>
              <a:rPr lang="es">
                <a:latin typeface="EB Garamond"/>
                <a:ea typeface="EB Garamond"/>
                <a:cs typeface="EB Garamond"/>
                <a:sym typeface="EB Garamond"/>
              </a:rPr>
              <a:t>Ayudante: Katherine Aravena Herrera</a:t>
            </a:r>
            <a:endParaRPr>
              <a:latin typeface="EB Garamond"/>
              <a:ea typeface="EB Garamond"/>
              <a:cs typeface="EB Garamond"/>
              <a:sym typeface="EB Garamond"/>
            </a:endParaRPr>
          </a:p>
          <a:p>
            <a:pPr indent="0" lvl="0" marL="0" rtl="0" algn="ctr">
              <a:spcBef>
                <a:spcPts val="0"/>
              </a:spcBef>
              <a:spcAft>
                <a:spcPts val="0"/>
              </a:spcAft>
              <a:buNone/>
            </a:pPr>
            <a:r>
              <a:rPr lang="es" u="sng">
                <a:solidFill>
                  <a:schemeClr val="hlink"/>
                </a:solidFill>
                <a:latin typeface="EB Garamond"/>
                <a:ea typeface="EB Garamond"/>
                <a:cs typeface="EB Garamond"/>
                <a:sym typeface="EB Garamond"/>
                <a:hlinkClick r:id="rId4"/>
              </a:rPr>
              <a:t>katherine.aravena@ug.uchile.cl</a:t>
            </a:r>
            <a:endParaRPr>
              <a:latin typeface="EB Garamond"/>
              <a:ea typeface="EB Garamond"/>
              <a:cs typeface="EB Garamond"/>
              <a:sym typeface="EB Garamond"/>
            </a:endParaRPr>
          </a:p>
        </p:txBody>
      </p:sp>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latin typeface="EB Garamond SemiBold"/>
                <a:ea typeface="EB Garamond SemiBold"/>
                <a:cs typeface="EB Garamond SemiBold"/>
                <a:sym typeface="EB Garamond SemiBold"/>
              </a:rPr>
              <a:t>Objetivos</a:t>
            </a:r>
            <a:endParaRPr>
              <a:latin typeface="EB Garamond SemiBold"/>
              <a:ea typeface="EB Garamond SemiBold"/>
              <a:cs typeface="EB Garamond SemiBold"/>
              <a:sym typeface="EB Garamond SemiBold"/>
            </a:endParaRPr>
          </a:p>
        </p:txBody>
      </p:sp>
      <p:sp>
        <p:nvSpPr>
          <p:cNvPr id="70" name="Google Shape;70;p15"/>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solidFill>
                  <a:schemeClr val="dk1"/>
                </a:solidFill>
                <a:latin typeface="EB Garamond Medium"/>
                <a:ea typeface="EB Garamond Medium"/>
                <a:cs typeface="EB Garamond Medium"/>
                <a:sym typeface="EB Garamond Medium"/>
              </a:rPr>
              <a:t>1. </a:t>
            </a:r>
            <a:r>
              <a:rPr lang="es">
                <a:solidFill>
                  <a:schemeClr val="dk1"/>
                </a:solidFill>
                <a:latin typeface="EB Garamond Medium"/>
                <a:ea typeface="EB Garamond Medium"/>
                <a:cs typeface="EB Garamond Medium"/>
                <a:sym typeface="EB Garamond Medium"/>
              </a:rPr>
              <a:t>Introducción a la Estadística</a:t>
            </a:r>
            <a:endParaRPr>
              <a:solidFill>
                <a:schemeClr val="dk1"/>
              </a:solidFill>
              <a:latin typeface="EB Garamond Medium"/>
              <a:ea typeface="EB Garamond Medium"/>
              <a:cs typeface="EB Garamond Medium"/>
              <a:sym typeface="EB Garamond Medium"/>
            </a:endParaRPr>
          </a:p>
          <a:p>
            <a:pPr indent="457200" lvl="0" marL="0" rtl="0" algn="l">
              <a:spcBef>
                <a:spcPts val="1200"/>
              </a:spcBef>
              <a:spcAft>
                <a:spcPts val="0"/>
              </a:spcAft>
              <a:buNone/>
            </a:pPr>
            <a:r>
              <a:rPr lang="es" sz="1400">
                <a:solidFill>
                  <a:schemeClr val="dk1"/>
                </a:solidFill>
                <a:latin typeface="EB Garamond"/>
                <a:ea typeface="EB Garamond"/>
                <a:cs typeface="EB Garamond"/>
                <a:sym typeface="EB Garamond"/>
              </a:rPr>
              <a:t>2.1. Noción de distribución</a:t>
            </a:r>
            <a:endParaRPr sz="1400">
              <a:solidFill>
                <a:schemeClr val="dk1"/>
              </a:solidFill>
              <a:latin typeface="EB Garamond"/>
              <a:ea typeface="EB Garamond"/>
              <a:cs typeface="EB Garamond"/>
              <a:sym typeface="EB Garamond"/>
            </a:endParaRPr>
          </a:p>
          <a:p>
            <a:pPr indent="457200" lvl="0" marL="0" rtl="0" algn="l">
              <a:spcBef>
                <a:spcPts val="1200"/>
              </a:spcBef>
              <a:spcAft>
                <a:spcPts val="0"/>
              </a:spcAft>
              <a:buNone/>
            </a:pPr>
            <a:r>
              <a:rPr lang="es" sz="1400">
                <a:solidFill>
                  <a:schemeClr val="dk1"/>
                </a:solidFill>
                <a:latin typeface="EB Garamond"/>
                <a:ea typeface="EB Garamond"/>
                <a:cs typeface="EB Garamond"/>
                <a:sym typeface="EB Garamond"/>
              </a:rPr>
              <a:t>2.2. Introducción a la estadística descriptiva</a:t>
            </a:r>
            <a:endParaRPr sz="1400">
              <a:solidFill>
                <a:schemeClr val="dk1"/>
              </a:solidFill>
              <a:latin typeface="EB Garamond"/>
              <a:ea typeface="EB Garamond"/>
              <a:cs typeface="EB Garamond"/>
              <a:sym typeface="EB Garamond"/>
            </a:endParaRPr>
          </a:p>
          <a:p>
            <a:pPr indent="457200" lvl="0" marL="0" rtl="0" algn="l">
              <a:spcBef>
                <a:spcPts val="1200"/>
              </a:spcBef>
              <a:spcAft>
                <a:spcPts val="0"/>
              </a:spcAft>
              <a:buNone/>
            </a:pPr>
            <a:r>
              <a:rPr lang="es" sz="1400">
                <a:solidFill>
                  <a:schemeClr val="dk1"/>
                </a:solidFill>
                <a:latin typeface="EB Garamond"/>
                <a:ea typeface="EB Garamond"/>
                <a:cs typeface="EB Garamond"/>
                <a:sym typeface="EB Garamond"/>
              </a:rPr>
              <a:t>2.3. Tipos de análisis estadístico univariado</a:t>
            </a:r>
            <a:endParaRPr sz="1400">
              <a:solidFill>
                <a:schemeClr val="dk1"/>
              </a:solidFill>
              <a:latin typeface="EB Garamond"/>
              <a:ea typeface="EB Garamond"/>
              <a:cs typeface="EB Garamond"/>
              <a:sym typeface="EB Garamond"/>
            </a:endParaRPr>
          </a:p>
          <a:p>
            <a:pPr indent="457200" lvl="0" marL="0" rtl="0" algn="l">
              <a:spcBef>
                <a:spcPts val="1200"/>
              </a:spcBef>
              <a:spcAft>
                <a:spcPts val="0"/>
              </a:spcAft>
              <a:buNone/>
            </a:pPr>
            <a:r>
              <a:rPr lang="es" sz="1400">
                <a:solidFill>
                  <a:schemeClr val="dk1"/>
                </a:solidFill>
                <a:latin typeface="EB Garamond"/>
                <a:ea typeface="EB Garamond"/>
                <a:cs typeface="EB Garamond"/>
                <a:sym typeface="EB Garamond"/>
              </a:rPr>
              <a:t>2.4. Tipos de análisis estadístico bivariado</a:t>
            </a:r>
            <a:endParaRPr sz="1400">
              <a:solidFill>
                <a:schemeClr val="dk1"/>
              </a:solidFill>
              <a:latin typeface="EB Garamond"/>
              <a:ea typeface="EB Garamond"/>
              <a:cs typeface="EB Garamond"/>
              <a:sym typeface="EB Garamond"/>
            </a:endParaRPr>
          </a:p>
          <a:p>
            <a:pPr indent="457200" lvl="0" marL="0" rtl="0" algn="l">
              <a:spcBef>
                <a:spcPts val="1200"/>
              </a:spcBef>
              <a:spcAft>
                <a:spcPts val="1200"/>
              </a:spcAft>
              <a:buNone/>
            </a:pPr>
            <a:r>
              <a:rPr lang="es" sz="1400">
                <a:solidFill>
                  <a:schemeClr val="dk1"/>
                </a:solidFill>
                <a:latin typeface="EB Garamond"/>
                <a:ea typeface="EB Garamond"/>
                <a:cs typeface="EB Garamond"/>
                <a:sym typeface="EB Garamond"/>
              </a:rPr>
              <a:t>2.5. Tipos de gráficos y formas de visualización</a:t>
            </a:r>
            <a:endParaRPr sz="1400">
              <a:solidFill>
                <a:schemeClr val="dk1"/>
              </a:solidFill>
              <a:latin typeface="EB Garamond"/>
              <a:ea typeface="EB Garamond"/>
              <a:cs typeface="EB Garamond"/>
              <a:sym typeface="EB Garamond"/>
            </a:endParaRPr>
          </a:p>
        </p:txBody>
      </p:sp>
      <p:sp>
        <p:nvSpPr>
          <p:cNvPr id="71" name="Google Shape;71;p15"/>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solidFill>
                  <a:schemeClr val="dk1"/>
                </a:solidFill>
                <a:latin typeface="EB Garamond"/>
                <a:ea typeface="EB Garamond"/>
                <a:cs typeface="EB Garamond"/>
                <a:sym typeface="EB Garamond"/>
              </a:rPr>
              <a:t>Clase 03</a:t>
            </a:r>
            <a:endParaRPr>
              <a:solidFill>
                <a:schemeClr val="dk1"/>
              </a:solidFill>
              <a:latin typeface="EB Garamond"/>
              <a:ea typeface="EB Garamond"/>
              <a:cs typeface="EB Garamond"/>
              <a:sym typeface="EB Garamo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5818E"/>
        </a:solidFill>
      </p:bgPr>
    </p:bg>
    <p:spTree>
      <p:nvGrpSpPr>
        <p:cNvPr id="75" name="Shape 75"/>
        <p:cNvGrpSpPr/>
        <p:nvPr/>
      </p:nvGrpSpPr>
      <p:grpSpPr>
        <a:xfrm>
          <a:off x="0" y="0"/>
          <a:ext cx="0" cy="0"/>
          <a:chOff x="0" y="0"/>
          <a:chExt cx="0" cy="0"/>
        </a:xfrm>
      </p:grpSpPr>
      <p:sp>
        <p:nvSpPr>
          <p:cNvPr id="76" name="Google Shape;76;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457200" rtl="0" algn="ctr">
              <a:spcBef>
                <a:spcPts val="0"/>
              </a:spcBef>
              <a:spcAft>
                <a:spcPts val="0"/>
              </a:spcAft>
              <a:buNone/>
            </a:pPr>
            <a:r>
              <a:rPr lang="es">
                <a:solidFill>
                  <a:schemeClr val="lt2"/>
                </a:solidFill>
                <a:latin typeface="EB Garamond SemiBold"/>
                <a:ea typeface="EB Garamond SemiBold"/>
                <a:cs typeface="EB Garamond SemiBold"/>
                <a:sym typeface="EB Garamond SemiBold"/>
              </a:rPr>
              <a:t>1.1.	Noción de distribución</a:t>
            </a:r>
            <a:endParaRPr>
              <a:solidFill>
                <a:schemeClr val="lt2"/>
              </a:solidFill>
              <a:latin typeface="EB Garamond SemiBold"/>
              <a:ea typeface="EB Garamond SemiBold"/>
              <a:cs typeface="EB Garamond SemiBold"/>
              <a:sym typeface="EB Garamond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¿Qué es una distribución?</a:t>
            </a:r>
            <a:endParaRPr b="1">
              <a:latin typeface="EB Garamond"/>
              <a:ea typeface="EB Garamond"/>
              <a:cs typeface="EB Garamond"/>
              <a:sym typeface="EB Garamond"/>
            </a:endParaRPr>
          </a:p>
          <a:p>
            <a:pPr indent="0" lvl="0" marL="0" rtl="0" algn="l">
              <a:spcBef>
                <a:spcPts val="0"/>
              </a:spcBef>
              <a:spcAft>
                <a:spcPts val="0"/>
              </a:spcAft>
              <a:buNone/>
            </a:pPr>
            <a:r>
              <a:t/>
            </a:r>
            <a:endParaRPr b="1">
              <a:latin typeface="EB Garamond"/>
              <a:ea typeface="EB Garamond"/>
              <a:cs typeface="EB Garamond"/>
              <a:sym typeface="EB Garamond"/>
            </a:endParaRPr>
          </a:p>
        </p:txBody>
      </p:sp>
      <p:sp>
        <p:nvSpPr>
          <p:cNvPr id="82" name="Google Shape;82;p17"/>
          <p:cNvSpPr txBox="1"/>
          <p:nvPr>
            <p:ph idx="1" type="body"/>
          </p:nvPr>
        </p:nvSpPr>
        <p:spPr>
          <a:xfrm>
            <a:off x="311700" y="1152475"/>
            <a:ext cx="4909800" cy="3566400"/>
          </a:xfrm>
          <a:prstGeom prst="rect">
            <a:avLst/>
          </a:prstGeom>
        </p:spPr>
        <p:txBody>
          <a:bodyPr anchorCtr="0" anchor="t" bIns="91425" lIns="91425" spcFirstLastPara="1" rIns="91425" wrap="square" tIns="91425">
            <a:normAutofit/>
          </a:bodyPr>
          <a:lstStyle/>
          <a:p>
            <a:pPr indent="0" lvl="0" marL="457200" rtl="0" algn="just">
              <a:spcBef>
                <a:spcPts val="0"/>
              </a:spcBef>
              <a:spcAft>
                <a:spcPts val="0"/>
              </a:spcAft>
              <a:buNone/>
            </a:pPr>
            <a:r>
              <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Una distribución describe cómo se reparten los valores de una variable en una muestra o población</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Nos dice: ¿dónde se concentran los datos? ¿cuánta variación hay? ¿hay valores extremos?</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i="1" lang="es">
                <a:solidFill>
                  <a:schemeClr val="dk1"/>
                </a:solidFill>
                <a:latin typeface="EB Garamond"/>
                <a:ea typeface="EB Garamond"/>
                <a:cs typeface="EB Garamond"/>
                <a:sym typeface="EB Garamond"/>
              </a:rPr>
              <a:t>Ejemplo intuitivo: </a:t>
            </a:r>
            <a:r>
              <a:rPr lang="es">
                <a:solidFill>
                  <a:schemeClr val="dk1"/>
                </a:solidFill>
                <a:latin typeface="EB Garamond"/>
                <a:ea typeface="EB Garamond"/>
                <a:cs typeface="EB Garamond"/>
                <a:sym typeface="EB Garamond"/>
              </a:rPr>
              <a:t>si preguntas a 1.200 personas "¿Confías en el gobierno?" → las respuestas se distribuyen entre opciones</a:t>
            </a:r>
            <a:endParaRPr>
              <a:solidFill>
                <a:schemeClr val="dk1"/>
              </a:solidFill>
              <a:latin typeface="EB Garamond"/>
              <a:ea typeface="EB Garamond"/>
              <a:cs typeface="EB Garamond"/>
              <a:sym typeface="EB Garamond"/>
            </a:endParaRPr>
          </a:p>
        </p:txBody>
      </p:sp>
      <p:pic>
        <p:nvPicPr>
          <p:cNvPr id="83" name="Google Shape;83;p17"/>
          <p:cNvPicPr preferRelativeResize="0"/>
          <p:nvPr/>
        </p:nvPicPr>
        <p:blipFill rotWithShape="1">
          <a:blip r:embed="rId3">
            <a:alphaModFix/>
          </a:blip>
          <a:srcRect b="0" l="11110" r="14224" t="0"/>
          <a:stretch/>
        </p:blipFill>
        <p:spPr>
          <a:xfrm>
            <a:off x="5536925" y="1476600"/>
            <a:ext cx="3295376" cy="2484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Tipos de distribuciones</a:t>
            </a:r>
            <a:endParaRPr b="1">
              <a:latin typeface="EB Garamond"/>
              <a:ea typeface="EB Garamond"/>
              <a:cs typeface="EB Garamond"/>
              <a:sym typeface="EB Garamond"/>
            </a:endParaRPr>
          </a:p>
          <a:p>
            <a:pPr indent="0" lvl="0" marL="0" rtl="0" algn="l">
              <a:spcBef>
                <a:spcPts val="0"/>
              </a:spcBef>
              <a:spcAft>
                <a:spcPts val="0"/>
              </a:spcAft>
              <a:buNone/>
            </a:pPr>
            <a:r>
              <a:t/>
            </a:r>
            <a:endParaRPr b="1">
              <a:latin typeface="EB Garamond"/>
              <a:ea typeface="EB Garamond"/>
              <a:cs typeface="EB Garamond"/>
              <a:sym typeface="EB Garamond"/>
            </a:endParaRPr>
          </a:p>
        </p:txBody>
      </p:sp>
      <p:sp>
        <p:nvSpPr>
          <p:cNvPr id="89" name="Google Shape;89;p18"/>
          <p:cNvSpPr txBox="1"/>
          <p:nvPr>
            <p:ph idx="1" type="body"/>
          </p:nvPr>
        </p:nvSpPr>
        <p:spPr>
          <a:xfrm>
            <a:off x="311700" y="1152475"/>
            <a:ext cx="8452200" cy="356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a:solidFill>
                <a:schemeClr val="dk1"/>
              </a:solidFill>
              <a:latin typeface="EB Garamond ExtraBold"/>
              <a:ea typeface="EB Garamond ExtraBold"/>
              <a:cs typeface="EB Garamond ExtraBold"/>
              <a:sym typeface="EB Garamond ExtraBold"/>
            </a:endParaRPr>
          </a:p>
          <a:p>
            <a:pPr indent="0" lvl="0" marL="0" rtl="0" algn="just">
              <a:spcBef>
                <a:spcPts val="0"/>
              </a:spcBef>
              <a:spcAft>
                <a:spcPts val="0"/>
              </a:spcAft>
              <a:buNone/>
            </a:pPr>
            <a:r>
              <a:t/>
            </a:r>
            <a:endParaRPr>
              <a:solidFill>
                <a:schemeClr val="dk1"/>
              </a:solidFill>
              <a:latin typeface="EB Garamond ExtraBold"/>
              <a:ea typeface="EB Garamond ExtraBold"/>
              <a:cs typeface="EB Garamond ExtraBold"/>
              <a:sym typeface="EB Garamond ExtraBol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Simétrica / normal</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Sesgada a la derecha </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Sesgada a la izquierda</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Bimodal</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etc.</a:t>
            </a:r>
            <a:endParaRPr>
              <a:solidFill>
                <a:schemeClr val="dk1"/>
              </a:solidFill>
              <a:latin typeface="EB Garamond"/>
              <a:ea typeface="EB Garamond"/>
              <a:cs typeface="EB Garamond"/>
              <a:sym typeface="EB Garamond"/>
            </a:endParaRPr>
          </a:p>
        </p:txBody>
      </p:sp>
      <p:pic>
        <p:nvPicPr>
          <p:cNvPr id="90" name="Google Shape;90;p18"/>
          <p:cNvPicPr preferRelativeResize="0"/>
          <p:nvPr/>
        </p:nvPicPr>
        <p:blipFill>
          <a:blip r:embed="rId3">
            <a:alphaModFix/>
          </a:blip>
          <a:stretch>
            <a:fillRect/>
          </a:stretch>
        </p:blipFill>
        <p:spPr>
          <a:xfrm>
            <a:off x="3242825" y="1052875"/>
            <a:ext cx="5521075" cy="39107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5818E"/>
        </a:solidFill>
      </p:bgPr>
    </p:bg>
    <p:spTree>
      <p:nvGrpSpPr>
        <p:cNvPr id="94" name="Shape 94"/>
        <p:cNvGrpSpPr/>
        <p:nvPr/>
      </p:nvGrpSpPr>
      <p:grpSpPr>
        <a:xfrm>
          <a:off x="0" y="0"/>
          <a:ext cx="0" cy="0"/>
          <a:chOff x="0" y="0"/>
          <a:chExt cx="0" cy="0"/>
        </a:xfrm>
      </p:grpSpPr>
      <p:sp>
        <p:nvSpPr>
          <p:cNvPr id="95" name="Google Shape;95;p1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457200" rtl="0" algn="ctr">
              <a:spcBef>
                <a:spcPts val="0"/>
              </a:spcBef>
              <a:spcAft>
                <a:spcPts val="0"/>
              </a:spcAft>
              <a:buNone/>
            </a:pPr>
            <a:r>
              <a:rPr lang="es">
                <a:solidFill>
                  <a:schemeClr val="lt2"/>
                </a:solidFill>
                <a:latin typeface="EB Garamond SemiBold"/>
                <a:ea typeface="EB Garamond SemiBold"/>
                <a:cs typeface="EB Garamond SemiBold"/>
                <a:sym typeface="EB Garamond SemiBold"/>
              </a:rPr>
              <a:t>2.2. Introducción a la estadística descriptiva</a:t>
            </a:r>
            <a:endParaRPr>
              <a:solidFill>
                <a:schemeClr val="lt2"/>
              </a:solidFill>
              <a:latin typeface="EB Garamond SemiBold"/>
              <a:ea typeface="EB Garamond SemiBold"/>
              <a:cs typeface="EB Garamond SemiBold"/>
              <a:sym typeface="EB Garamond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¿Qué es la estadística descriptiva? </a:t>
            </a:r>
            <a:endParaRPr b="1">
              <a:latin typeface="EB Garamond"/>
              <a:ea typeface="EB Garamond"/>
              <a:cs typeface="EB Garamond"/>
              <a:sym typeface="EB Garamond"/>
            </a:endParaRPr>
          </a:p>
          <a:p>
            <a:pPr indent="0" lvl="0" marL="0" rtl="0" algn="l">
              <a:spcBef>
                <a:spcPts val="0"/>
              </a:spcBef>
              <a:spcAft>
                <a:spcPts val="0"/>
              </a:spcAft>
              <a:buNone/>
            </a:pPr>
            <a:r>
              <a:t/>
            </a:r>
            <a:endParaRPr b="1">
              <a:latin typeface="EB Garamond"/>
              <a:ea typeface="EB Garamond"/>
              <a:cs typeface="EB Garamond"/>
              <a:sym typeface="EB Garamond"/>
            </a:endParaRPr>
          </a:p>
        </p:txBody>
      </p:sp>
      <p:sp>
        <p:nvSpPr>
          <p:cNvPr id="101" name="Google Shape;101;p20"/>
          <p:cNvSpPr txBox="1"/>
          <p:nvPr>
            <p:ph idx="1" type="body"/>
          </p:nvPr>
        </p:nvSpPr>
        <p:spPr>
          <a:xfrm>
            <a:off x="311700" y="1152475"/>
            <a:ext cx="8452200" cy="356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a:solidFill>
                <a:schemeClr val="dk1"/>
              </a:solidFill>
              <a:latin typeface="EB Garamond ExtraBold"/>
              <a:ea typeface="EB Garamond ExtraBold"/>
              <a:cs typeface="EB Garamond ExtraBold"/>
              <a:sym typeface="EB Garamond ExtraBol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Herramientas para </a:t>
            </a:r>
            <a:r>
              <a:rPr b="1" lang="es">
                <a:solidFill>
                  <a:schemeClr val="dk1"/>
                </a:solidFill>
                <a:highlight>
                  <a:srgbClr val="A2C4C9"/>
                </a:highlight>
                <a:latin typeface="EB Garamond"/>
                <a:ea typeface="EB Garamond"/>
                <a:cs typeface="EB Garamond"/>
                <a:sym typeface="EB Garamond"/>
              </a:rPr>
              <a:t>resumir y comunicar</a:t>
            </a:r>
            <a:r>
              <a:rPr lang="es">
                <a:solidFill>
                  <a:schemeClr val="dk1"/>
                </a:solidFill>
                <a:latin typeface="EB Garamond"/>
                <a:ea typeface="EB Garamond"/>
                <a:cs typeface="EB Garamond"/>
                <a:sym typeface="EB Garamond"/>
              </a:rPr>
              <a:t> información contenida en los datos</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No busca inferir ni generalizar (eso viene después)</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Tres preguntas clave:</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¿Dónde están los datos? → tendencia central</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¿Cuánto varían? → dispersión</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¿Cómo se relacionan dos variables? → asociación</a:t>
            </a:r>
            <a:endParaRPr>
              <a:solidFill>
                <a:schemeClr val="dk1"/>
              </a:solidFill>
              <a:latin typeface="EB Garamond"/>
              <a:ea typeface="EB Garamond"/>
              <a:cs typeface="EB Garamond"/>
              <a:sym typeface="EB Garamond"/>
            </a:endParaRPr>
          </a:p>
          <a:p>
            <a:pPr indent="0" lvl="0" marL="0" rtl="0" algn="just">
              <a:spcBef>
                <a:spcPts val="0"/>
              </a:spcBef>
              <a:spcAft>
                <a:spcPts val="0"/>
              </a:spcAft>
              <a:buNone/>
            </a:pPr>
            <a:r>
              <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Fuente: Ritchey (2008), Cap. 2; Agresti et al. (2023), Cap. 1 </a:t>
            </a:r>
            <a:endParaRPr>
              <a:solidFill>
                <a:schemeClr val="dk1"/>
              </a:solidFill>
              <a:latin typeface="EB Garamond"/>
              <a:ea typeface="EB Garamond"/>
              <a:cs typeface="EB Garamond"/>
              <a:sym typeface="EB Garamo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Tipos de variables (recordatorio metodología de investigación)</a:t>
            </a:r>
            <a:endParaRPr b="1">
              <a:latin typeface="EB Garamond"/>
              <a:ea typeface="EB Garamond"/>
              <a:cs typeface="EB Garamond"/>
              <a:sym typeface="EB Garamond"/>
            </a:endParaRPr>
          </a:p>
          <a:p>
            <a:pPr indent="0" lvl="0" marL="0" rtl="0" algn="l">
              <a:spcBef>
                <a:spcPts val="0"/>
              </a:spcBef>
              <a:spcAft>
                <a:spcPts val="0"/>
              </a:spcAft>
              <a:buNone/>
            </a:pPr>
            <a:r>
              <a:t/>
            </a:r>
            <a:endParaRPr b="1">
              <a:latin typeface="EB Garamond"/>
              <a:ea typeface="EB Garamond"/>
              <a:cs typeface="EB Garamond"/>
              <a:sym typeface="EB Garamond"/>
            </a:endParaRPr>
          </a:p>
        </p:txBody>
      </p:sp>
      <p:graphicFrame>
        <p:nvGraphicFramePr>
          <p:cNvPr id="107" name="Google Shape;107;p21"/>
          <p:cNvGraphicFramePr/>
          <p:nvPr/>
        </p:nvGraphicFramePr>
        <p:xfrm>
          <a:off x="952500" y="1660975"/>
          <a:ext cx="3000000" cy="3000000"/>
        </p:xfrm>
        <a:graphic>
          <a:graphicData uri="http://schemas.openxmlformats.org/drawingml/2006/table">
            <a:tbl>
              <a:tblPr>
                <a:noFill/>
                <a:tableStyleId>{2682F134-3321-401F-9E9D-DD9B7BCCC576}</a:tableStyleId>
              </a:tblPr>
              <a:tblGrid>
                <a:gridCol w="1695500"/>
                <a:gridCol w="3130500"/>
                <a:gridCol w="2413000"/>
              </a:tblGrid>
              <a:tr h="381000">
                <a:tc>
                  <a:txBody>
                    <a:bodyPr/>
                    <a:lstStyle/>
                    <a:p>
                      <a:pPr indent="0" lvl="0" marL="0" rtl="0" algn="l">
                        <a:spcBef>
                          <a:spcPts val="0"/>
                        </a:spcBef>
                        <a:spcAft>
                          <a:spcPts val="0"/>
                        </a:spcAft>
                        <a:buNone/>
                      </a:pPr>
                      <a:r>
                        <a:rPr b="1" lang="es">
                          <a:latin typeface="EB Garamond"/>
                          <a:ea typeface="EB Garamond"/>
                          <a:cs typeface="EB Garamond"/>
                          <a:sym typeface="EB Garamond"/>
                        </a:rPr>
                        <a:t>Tipo</a:t>
                      </a:r>
                      <a:endParaRPr b="1">
                        <a:latin typeface="EB Garamond"/>
                        <a:ea typeface="EB Garamond"/>
                        <a:cs typeface="EB Garamond"/>
                        <a:sym typeface="EB Garamond"/>
                      </a:endParaRPr>
                    </a:p>
                  </a:txBody>
                  <a:tcPr marT="91425" marB="91425" marR="91425" marL="91425">
                    <a:solidFill>
                      <a:srgbClr val="A2C4C9"/>
                    </a:solidFill>
                  </a:tcPr>
                </a:tc>
                <a:tc>
                  <a:txBody>
                    <a:bodyPr/>
                    <a:lstStyle/>
                    <a:p>
                      <a:pPr indent="0" lvl="0" marL="0" rtl="0" algn="l">
                        <a:spcBef>
                          <a:spcPts val="0"/>
                        </a:spcBef>
                        <a:spcAft>
                          <a:spcPts val="0"/>
                        </a:spcAft>
                        <a:buClr>
                          <a:schemeClr val="dk1"/>
                        </a:buClr>
                        <a:buSzPts val="1100"/>
                        <a:buFont typeface="Arial"/>
                        <a:buNone/>
                      </a:pPr>
                      <a:r>
                        <a:rPr b="1" lang="es">
                          <a:solidFill>
                            <a:schemeClr val="dk1"/>
                          </a:solidFill>
                          <a:latin typeface="EB Garamond"/>
                          <a:ea typeface="EB Garamond"/>
                          <a:cs typeface="EB Garamond"/>
                          <a:sym typeface="EB Garamond"/>
                        </a:rPr>
                        <a:t>Descripción</a:t>
                      </a:r>
                      <a:endParaRPr b="1">
                        <a:latin typeface="EB Garamond"/>
                        <a:ea typeface="EB Garamond"/>
                        <a:cs typeface="EB Garamond"/>
                        <a:sym typeface="EB Garamond"/>
                      </a:endParaRPr>
                    </a:p>
                  </a:txBody>
                  <a:tcPr marT="91425" marB="91425" marR="91425" marL="91425">
                    <a:solidFill>
                      <a:srgbClr val="A2C4C9"/>
                    </a:solidFill>
                  </a:tcPr>
                </a:tc>
                <a:tc>
                  <a:txBody>
                    <a:bodyPr/>
                    <a:lstStyle/>
                    <a:p>
                      <a:pPr indent="0" lvl="0" marL="0" rtl="0" algn="l">
                        <a:spcBef>
                          <a:spcPts val="0"/>
                        </a:spcBef>
                        <a:spcAft>
                          <a:spcPts val="0"/>
                        </a:spcAft>
                        <a:buClr>
                          <a:schemeClr val="dk1"/>
                        </a:buClr>
                        <a:buSzPts val="1100"/>
                        <a:buFont typeface="Arial"/>
                        <a:buNone/>
                      </a:pPr>
                      <a:r>
                        <a:rPr b="1" lang="es">
                          <a:solidFill>
                            <a:schemeClr val="dk1"/>
                          </a:solidFill>
                          <a:latin typeface="EB Garamond"/>
                          <a:ea typeface="EB Garamond"/>
                          <a:cs typeface="EB Garamond"/>
                          <a:sym typeface="EB Garamond"/>
                        </a:rPr>
                        <a:t>Ejemplo Latinobarómetro</a:t>
                      </a:r>
                      <a:endParaRPr b="1">
                        <a:latin typeface="EB Garamond"/>
                        <a:ea typeface="EB Garamond"/>
                        <a:cs typeface="EB Garamond"/>
                        <a:sym typeface="EB Garamond"/>
                      </a:endParaRPr>
                    </a:p>
                  </a:txBody>
                  <a:tcPr marT="91425" marB="91425" marR="91425" marL="91425">
                    <a:solidFill>
                      <a:srgbClr val="A2C4C9"/>
                    </a:solidFill>
                  </a:tcPr>
                </a:tc>
              </a:tr>
              <a:tr h="381000">
                <a:tc>
                  <a:txBody>
                    <a:bodyPr/>
                    <a:lstStyle/>
                    <a:p>
                      <a:pPr indent="0" lvl="0" marL="0" rtl="0" algn="l">
                        <a:spcBef>
                          <a:spcPts val="0"/>
                        </a:spcBef>
                        <a:spcAft>
                          <a:spcPts val="0"/>
                        </a:spcAft>
                        <a:buClr>
                          <a:schemeClr val="dk1"/>
                        </a:buClr>
                        <a:buSzPts val="1100"/>
                        <a:buFont typeface="Arial"/>
                        <a:buNone/>
                      </a:pPr>
                      <a:r>
                        <a:rPr lang="es">
                          <a:solidFill>
                            <a:schemeClr val="dk1"/>
                          </a:solidFill>
                          <a:latin typeface="EB Garamond"/>
                          <a:ea typeface="EB Garamond"/>
                          <a:cs typeface="EB Garamond"/>
                          <a:sym typeface="EB Garamond"/>
                        </a:rPr>
                        <a:t>Nominal</a:t>
                      </a:r>
                      <a:endParaRPr>
                        <a:latin typeface="EB Garamond"/>
                        <a:ea typeface="EB Garamond"/>
                        <a:cs typeface="EB Garamond"/>
                        <a:sym typeface="EB Garamond"/>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latin typeface="EB Garamond"/>
                          <a:ea typeface="EB Garamond"/>
                          <a:cs typeface="EB Garamond"/>
                          <a:sym typeface="EB Garamond"/>
                        </a:rPr>
                        <a:t>Categorías sin orden</a:t>
                      </a:r>
                      <a:endParaRPr>
                        <a:latin typeface="EB Garamond"/>
                        <a:ea typeface="EB Garamond"/>
                        <a:cs typeface="EB Garamond"/>
                        <a:sym typeface="EB Garamond"/>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latin typeface="EB Garamond"/>
                          <a:ea typeface="EB Garamond"/>
                          <a:cs typeface="EB Garamond"/>
                          <a:sym typeface="EB Garamond"/>
                        </a:rPr>
                        <a:t>País, sexo</a:t>
                      </a:r>
                      <a:endParaRPr>
                        <a:latin typeface="EB Garamond"/>
                        <a:ea typeface="EB Garamond"/>
                        <a:cs typeface="EB Garamond"/>
                        <a:sym typeface="EB Garamond"/>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
                          <a:solidFill>
                            <a:schemeClr val="dk1"/>
                          </a:solidFill>
                          <a:latin typeface="EB Garamond"/>
                          <a:ea typeface="EB Garamond"/>
                          <a:cs typeface="EB Garamond"/>
                          <a:sym typeface="EB Garamond"/>
                        </a:rPr>
                        <a:t>Ordinal</a:t>
                      </a:r>
                      <a:endParaRPr>
                        <a:latin typeface="EB Garamond"/>
                        <a:ea typeface="EB Garamond"/>
                        <a:cs typeface="EB Garamond"/>
                        <a:sym typeface="EB Garamond"/>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latin typeface="EB Garamond"/>
                          <a:ea typeface="EB Garamond"/>
                          <a:cs typeface="EB Garamond"/>
                          <a:sym typeface="EB Garamond"/>
                        </a:rPr>
                        <a:t>Categorías con orden</a:t>
                      </a:r>
                      <a:endParaRPr>
                        <a:latin typeface="EB Garamond"/>
                        <a:ea typeface="EB Garamond"/>
                        <a:cs typeface="EB Garamond"/>
                        <a:sym typeface="EB Garamond"/>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latin typeface="EB Garamond"/>
                          <a:ea typeface="EB Garamond"/>
                          <a:cs typeface="EB Garamond"/>
                          <a:sym typeface="EB Garamond"/>
                        </a:rPr>
                        <a:t>Nivel de confianza (mucho/poco/nada)</a:t>
                      </a:r>
                      <a:endParaRPr>
                        <a:latin typeface="EB Garamond"/>
                        <a:ea typeface="EB Garamond"/>
                        <a:cs typeface="EB Garamond"/>
                        <a:sym typeface="EB Garamond"/>
                      </a:endParaRPr>
                    </a:p>
                  </a:txBody>
                  <a:tcPr marT="91425" marB="91425" marR="91425" marL="91425"/>
                </a:tc>
              </a:tr>
              <a:tr h="419550">
                <a:tc>
                  <a:txBody>
                    <a:bodyPr/>
                    <a:lstStyle/>
                    <a:p>
                      <a:pPr indent="0" lvl="0" marL="0" rtl="0" algn="l">
                        <a:spcBef>
                          <a:spcPts val="0"/>
                        </a:spcBef>
                        <a:spcAft>
                          <a:spcPts val="0"/>
                        </a:spcAft>
                        <a:buClr>
                          <a:schemeClr val="dk1"/>
                        </a:buClr>
                        <a:buSzPts val="1100"/>
                        <a:buFont typeface="Arial"/>
                        <a:buNone/>
                      </a:pPr>
                      <a:r>
                        <a:rPr lang="es">
                          <a:solidFill>
                            <a:schemeClr val="dk1"/>
                          </a:solidFill>
                          <a:latin typeface="EB Garamond"/>
                          <a:ea typeface="EB Garamond"/>
                          <a:cs typeface="EB Garamond"/>
                          <a:sym typeface="EB Garamond"/>
                        </a:rPr>
                        <a:t>Intervalo</a:t>
                      </a:r>
                      <a:endParaRPr>
                        <a:solidFill>
                          <a:schemeClr val="dk1"/>
                        </a:solidFill>
                        <a:latin typeface="EB Garamond"/>
                        <a:ea typeface="EB Garamond"/>
                        <a:cs typeface="EB Garamond"/>
                        <a:sym typeface="EB Garamond"/>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latin typeface="EB Garamond"/>
                          <a:ea typeface="EB Garamond"/>
                          <a:cs typeface="EB Garamond"/>
                          <a:sym typeface="EB Garamond"/>
                        </a:rPr>
                        <a:t>Números con distancias iguales</a:t>
                      </a:r>
                      <a:endParaRPr>
                        <a:solidFill>
                          <a:schemeClr val="dk1"/>
                        </a:solidFill>
                        <a:latin typeface="EB Garamond"/>
                        <a:ea typeface="EB Garamond"/>
                        <a:cs typeface="EB Garamond"/>
                        <a:sym typeface="EB Garamond"/>
                      </a:endParaRPr>
                    </a:p>
                  </a:txBody>
                  <a:tcPr marT="91425" marB="91425" marR="91425" marL="91425"/>
                </a:tc>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Edad, ingreso </a:t>
                      </a:r>
                      <a:endParaRPr>
                        <a:solidFill>
                          <a:schemeClr val="dk1"/>
                        </a:solidFill>
                        <a:latin typeface="EB Garamond"/>
                        <a:ea typeface="EB Garamond"/>
                        <a:cs typeface="EB Garamond"/>
                        <a:sym typeface="EB Garamond"/>
                      </a:endParaRPr>
                    </a:p>
                  </a:txBody>
                  <a:tcPr marT="91425" marB="91425" marR="91425" marL="91425"/>
                </a:tc>
              </a:tr>
              <a:tr h="381000">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Razón</a:t>
                      </a:r>
                      <a:endParaRPr>
                        <a:solidFill>
                          <a:schemeClr val="dk1"/>
                        </a:solidFill>
                        <a:latin typeface="EB Garamond"/>
                        <a:ea typeface="EB Garamond"/>
                        <a:cs typeface="EB Garamond"/>
                        <a:sym typeface="EB Garamond"/>
                      </a:endParaRPr>
                    </a:p>
                  </a:txBody>
                  <a:tcPr marT="91425" marB="91425" marR="91425" marL="91425"/>
                </a:tc>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Números + ausencia del atributo</a:t>
                      </a:r>
                      <a:endParaRPr>
                        <a:solidFill>
                          <a:schemeClr val="dk1"/>
                        </a:solidFill>
                        <a:latin typeface="EB Garamond"/>
                        <a:ea typeface="EB Garamond"/>
                        <a:cs typeface="EB Garamond"/>
                        <a:sym typeface="EB Garamond"/>
                      </a:endParaRPr>
                    </a:p>
                  </a:txBody>
                  <a:tcPr marT="91425" marB="91425" marR="91425" marL="91425"/>
                </a:tc>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Temperatura</a:t>
                      </a:r>
                      <a:endParaRPr>
                        <a:solidFill>
                          <a:schemeClr val="dk1"/>
                        </a:solidFill>
                        <a:latin typeface="EB Garamond"/>
                        <a:ea typeface="EB Garamond"/>
                        <a:cs typeface="EB Garamond"/>
                        <a:sym typeface="EB Garamond"/>
                      </a:endParaRPr>
                    </a:p>
                  </a:txBody>
                  <a:tcPr marT="91425" marB="91425" marR="91425" marL="91425"/>
                </a:tc>
              </a:tr>
            </a:tbl>
          </a:graphicData>
        </a:graphic>
      </p:graphicFrame>
      <p:sp>
        <p:nvSpPr>
          <p:cNvPr id="108" name="Google Shape;108;p21"/>
          <p:cNvSpPr txBox="1"/>
          <p:nvPr/>
        </p:nvSpPr>
        <p:spPr>
          <a:xfrm>
            <a:off x="773550" y="4132450"/>
            <a:ext cx="76407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EB Garamond"/>
              <a:buChar char="●"/>
            </a:pPr>
            <a:r>
              <a:rPr lang="es" sz="1800">
                <a:solidFill>
                  <a:schemeClr val="dk1"/>
                </a:solidFill>
                <a:latin typeface="EB Garamond"/>
                <a:ea typeface="EB Garamond"/>
                <a:cs typeface="EB Garamond"/>
                <a:sym typeface="EB Garamond"/>
              </a:rPr>
              <a:t>El tipo de variable determina qué análisis y qué gráfico usar, esto es central</a:t>
            </a:r>
            <a:endParaRPr sz="1800">
              <a:solidFill>
                <a:schemeClr val="dk1"/>
              </a:solidFill>
              <a:latin typeface="EB Garamond"/>
              <a:ea typeface="EB Garamond"/>
              <a:cs typeface="EB Garamond"/>
              <a:sym typeface="EB Garamo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Proceso de operacionalización</a:t>
            </a:r>
            <a:endParaRPr b="1">
              <a:latin typeface="EB Garamond"/>
              <a:ea typeface="EB Garamond"/>
              <a:cs typeface="EB Garamond"/>
              <a:sym typeface="EB Garamond"/>
            </a:endParaRPr>
          </a:p>
        </p:txBody>
      </p:sp>
      <p:sp>
        <p:nvSpPr>
          <p:cNvPr id="114" name="Google Shape;114;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15" name="Google Shape;115;p22"/>
          <p:cNvPicPr preferRelativeResize="0"/>
          <p:nvPr/>
        </p:nvPicPr>
        <p:blipFill rotWithShape="1">
          <a:blip r:embed="rId3">
            <a:alphaModFix/>
          </a:blip>
          <a:srcRect b="0" l="0" r="0" t="0"/>
          <a:stretch/>
        </p:blipFill>
        <p:spPr>
          <a:xfrm>
            <a:off x="209550" y="1291117"/>
            <a:ext cx="8724899" cy="318420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Proceso de operacionalización</a:t>
            </a:r>
            <a:endParaRPr b="1">
              <a:latin typeface="EB Garamond"/>
              <a:ea typeface="EB Garamond"/>
              <a:cs typeface="EB Garamond"/>
              <a:sym typeface="EB Garamond"/>
            </a:endParaRPr>
          </a:p>
        </p:txBody>
      </p:sp>
      <p:sp>
        <p:nvSpPr>
          <p:cNvPr id="121" name="Google Shape;12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22" name="Google Shape;122;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latin typeface="EB Garamond"/>
              <a:ea typeface="EB Garamond"/>
              <a:cs typeface="EB Garamond"/>
              <a:sym typeface="EB Garamond"/>
            </a:endParaRPr>
          </a:p>
          <a:p>
            <a:pPr indent="0" lvl="0" marL="0" rtl="0" algn="l">
              <a:spcBef>
                <a:spcPts val="1200"/>
              </a:spcBef>
              <a:spcAft>
                <a:spcPts val="0"/>
              </a:spcAft>
              <a:buNone/>
            </a:pPr>
            <a:r>
              <a:rPr b="1" lang="es">
                <a:solidFill>
                  <a:schemeClr val="dk1"/>
                </a:solidFill>
                <a:latin typeface="EB Garamond"/>
                <a:ea typeface="EB Garamond"/>
                <a:cs typeface="EB Garamond"/>
                <a:sym typeface="EB Garamond"/>
              </a:rPr>
              <a:t>Consideraciones</a:t>
            </a:r>
            <a:endParaRPr b="1">
              <a:solidFill>
                <a:schemeClr val="dk1"/>
              </a:solidFill>
              <a:latin typeface="EB Garamond"/>
              <a:ea typeface="EB Garamond"/>
              <a:cs typeface="EB Garamond"/>
              <a:sym typeface="EB Garamond"/>
            </a:endParaRPr>
          </a:p>
          <a:p>
            <a:pPr indent="-342900" lvl="0" marL="457200" rtl="0" algn="l">
              <a:spcBef>
                <a:spcPts val="120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Es el paso entre las definiciones nominales (concepto) a reales (dimensiones) y luego operacionales (indicadores), e </a:t>
            </a:r>
            <a:r>
              <a:rPr lang="es">
                <a:solidFill>
                  <a:schemeClr val="dk1"/>
                </a:solidFill>
                <a:highlight>
                  <a:srgbClr val="A2C4C9"/>
                </a:highlight>
                <a:latin typeface="EB Garamond"/>
                <a:ea typeface="EB Garamond"/>
                <a:cs typeface="EB Garamond"/>
                <a:sym typeface="EB Garamond"/>
              </a:rPr>
              <a:t>implica niveles mayores de concreción empírica del constructo</a:t>
            </a:r>
            <a:r>
              <a:rPr lang="es">
                <a:solidFill>
                  <a:schemeClr val="dk1"/>
                </a:solidFill>
                <a:latin typeface="EB Garamond"/>
                <a:ea typeface="EB Garamond"/>
                <a:cs typeface="EB Garamond"/>
                <a:sym typeface="EB Garamond"/>
              </a:rPr>
              <a:t>.</a:t>
            </a:r>
            <a:endParaRPr>
              <a:solidFill>
                <a:schemeClr val="dk1"/>
              </a:solidFill>
              <a:latin typeface="EB Garamond"/>
              <a:ea typeface="EB Garamond"/>
              <a:cs typeface="EB Garamond"/>
              <a:sym typeface="EB Garamond"/>
            </a:endParaRPr>
          </a:p>
          <a:p>
            <a:pPr indent="-342900" lvl="0" marL="457200" rtl="0" algn="l">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Ese paso/transformación </a:t>
            </a:r>
            <a:r>
              <a:rPr lang="es">
                <a:solidFill>
                  <a:schemeClr val="dk1"/>
                </a:solidFill>
                <a:highlight>
                  <a:srgbClr val="A2C4C9"/>
                </a:highlight>
                <a:latin typeface="EB Garamond"/>
                <a:ea typeface="EB Garamond"/>
                <a:cs typeface="EB Garamond"/>
                <a:sym typeface="EB Garamond"/>
              </a:rPr>
              <a:t>implica ciertos grados de distorsión</a:t>
            </a:r>
            <a:r>
              <a:rPr lang="es">
                <a:solidFill>
                  <a:schemeClr val="dk1"/>
                </a:solidFill>
                <a:latin typeface="EB Garamond"/>
                <a:ea typeface="EB Garamond"/>
                <a:cs typeface="EB Garamond"/>
                <a:sym typeface="EB Garamond"/>
              </a:rPr>
              <a:t> producto de (por ejemplo):</a:t>
            </a:r>
            <a:endParaRPr>
              <a:solidFill>
                <a:schemeClr val="dk1"/>
              </a:solidFill>
              <a:latin typeface="EB Garamond"/>
              <a:ea typeface="EB Garamond"/>
              <a:cs typeface="EB Garamond"/>
              <a:sym typeface="EB Garamond"/>
            </a:endParaRPr>
          </a:p>
          <a:p>
            <a:pPr indent="-317500" lvl="1" marL="914400" rtl="0" algn="l">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Tener que elegir </a:t>
            </a:r>
            <a:r>
              <a:rPr b="1" lang="es">
                <a:solidFill>
                  <a:schemeClr val="dk1"/>
                </a:solidFill>
                <a:latin typeface="EB Garamond"/>
                <a:ea typeface="EB Garamond"/>
                <a:cs typeface="EB Garamond"/>
                <a:sym typeface="EB Garamond"/>
              </a:rPr>
              <a:t>sólo un subconjunto de las dimensiones</a:t>
            </a:r>
            <a:r>
              <a:rPr lang="es">
                <a:solidFill>
                  <a:schemeClr val="dk1"/>
                </a:solidFill>
                <a:latin typeface="EB Garamond"/>
                <a:ea typeface="EB Garamond"/>
                <a:cs typeface="EB Garamond"/>
                <a:sym typeface="EB Garamond"/>
              </a:rPr>
              <a:t> posibles de un constructo.</a:t>
            </a:r>
            <a:endParaRPr>
              <a:solidFill>
                <a:schemeClr val="dk1"/>
              </a:solidFill>
              <a:latin typeface="EB Garamond"/>
              <a:ea typeface="EB Garamond"/>
              <a:cs typeface="EB Garamond"/>
              <a:sym typeface="EB Garamond"/>
            </a:endParaRPr>
          </a:p>
          <a:p>
            <a:pPr indent="-317500" lvl="1" marL="914400" rtl="0" algn="l">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Tener que elegir </a:t>
            </a:r>
            <a:r>
              <a:rPr b="1" lang="es">
                <a:solidFill>
                  <a:schemeClr val="dk1"/>
                </a:solidFill>
                <a:latin typeface="EB Garamond"/>
                <a:ea typeface="EB Garamond"/>
                <a:cs typeface="EB Garamond"/>
                <a:sym typeface="EB Garamond"/>
              </a:rPr>
              <a:t>sólo un subconjunto de los indicadores</a:t>
            </a:r>
            <a:r>
              <a:rPr lang="es">
                <a:solidFill>
                  <a:schemeClr val="dk1"/>
                </a:solidFill>
                <a:latin typeface="EB Garamond"/>
                <a:ea typeface="EB Garamond"/>
                <a:cs typeface="EB Garamond"/>
                <a:sym typeface="EB Garamond"/>
              </a:rPr>
              <a:t> posibles para un constructo.</a:t>
            </a:r>
            <a:endParaRPr>
              <a:solidFill>
                <a:schemeClr val="dk1"/>
              </a:solidFill>
              <a:latin typeface="EB Garamond"/>
              <a:ea typeface="EB Garamond"/>
              <a:cs typeface="EB Garamond"/>
              <a:sym typeface="EB Garamond"/>
            </a:endParaRPr>
          </a:p>
          <a:p>
            <a:pPr indent="-317500" lvl="1" marL="914400" rtl="0" algn="l">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Tener que elegir los </a:t>
            </a:r>
            <a:r>
              <a:rPr b="1" lang="es">
                <a:solidFill>
                  <a:schemeClr val="dk1"/>
                </a:solidFill>
                <a:latin typeface="EB Garamond"/>
                <a:ea typeface="EB Garamond"/>
                <a:cs typeface="EB Garamond"/>
                <a:sym typeface="EB Garamond"/>
              </a:rPr>
              <a:t>indicadores disponibles o viables y no los idealmente necesarios</a:t>
            </a:r>
            <a:r>
              <a:rPr lang="es">
                <a:solidFill>
                  <a:schemeClr val="dk1"/>
                </a:solidFill>
                <a:latin typeface="EB Garamond"/>
                <a:ea typeface="EB Garamond"/>
                <a:cs typeface="EB Garamond"/>
                <a:sym typeface="EB Garamond"/>
              </a:rPr>
              <a:t>.</a:t>
            </a:r>
            <a:endParaRPr b="1">
              <a:solidFill>
                <a:schemeClr val="dk1"/>
              </a:solidFill>
              <a:latin typeface="EB Garamond"/>
              <a:ea typeface="EB Garamond"/>
              <a:cs typeface="EB Garamond"/>
              <a:sym typeface="EB Garamo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Proceso de operacionalización</a:t>
            </a:r>
            <a:endParaRPr b="1">
              <a:latin typeface="EB Garamond"/>
              <a:ea typeface="EB Garamond"/>
              <a:cs typeface="EB Garamond"/>
              <a:sym typeface="EB Garamond"/>
            </a:endParaRPr>
          </a:p>
        </p:txBody>
      </p:sp>
      <p:sp>
        <p:nvSpPr>
          <p:cNvPr id="128" name="Google Shape;128;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29" name="Google Shape;129;p24"/>
          <p:cNvSpPr txBox="1"/>
          <p:nvPr>
            <p:ph idx="1" type="body"/>
          </p:nvPr>
        </p:nvSpPr>
        <p:spPr>
          <a:xfrm>
            <a:off x="311700" y="1300025"/>
            <a:ext cx="8520600" cy="1222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b="1" lang="es">
                <a:solidFill>
                  <a:schemeClr val="dk1"/>
                </a:solidFill>
                <a:latin typeface="EB Garamond"/>
                <a:ea typeface="EB Garamond"/>
                <a:cs typeface="EB Garamond"/>
                <a:sym typeface="EB Garamond"/>
              </a:rPr>
              <a:t>Ejemplo: medición de la calidad de la vivienda</a:t>
            </a:r>
            <a:endParaRPr b="1">
              <a:solidFill>
                <a:schemeClr val="dk1"/>
              </a:solidFill>
              <a:latin typeface="EB Garamond"/>
              <a:ea typeface="EB Garamond"/>
              <a:cs typeface="EB Garamond"/>
              <a:sym typeface="EB Garamond"/>
            </a:endParaRPr>
          </a:p>
          <a:p>
            <a:pPr indent="0" lvl="0" marL="0" rtl="0" algn="l">
              <a:lnSpc>
                <a:spcPct val="95000"/>
              </a:lnSpc>
              <a:spcBef>
                <a:spcPts val="1200"/>
              </a:spcBef>
              <a:spcAft>
                <a:spcPts val="1200"/>
              </a:spcAft>
              <a:buNone/>
            </a:pPr>
            <a:r>
              <a:rPr lang="es">
                <a:solidFill>
                  <a:schemeClr val="dk1"/>
                </a:solidFill>
                <a:latin typeface="EB Garamond"/>
                <a:ea typeface="EB Garamond"/>
                <a:cs typeface="EB Garamond"/>
                <a:sym typeface="EB Garamond"/>
              </a:rPr>
              <a:t>Definición conceptual: Condiciones materiales y de satisfacción subjetiva que tiene la vivienda habitual en que desarrolla su vida un grupo familiar.</a:t>
            </a:r>
            <a:endParaRPr b="1" sz="2200">
              <a:solidFill>
                <a:schemeClr val="dk1"/>
              </a:solidFill>
              <a:latin typeface="EB Garamond"/>
              <a:ea typeface="EB Garamond"/>
              <a:cs typeface="EB Garamond"/>
              <a:sym typeface="EB Garamond"/>
            </a:endParaRPr>
          </a:p>
        </p:txBody>
      </p:sp>
      <p:graphicFrame>
        <p:nvGraphicFramePr>
          <p:cNvPr id="130" name="Google Shape;130;p24"/>
          <p:cNvGraphicFramePr/>
          <p:nvPr/>
        </p:nvGraphicFramePr>
        <p:xfrm>
          <a:off x="785251" y="3056690"/>
          <a:ext cx="3000000" cy="3000000"/>
        </p:xfrm>
        <a:graphic>
          <a:graphicData uri="http://schemas.openxmlformats.org/drawingml/2006/table">
            <a:tbl>
              <a:tblPr bandRow="1" firstRow="1">
                <a:noFill/>
                <a:tableStyleId>{3523307D-3957-4866-8D09-ACF051106280}</a:tableStyleId>
              </a:tblPr>
              <a:tblGrid>
                <a:gridCol w="1342075"/>
                <a:gridCol w="1525850"/>
                <a:gridCol w="1569925"/>
                <a:gridCol w="3135650"/>
              </a:tblGrid>
              <a:tr h="349850">
                <a:tc>
                  <a:txBody>
                    <a:bodyPr/>
                    <a:lstStyle/>
                    <a:p>
                      <a:pPr indent="0" lvl="0" marL="0" marR="0" rtl="0" algn="l">
                        <a:spcBef>
                          <a:spcPts val="0"/>
                        </a:spcBef>
                        <a:spcAft>
                          <a:spcPts val="0"/>
                        </a:spcAft>
                        <a:buNone/>
                      </a:pPr>
                      <a:r>
                        <a:rPr lang="es" u="none" cap="none" strike="noStrike">
                          <a:solidFill>
                            <a:schemeClr val="lt2"/>
                          </a:solidFill>
                          <a:latin typeface="EB Garamond"/>
                          <a:ea typeface="EB Garamond"/>
                          <a:cs typeface="EB Garamond"/>
                          <a:sym typeface="EB Garamond"/>
                        </a:rPr>
                        <a:t>Concepto</a:t>
                      </a:r>
                      <a:endParaRPr>
                        <a:solidFill>
                          <a:schemeClr val="lt2"/>
                        </a:solidFill>
                        <a:latin typeface="EB Garamond"/>
                        <a:ea typeface="EB Garamond"/>
                        <a:cs typeface="EB Garamond"/>
                        <a:sym typeface="EB Garamond"/>
                      </a:endParaRPr>
                    </a:p>
                  </a:txBody>
                  <a:tcPr marT="45725" marB="45725" marR="91450" marL="91450">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c>
                  <a:txBody>
                    <a:bodyPr/>
                    <a:lstStyle/>
                    <a:p>
                      <a:pPr indent="0" lvl="0" marL="0" marR="0" rtl="0" algn="l">
                        <a:spcBef>
                          <a:spcPts val="0"/>
                        </a:spcBef>
                        <a:spcAft>
                          <a:spcPts val="0"/>
                        </a:spcAft>
                        <a:buNone/>
                      </a:pPr>
                      <a:r>
                        <a:rPr lang="es">
                          <a:solidFill>
                            <a:schemeClr val="lt2"/>
                          </a:solidFill>
                          <a:latin typeface="EB Garamond"/>
                          <a:ea typeface="EB Garamond"/>
                          <a:cs typeface="EB Garamond"/>
                          <a:sym typeface="EB Garamond"/>
                        </a:rPr>
                        <a:t>Dimensiones</a:t>
                      </a:r>
                      <a:endParaRPr>
                        <a:solidFill>
                          <a:schemeClr val="lt2"/>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c>
                  <a:txBody>
                    <a:bodyPr/>
                    <a:lstStyle/>
                    <a:p>
                      <a:pPr indent="0" lvl="0" marL="0" marR="0" rtl="0" algn="l">
                        <a:spcBef>
                          <a:spcPts val="0"/>
                        </a:spcBef>
                        <a:spcAft>
                          <a:spcPts val="0"/>
                        </a:spcAft>
                        <a:buNone/>
                      </a:pPr>
                      <a:r>
                        <a:rPr lang="es">
                          <a:solidFill>
                            <a:schemeClr val="lt2"/>
                          </a:solidFill>
                          <a:latin typeface="EB Garamond"/>
                          <a:ea typeface="EB Garamond"/>
                          <a:cs typeface="EB Garamond"/>
                          <a:sym typeface="EB Garamond"/>
                        </a:rPr>
                        <a:t>Indicadores</a:t>
                      </a:r>
                      <a:endParaRPr>
                        <a:solidFill>
                          <a:schemeClr val="lt2"/>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c>
                  <a:txBody>
                    <a:bodyPr/>
                    <a:lstStyle/>
                    <a:p>
                      <a:pPr indent="0" lvl="0" marL="0" marR="0" rtl="0" algn="l">
                        <a:spcBef>
                          <a:spcPts val="0"/>
                        </a:spcBef>
                        <a:spcAft>
                          <a:spcPts val="0"/>
                        </a:spcAft>
                        <a:buNone/>
                      </a:pPr>
                      <a:r>
                        <a:rPr lang="es">
                          <a:solidFill>
                            <a:schemeClr val="lt2"/>
                          </a:solidFill>
                          <a:latin typeface="EB Garamond"/>
                          <a:ea typeface="EB Garamond"/>
                          <a:cs typeface="EB Garamond"/>
                          <a:sym typeface="EB Garamond"/>
                        </a:rPr>
                        <a:t>Preguntas</a:t>
                      </a:r>
                      <a:endParaRPr>
                        <a:solidFill>
                          <a:schemeClr val="lt2"/>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r>
              <a:tr h="1041425">
                <a:tc>
                  <a:txBody>
                    <a:bodyPr/>
                    <a:lstStyle/>
                    <a:p>
                      <a:pPr indent="0" lvl="0" marL="0" marR="0" rtl="0" algn="l">
                        <a:spcBef>
                          <a:spcPts val="0"/>
                        </a:spcBef>
                        <a:spcAft>
                          <a:spcPts val="0"/>
                        </a:spcAft>
                        <a:buNone/>
                      </a:pPr>
                      <a:r>
                        <a:t/>
                      </a:r>
                      <a:endParaRPr b="1">
                        <a:solidFill>
                          <a:schemeClr val="dk2"/>
                        </a:solidFill>
                        <a:latin typeface="Caveat"/>
                        <a:ea typeface="Caveat"/>
                        <a:cs typeface="Caveat"/>
                        <a:sym typeface="Caveat"/>
                      </a:endParaRPr>
                    </a:p>
                    <a:p>
                      <a:pPr indent="0" lvl="0" marL="0" marR="0" rtl="0" algn="l">
                        <a:spcBef>
                          <a:spcPts val="0"/>
                        </a:spcBef>
                        <a:spcAft>
                          <a:spcPts val="0"/>
                        </a:spcAft>
                        <a:buNone/>
                      </a:pPr>
                      <a:r>
                        <a:rPr lang="es">
                          <a:solidFill>
                            <a:schemeClr val="dk1"/>
                          </a:solidFill>
                          <a:latin typeface="EB Garamond"/>
                          <a:ea typeface="EB Garamond"/>
                          <a:cs typeface="EB Garamond"/>
                          <a:sym typeface="EB Garamond"/>
                        </a:rPr>
                        <a:t>Calidad de la vivienda</a:t>
                      </a:r>
                      <a:endParaRPr>
                        <a:solidFill>
                          <a:schemeClr val="dk1"/>
                        </a:solidFill>
                        <a:latin typeface="EB Garamond"/>
                        <a:ea typeface="EB Garamond"/>
                        <a:cs typeface="EB Garamond"/>
                        <a:sym typeface="EB Garamond"/>
                      </a:endParaRPr>
                    </a:p>
                  </a:txBody>
                  <a:tcPr marT="45725" marB="45725" marR="91450" marL="91450">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t/>
                      </a:r>
                      <a:endParaRPr b="1">
                        <a:solidFill>
                          <a:srgbClr val="000000"/>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t/>
                      </a:r>
                      <a:endParaRPr b="1">
                        <a:solidFill>
                          <a:srgbClr val="000000"/>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t/>
                      </a:r>
                      <a:endParaRPr b="1">
                        <a:solidFill>
                          <a:srgbClr val="000000"/>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graphicFrame>
        <p:nvGraphicFramePr>
          <p:cNvPr id="136" name="Google Shape;136;p25"/>
          <p:cNvGraphicFramePr/>
          <p:nvPr/>
        </p:nvGraphicFramePr>
        <p:xfrm>
          <a:off x="311714" y="359490"/>
          <a:ext cx="3000000" cy="3000000"/>
        </p:xfrm>
        <a:graphic>
          <a:graphicData uri="http://schemas.openxmlformats.org/drawingml/2006/table">
            <a:tbl>
              <a:tblPr bandRow="1" firstRow="1">
                <a:noFill/>
                <a:tableStyleId>{3523307D-3957-4866-8D09-ACF051106280}</a:tableStyleId>
              </a:tblPr>
              <a:tblGrid>
                <a:gridCol w="712375"/>
                <a:gridCol w="985025"/>
                <a:gridCol w="1090525"/>
                <a:gridCol w="1772075"/>
                <a:gridCol w="3960575"/>
              </a:tblGrid>
              <a:tr h="272600">
                <a:tc>
                  <a:txBody>
                    <a:bodyPr/>
                    <a:lstStyle/>
                    <a:p>
                      <a:pPr indent="0" lvl="0" marL="0" marR="0" rtl="0" algn="l">
                        <a:spcBef>
                          <a:spcPts val="0"/>
                        </a:spcBef>
                        <a:spcAft>
                          <a:spcPts val="0"/>
                        </a:spcAft>
                        <a:buNone/>
                      </a:pPr>
                      <a:r>
                        <a:rPr lang="es" sz="1000" u="none" cap="none" strike="noStrike">
                          <a:solidFill>
                            <a:schemeClr val="lt2"/>
                          </a:solidFill>
                          <a:latin typeface="EB Garamond"/>
                          <a:ea typeface="EB Garamond"/>
                          <a:cs typeface="EB Garamond"/>
                          <a:sym typeface="EB Garamond"/>
                        </a:rPr>
                        <a:t>Concepto</a:t>
                      </a:r>
                      <a:endParaRPr sz="1000">
                        <a:solidFill>
                          <a:schemeClr val="lt2"/>
                        </a:solidFill>
                        <a:latin typeface="EB Garamond"/>
                        <a:ea typeface="EB Garamond"/>
                        <a:cs typeface="EB Garamond"/>
                        <a:sym typeface="EB Garamond"/>
                      </a:endParaRPr>
                    </a:p>
                  </a:txBody>
                  <a:tcPr marT="45725" marB="45725" marR="91450" marL="91450">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c>
                  <a:txBody>
                    <a:bodyPr/>
                    <a:lstStyle/>
                    <a:p>
                      <a:pPr indent="0" lvl="0" marL="0" marR="0" rtl="0" algn="l">
                        <a:spcBef>
                          <a:spcPts val="0"/>
                        </a:spcBef>
                        <a:spcAft>
                          <a:spcPts val="0"/>
                        </a:spcAft>
                        <a:buNone/>
                      </a:pPr>
                      <a:r>
                        <a:rPr lang="es" sz="1000">
                          <a:solidFill>
                            <a:schemeClr val="lt2"/>
                          </a:solidFill>
                          <a:latin typeface="EB Garamond"/>
                          <a:ea typeface="EB Garamond"/>
                          <a:cs typeface="EB Garamond"/>
                          <a:sym typeface="EB Garamond"/>
                        </a:rPr>
                        <a:t>Dimensiones</a:t>
                      </a:r>
                      <a:endParaRPr sz="1000">
                        <a:solidFill>
                          <a:schemeClr val="lt2"/>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c>
                  <a:txBody>
                    <a:bodyPr/>
                    <a:lstStyle/>
                    <a:p>
                      <a:pPr indent="0" lvl="0" marL="0" marR="0" rtl="0" algn="l">
                        <a:spcBef>
                          <a:spcPts val="0"/>
                        </a:spcBef>
                        <a:spcAft>
                          <a:spcPts val="0"/>
                        </a:spcAft>
                        <a:buNone/>
                      </a:pPr>
                      <a:r>
                        <a:rPr lang="es" sz="1000">
                          <a:solidFill>
                            <a:schemeClr val="lt2"/>
                          </a:solidFill>
                          <a:latin typeface="EB Garamond"/>
                          <a:ea typeface="EB Garamond"/>
                          <a:cs typeface="EB Garamond"/>
                          <a:sym typeface="EB Garamond"/>
                        </a:rPr>
                        <a:t>Sub-dimensiones</a:t>
                      </a:r>
                      <a:endParaRPr sz="1000">
                        <a:solidFill>
                          <a:schemeClr val="lt2"/>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c>
                  <a:txBody>
                    <a:bodyPr/>
                    <a:lstStyle/>
                    <a:p>
                      <a:pPr indent="0" lvl="0" marL="0" marR="0" rtl="0" algn="l">
                        <a:spcBef>
                          <a:spcPts val="0"/>
                        </a:spcBef>
                        <a:spcAft>
                          <a:spcPts val="0"/>
                        </a:spcAft>
                        <a:buNone/>
                      </a:pPr>
                      <a:r>
                        <a:rPr lang="es" sz="1000">
                          <a:solidFill>
                            <a:schemeClr val="lt2"/>
                          </a:solidFill>
                          <a:latin typeface="EB Garamond"/>
                          <a:ea typeface="EB Garamond"/>
                          <a:cs typeface="EB Garamond"/>
                          <a:sym typeface="EB Garamond"/>
                        </a:rPr>
                        <a:t>Indicadores</a:t>
                      </a:r>
                      <a:endParaRPr sz="1000">
                        <a:solidFill>
                          <a:schemeClr val="lt2"/>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c>
                  <a:txBody>
                    <a:bodyPr/>
                    <a:lstStyle/>
                    <a:p>
                      <a:pPr indent="0" lvl="0" marL="0" marR="0" rtl="0" algn="l">
                        <a:spcBef>
                          <a:spcPts val="0"/>
                        </a:spcBef>
                        <a:spcAft>
                          <a:spcPts val="0"/>
                        </a:spcAft>
                        <a:buNone/>
                      </a:pPr>
                      <a:r>
                        <a:rPr lang="es" sz="1000">
                          <a:solidFill>
                            <a:schemeClr val="lt2"/>
                          </a:solidFill>
                          <a:latin typeface="EB Garamond"/>
                          <a:ea typeface="EB Garamond"/>
                          <a:cs typeface="EB Garamond"/>
                          <a:sym typeface="EB Garamond"/>
                        </a:rPr>
                        <a:t>Preguntas</a:t>
                      </a:r>
                      <a:endParaRPr sz="1000">
                        <a:solidFill>
                          <a:schemeClr val="lt2"/>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r>
              <a:tr h="562275">
                <a:tc rowSpan="6">
                  <a:txBody>
                    <a:bodyPr/>
                    <a:lstStyle/>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Calidad de la vivienda</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c rowSpan="2">
                  <a:txBody>
                    <a:bodyPr/>
                    <a:lstStyle/>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Materialidad</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Clr>
                          <a:schemeClr val="dk1"/>
                        </a:buClr>
                        <a:buSzPts val="1100"/>
                        <a:buFont typeface="Arial"/>
                        <a:buNone/>
                      </a:pPr>
                      <a:r>
                        <a:rPr lang="es" sz="1000">
                          <a:solidFill>
                            <a:schemeClr val="dk1"/>
                          </a:solidFill>
                          <a:latin typeface="EB Garamond"/>
                          <a:ea typeface="EB Garamond"/>
                          <a:cs typeface="EB Garamond"/>
                          <a:sym typeface="EB Garamond"/>
                        </a:rPr>
                        <a:t>Materialidad objetiva</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SzPts val="1100"/>
                        <a:buNone/>
                      </a:pPr>
                      <a:r>
                        <a:rPr lang="es" sz="1000">
                          <a:solidFill>
                            <a:schemeClr val="dk1"/>
                          </a:solidFill>
                          <a:latin typeface="EB Garamond"/>
                          <a:ea typeface="EB Garamond"/>
                          <a:cs typeface="EB Garamond"/>
                          <a:sym typeface="EB Garamond"/>
                        </a:rPr>
                        <a:t>Materiales Muros</a:t>
                      </a:r>
                      <a:endParaRPr sz="1000">
                        <a:solidFill>
                          <a:schemeClr val="dk1"/>
                        </a:solidFill>
                        <a:latin typeface="EB Garamond"/>
                        <a:ea typeface="EB Garamond"/>
                        <a:cs typeface="EB Garamond"/>
                        <a:sym typeface="EB Garamond"/>
                      </a:endParaRPr>
                    </a:p>
                    <a:p>
                      <a:pPr indent="0" lvl="0" marL="0" rtl="0" algn="l">
                        <a:spcBef>
                          <a:spcPts val="0"/>
                        </a:spcBef>
                        <a:spcAft>
                          <a:spcPts val="0"/>
                        </a:spcAft>
                        <a:buSzPts val="1100"/>
                        <a:buNone/>
                      </a:pPr>
                      <a:r>
                        <a:rPr lang="es" sz="1000">
                          <a:solidFill>
                            <a:schemeClr val="dk1"/>
                          </a:solidFill>
                          <a:latin typeface="EB Garamond"/>
                          <a:ea typeface="EB Garamond"/>
                          <a:cs typeface="EB Garamond"/>
                          <a:sym typeface="EB Garamond"/>
                        </a:rPr>
                        <a:t>Materiales Techo</a:t>
                      </a:r>
                      <a:endParaRPr sz="1000">
                        <a:solidFill>
                          <a:schemeClr val="dk1"/>
                        </a:solidFill>
                        <a:latin typeface="EB Garamond"/>
                        <a:ea typeface="EB Garamond"/>
                        <a:cs typeface="EB Garamond"/>
                        <a:sym typeface="EB Garamond"/>
                      </a:endParaRPr>
                    </a:p>
                    <a:p>
                      <a:pPr indent="0" lvl="0" marL="0" rtl="0" algn="l">
                        <a:spcBef>
                          <a:spcPts val="0"/>
                        </a:spcBef>
                        <a:spcAft>
                          <a:spcPts val="0"/>
                        </a:spcAft>
                        <a:buSzPts val="1100"/>
                        <a:buNone/>
                      </a:pPr>
                      <a:r>
                        <a:rPr lang="es" sz="1000">
                          <a:solidFill>
                            <a:schemeClr val="dk1"/>
                          </a:solidFill>
                          <a:latin typeface="EB Garamond"/>
                          <a:ea typeface="EB Garamond"/>
                          <a:cs typeface="EB Garamond"/>
                          <a:sym typeface="EB Garamond"/>
                        </a:rPr>
                        <a:t>Materiales Piso</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marR="0" rtl="0" algn="l">
                        <a:spcBef>
                          <a:spcPts val="0"/>
                        </a:spcBef>
                        <a:spcAft>
                          <a:spcPts val="0"/>
                        </a:spcAft>
                        <a:buNone/>
                      </a:pPr>
                      <a:r>
                        <a:rPr lang="es" sz="1000">
                          <a:solidFill>
                            <a:schemeClr val="dk1"/>
                          </a:solidFill>
                          <a:latin typeface="EB Garamond"/>
                          <a:ea typeface="EB Garamond"/>
                          <a:cs typeface="EB Garamond"/>
                          <a:sym typeface="EB Garamond"/>
                        </a:rPr>
                        <a:t>ej. ¿Cuál es el material de los muros de su vivienda?</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r>
              <a:tr h="736450">
                <a:tc vMerge="1"/>
                <a:tc vMerge="1"/>
                <a:tc>
                  <a:txBody>
                    <a:bodyPr/>
                    <a:lstStyle/>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Clr>
                          <a:schemeClr val="dk1"/>
                        </a:buClr>
                        <a:buSzPts val="1100"/>
                        <a:buFont typeface="Arial"/>
                        <a:buNone/>
                      </a:pPr>
                      <a:r>
                        <a:rPr lang="es" sz="1000">
                          <a:solidFill>
                            <a:schemeClr val="dk1"/>
                          </a:solidFill>
                          <a:latin typeface="EB Garamond"/>
                          <a:ea typeface="EB Garamond"/>
                          <a:cs typeface="EB Garamond"/>
                          <a:sym typeface="EB Garamond"/>
                        </a:rPr>
                        <a:t>Materialidad subjetiva</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s" sz="1000">
                          <a:solidFill>
                            <a:schemeClr val="dk1"/>
                          </a:solidFill>
                          <a:latin typeface="EB Garamond"/>
                          <a:ea typeface="EB Garamond"/>
                          <a:cs typeface="EB Garamond"/>
                          <a:sym typeface="EB Garamond"/>
                        </a:rPr>
                        <a:t>Nivel de satisfacción con la:</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Calidad materiales muros</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Calidad materiales techo</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Calidad materiales piso</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Clr>
                          <a:schemeClr val="dk1"/>
                        </a:buClr>
                        <a:buFont typeface="Arial"/>
                        <a:buNone/>
                      </a:pPr>
                      <a:r>
                        <a:rPr lang="es" sz="1000">
                          <a:solidFill>
                            <a:schemeClr val="dk1"/>
                          </a:solidFill>
                          <a:latin typeface="EB Garamond"/>
                          <a:ea typeface="EB Garamond"/>
                          <a:cs typeface="EB Garamond"/>
                          <a:sym typeface="EB Garamond"/>
                        </a:rPr>
                        <a:t>ej. ¿Qué tan satisfecho/a se encuentra con el material de los muros de su vivienda?</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r>
              <a:tr h="743250">
                <a:tc vMerge="1"/>
                <a:tc rowSpan="2">
                  <a:txBody>
                    <a:bodyPr/>
                    <a:lstStyle/>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Acceso a servicios básicos</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Clr>
                          <a:schemeClr val="dk1"/>
                        </a:buClr>
                        <a:buSzPts val="1100"/>
                        <a:buFont typeface="Arial"/>
                        <a:buNone/>
                      </a:pPr>
                      <a:r>
                        <a:rPr lang="es" sz="1000">
                          <a:solidFill>
                            <a:schemeClr val="dk1"/>
                          </a:solidFill>
                          <a:latin typeface="EB Garamond"/>
                          <a:ea typeface="EB Garamond"/>
                          <a:cs typeface="EB Garamond"/>
                          <a:sym typeface="EB Garamond"/>
                        </a:rPr>
                        <a:t>Acceso a servicios básicos objetivo</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s" sz="1000">
                          <a:solidFill>
                            <a:schemeClr val="dk1"/>
                          </a:solidFill>
                          <a:latin typeface="EB Garamond"/>
                          <a:ea typeface="EB Garamond"/>
                          <a:cs typeface="EB Garamond"/>
                          <a:sym typeface="EB Garamond"/>
                        </a:rPr>
                        <a:t>Sistema iluminación</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Sistema calefacción</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Sistema obtención de agua</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Sistema eliminación excretas</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marR="0" rtl="0" algn="l">
                        <a:spcBef>
                          <a:spcPts val="0"/>
                        </a:spcBef>
                        <a:spcAft>
                          <a:spcPts val="0"/>
                        </a:spcAft>
                        <a:buNone/>
                      </a:pPr>
                      <a:r>
                        <a:rPr lang="es" sz="1000">
                          <a:solidFill>
                            <a:schemeClr val="dk1"/>
                          </a:solidFill>
                          <a:latin typeface="EB Garamond"/>
                          <a:ea typeface="EB Garamond"/>
                          <a:cs typeface="EB Garamond"/>
                          <a:sym typeface="EB Garamond"/>
                        </a:rPr>
                        <a:t>…</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r>
              <a:tr h="845500">
                <a:tc vMerge="1"/>
                <a:tc vMerge="1"/>
                <a:tc>
                  <a:txBody>
                    <a:bodyPr/>
                    <a:lstStyle/>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Clr>
                          <a:schemeClr val="dk1"/>
                        </a:buClr>
                        <a:buSzPts val="1100"/>
                        <a:buFont typeface="Arial"/>
                        <a:buNone/>
                      </a:pPr>
                      <a:r>
                        <a:rPr lang="es" sz="1000">
                          <a:solidFill>
                            <a:schemeClr val="dk1"/>
                          </a:solidFill>
                          <a:latin typeface="EB Garamond"/>
                          <a:ea typeface="EB Garamond"/>
                          <a:cs typeface="EB Garamond"/>
                          <a:sym typeface="EB Garamond"/>
                        </a:rPr>
                        <a:t>Acceso a servicios básicos subjetivo</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s" sz="1000">
                          <a:solidFill>
                            <a:schemeClr val="dk1"/>
                          </a:solidFill>
                          <a:latin typeface="EB Garamond"/>
                          <a:ea typeface="EB Garamond"/>
                          <a:cs typeface="EB Garamond"/>
                          <a:sym typeface="EB Garamond"/>
                        </a:rPr>
                        <a:t>Nivel de satisfacción con la:</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Sistema iluminación</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Sistema calefacción</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Sistema obtención de agua</a:t>
                      </a:r>
                      <a:endParaRPr sz="1000">
                        <a:solidFill>
                          <a:schemeClr val="dk1"/>
                        </a:solidFill>
                        <a:latin typeface="EB Garamond"/>
                        <a:ea typeface="EB Garamond"/>
                        <a:cs typeface="EB Garamond"/>
                        <a:sym typeface="EB Garamond"/>
                      </a:endParaRPr>
                    </a:p>
                    <a:p>
                      <a:pPr indent="0" lvl="0" marL="0" rtl="0" algn="l">
                        <a:spcBef>
                          <a:spcPts val="0"/>
                        </a:spcBef>
                        <a:spcAft>
                          <a:spcPts val="0"/>
                        </a:spcAft>
                        <a:buClr>
                          <a:schemeClr val="dk1"/>
                        </a:buClr>
                        <a:buSzPts val="1100"/>
                        <a:buFont typeface="Arial"/>
                        <a:buNone/>
                      </a:pPr>
                      <a:r>
                        <a:rPr lang="es" sz="1000">
                          <a:solidFill>
                            <a:schemeClr val="dk1"/>
                          </a:solidFill>
                          <a:latin typeface="EB Garamond"/>
                          <a:ea typeface="EB Garamond"/>
                          <a:cs typeface="EB Garamond"/>
                          <a:sym typeface="EB Garamond"/>
                        </a:rPr>
                        <a:t>Sistema eliminación excretas</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marR="0" rtl="0" algn="l">
                        <a:spcBef>
                          <a:spcPts val="0"/>
                        </a:spcBef>
                        <a:spcAft>
                          <a:spcPts val="0"/>
                        </a:spcAft>
                        <a:buNone/>
                      </a:pPr>
                      <a:r>
                        <a:rPr lang="es" sz="1000">
                          <a:solidFill>
                            <a:schemeClr val="dk1"/>
                          </a:solidFill>
                          <a:latin typeface="EB Garamond"/>
                          <a:ea typeface="EB Garamond"/>
                          <a:cs typeface="EB Garamond"/>
                          <a:sym typeface="EB Garamond"/>
                        </a:rPr>
                        <a:t>…</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r>
              <a:tr h="569100">
                <a:tc vMerge="1"/>
                <a:tc rowSpan="2">
                  <a:txBody>
                    <a:bodyPr/>
                    <a:lstStyle/>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Acceso a servicios sociales</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c>
                  <a:txBody>
                    <a:bodyPr/>
                    <a:lstStyle/>
                    <a:p>
                      <a:pPr indent="0" lvl="0" marL="0" rtl="0" algn="l">
                        <a:spcBef>
                          <a:spcPts val="0"/>
                        </a:spcBef>
                        <a:spcAft>
                          <a:spcPts val="0"/>
                        </a:spcAft>
                        <a:buClr>
                          <a:schemeClr val="dk1"/>
                        </a:buClr>
                        <a:buSzPts val="1100"/>
                        <a:buFont typeface="Arial"/>
                        <a:buNone/>
                      </a:pPr>
                      <a:r>
                        <a:rPr lang="es" sz="1000">
                          <a:solidFill>
                            <a:schemeClr val="dk1"/>
                          </a:solidFill>
                          <a:latin typeface="EB Garamond"/>
                          <a:ea typeface="EB Garamond"/>
                          <a:cs typeface="EB Garamond"/>
                          <a:sym typeface="EB Garamond"/>
                        </a:rPr>
                        <a:t>Acceso a servicios sociales objetivo</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s" sz="1000">
                          <a:solidFill>
                            <a:schemeClr val="dk1"/>
                          </a:solidFill>
                          <a:latin typeface="EB Garamond"/>
                          <a:ea typeface="EB Garamond"/>
                          <a:cs typeface="EB Garamond"/>
                          <a:sym typeface="EB Garamond"/>
                        </a:rPr>
                        <a:t>Distancia a colegios</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Distancia a paraderos de micros</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Distancia a locales comerciales</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marR="0" rtl="0" algn="l">
                        <a:spcBef>
                          <a:spcPts val="0"/>
                        </a:spcBef>
                        <a:spcAft>
                          <a:spcPts val="0"/>
                        </a:spcAft>
                        <a:buNone/>
                      </a:pPr>
                      <a:r>
                        <a:rPr lang="es" sz="1000">
                          <a:solidFill>
                            <a:schemeClr val="dk1"/>
                          </a:solidFill>
                          <a:latin typeface="EB Garamond"/>
                          <a:ea typeface="EB Garamond"/>
                          <a:cs typeface="EB Garamond"/>
                          <a:sym typeface="EB Garamond"/>
                        </a:rPr>
                        <a:t>…</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r>
              <a:tr h="694375">
                <a:tc vMerge="1"/>
                <a:tc vMerge="1"/>
                <a:tc>
                  <a:txBody>
                    <a:bodyPr/>
                    <a:lstStyle/>
                    <a:p>
                      <a:pPr indent="0" lvl="0" marL="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rtl="0" algn="l">
                        <a:spcBef>
                          <a:spcPts val="0"/>
                        </a:spcBef>
                        <a:spcAft>
                          <a:spcPts val="0"/>
                        </a:spcAft>
                        <a:buClr>
                          <a:schemeClr val="dk1"/>
                        </a:buClr>
                        <a:buSzPts val="1100"/>
                        <a:buFont typeface="Arial"/>
                        <a:buNone/>
                      </a:pPr>
                      <a:r>
                        <a:rPr lang="es" sz="1000">
                          <a:solidFill>
                            <a:schemeClr val="dk1"/>
                          </a:solidFill>
                          <a:latin typeface="EB Garamond"/>
                          <a:ea typeface="EB Garamond"/>
                          <a:cs typeface="EB Garamond"/>
                          <a:sym typeface="EB Garamond"/>
                        </a:rPr>
                        <a:t>Acceso a servicios sociales subjetivo</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s" sz="1000">
                          <a:solidFill>
                            <a:schemeClr val="dk1"/>
                          </a:solidFill>
                          <a:latin typeface="EB Garamond"/>
                          <a:ea typeface="EB Garamond"/>
                          <a:cs typeface="EB Garamond"/>
                          <a:sym typeface="EB Garamond"/>
                        </a:rPr>
                        <a:t>Nivel de satisfacción con la:</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Distancia a colegios</a:t>
                      </a:r>
                      <a:endParaRPr sz="10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000">
                          <a:solidFill>
                            <a:schemeClr val="dk1"/>
                          </a:solidFill>
                          <a:latin typeface="EB Garamond"/>
                          <a:ea typeface="EB Garamond"/>
                          <a:cs typeface="EB Garamond"/>
                          <a:sym typeface="EB Garamond"/>
                        </a:rPr>
                        <a:t>Distancia a paraderos de micros</a:t>
                      </a:r>
                      <a:endParaRPr sz="1000">
                        <a:solidFill>
                          <a:schemeClr val="dk1"/>
                        </a:solidFill>
                        <a:latin typeface="EB Garamond"/>
                        <a:ea typeface="EB Garamond"/>
                        <a:cs typeface="EB Garamond"/>
                        <a:sym typeface="EB Garamond"/>
                      </a:endParaRPr>
                    </a:p>
                    <a:p>
                      <a:pPr indent="0" lvl="0" marL="0" rtl="0" algn="l">
                        <a:spcBef>
                          <a:spcPts val="0"/>
                        </a:spcBef>
                        <a:spcAft>
                          <a:spcPts val="0"/>
                        </a:spcAft>
                        <a:buClr>
                          <a:schemeClr val="dk1"/>
                        </a:buClr>
                        <a:buSzPts val="1100"/>
                        <a:buFont typeface="Arial"/>
                        <a:buNone/>
                      </a:pPr>
                      <a:r>
                        <a:rPr lang="es" sz="1000">
                          <a:solidFill>
                            <a:schemeClr val="dk1"/>
                          </a:solidFill>
                          <a:latin typeface="EB Garamond"/>
                          <a:ea typeface="EB Garamond"/>
                          <a:cs typeface="EB Garamond"/>
                          <a:sym typeface="EB Garamond"/>
                        </a:rPr>
                        <a:t>Distancia a locales comerciales</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t/>
                      </a:r>
                      <a:endParaRPr sz="1000">
                        <a:solidFill>
                          <a:schemeClr val="dk1"/>
                        </a:solidFill>
                        <a:latin typeface="EB Garamond"/>
                        <a:ea typeface="EB Garamond"/>
                        <a:cs typeface="EB Garamond"/>
                        <a:sym typeface="EB Garamond"/>
                      </a:endParaRPr>
                    </a:p>
                    <a:p>
                      <a:pPr indent="0" lvl="0" marL="0" marR="0" rtl="0" algn="l">
                        <a:spcBef>
                          <a:spcPts val="0"/>
                        </a:spcBef>
                        <a:spcAft>
                          <a:spcPts val="0"/>
                        </a:spcAft>
                        <a:buNone/>
                      </a:pPr>
                      <a:r>
                        <a:rPr lang="es" sz="1000">
                          <a:solidFill>
                            <a:schemeClr val="dk1"/>
                          </a:solidFill>
                          <a:latin typeface="EB Garamond"/>
                          <a:ea typeface="EB Garamond"/>
                          <a:cs typeface="EB Garamond"/>
                          <a:sym typeface="EB Garamond"/>
                        </a:rPr>
                        <a:t>…</a:t>
                      </a:r>
                      <a:endParaRPr sz="10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Proceso de operacionalización</a:t>
            </a:r>
            <a:endParaRPr b="1">
              <a:latin typeface="EB Garamond"/>
              <a:ea typeface="EB Garamond"/>
              <a:cs typeface="EB Garamond"/>
              <a:sym typeface="EB Garamond"/>
            </a:endParaRPr>
          </a:p>
        </p:txBody>
      </p:sp>
      <p:sp>
        <p:nvSpPr>
          <p:cNvPr id="142" name="Google Shape;14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43" name="Google Shape;143;p26"/>
          <p:cNvSpPr txBox="1"/>
          <p:nvPr>
            <p:ph idx="1" type="body"/>
          </p:nvPr>
        </p:nvSpPr>
        <p:spPr>
          <a:xfrm>
            <a:off x="311700" y="1300025"/>
            <a:ext cx="8520600" cy="1341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b="1" lang="es">
                <a:solidFill>
                  <a:schemeClr val="dk1"/>
                </a:solidFill>
                <a:latin typeface="EB Garamond"/>
                <a:ea typeface="EB Garamond"/>
                <a:cs typeface="EB Garamond"/>
                <a:sym typeface="EB Garamond"/>
              </a:rPr>
              <a:t>Ejemplo: medición de la pobreza en Chile</a:t>
            </a:r>
            <a:endParaRPr b="1">
              <a:solidFill>
                <a:schemeClr val="dk1"/>
              </a:solidFill>
              <a:latin typeface="EB Garamond"/>
              <a:ea typeface="EB Garamond"/>
              <a:cs typeface="EB Garamond"/>
              <a:sym typeface="EB Garamond"/>
            </a:endParaRPr>
          </a:p>
          <a:p>
            <a:pPr indent="0" lvl="0" marL="0" rtl="0" algn="l">
              <a:lnSpc>
                <a:spcPct val="95000"/>
              </a:lnSpc>
              <a:spcBef>
                <a:spcPts val="1200"/>
              </a:spcBef>
              <a:spcAft>
                <a:spcPts val="1200"/>
              </a:spcAft>
              <a:buNone/>
            </a:pPr>
            <a:r>
              <a:rPr lang="es">
                <a:solidFill>
                  <a:schemeClr val="dk1"/>
                </a:solidFill>
                <a:latin typeface="EB Garamond"/>
                <a:ea typeface="EB Garamond"/>
                <a:cs typeface="EB Garamond"/>
                <a:sym typeface="EB Garamond"/>
              </a:rPr>
              <a:t>Definición conceptual: Las personas en situación de </a:t>
            </a:r>
            <a:r>
              <a:rPr b="1" lang="es">
                <a:solidFill>
                  <a:schemeClr val="dk1"/>
                </a:solidFill>
                <a:latin typeface="EB Garamond"/>
                <a:ea typeface="EB Garamond"/>
                <a:cs typeface="EB Garamond"/>
                <a:sym typeface="EB Garamond"/>
              </a:rPr>
              <a:t>pobreza por ingresos</a:t>
            </a:r>
            <a:r>
              <a:rPr lang="es">
                <a:solidFill>
                  <a:schemeClr val="dk1"/>
                </a:solidFill>
                <a:latin typeface="EB Garamond"/>
                <a:ea typeface="EB Garamond"/>
                <a:cs typeface="EB Garamond"/>
                <a:sym typeface="EB Garamond"/>
              </a:rPr>
              <a:t> son integrantes de hogares cuyos ingresos mensuales son inferiores al valor de la línea de la pobreza, que corresponde a $471.348 en noviembre de 2017 para un hogar con cuatro integrantes.</a:t>
            </a:r>
            <a:endParaRPr b="1" sz="2200">
              <a:solidFill>
                <a:schemeClr val="dk1"/>
              </a:solidFill>
              <a:latin typeface="EB Garamond"/>
              <a:ea typeface="EB Garamond"/>
              <a:cs typeface="EB Garamond"/>
              <a:sym typeface="EB Garamond"/>
            </a:endParaRPr>
          </a:p>
        </p:txBody>
      </p:sp>
      <p:graphicFrame>
        <p:nvGraphicFramePr>
          <p:cNvPr id="144" name="Google Shape;144;p26"/>
          <p:cNvGraphicFramePr/>
          <p:nvPr/>
        </p:nvGraphicFramePr>
        <p:xfrm>
          <a:off x="1255751" y="2986415"/>
          <a:ext cx="3000000" cy="3000000"/>
        </p:xfrm>
        <a:graphic>
          <a:graphicData uri="http://schemas.openxmlformats.org/drawingml/2006/table">
            <a:tbl>
              <a:tblPr bandRow="1" firstRow="1">
                <a:noFill/>
                <a:tableStyleId>{3523307D-3957-4866-8D09-ACF051106280}</a:tableStyleId>
              </a:tblPr>
              <a:tblGrid>
                <a:gridCol w="938775"/>
                <a:gridCol w="1006925"/>
                <a:gridCol w="4686800"/>
              </a:tblGrid>
              <a:tr h="272050">
                <a:tc>
                  <a:txBody>
                    <a:bodyPr/>
                    <a:lstStyle/>
                    <a:p>
                      <a:pPr indent="0" lvl="0" marL="0" marR="0" rtl="0" algn="l">
                        <a:spcBef>
                          <a:spcPts val="0"/>
                        </a:spcBef>
                        <a:spcAft>
                          <a:spcPts val="0"/>
                        </a:spcAft>
                        <a:buNone/>
                      </a:pPr>
                      <a:r>
                        <a:rPr lang="es" u="none" cap="none" strike="noStrike">
                          <a:solidFill>
                            <a:schemeClr val="lt2"/>
                          </a:solidFill>
                          <a:latin typeface="EB Garamond"/>
                          <a:ea typeface="EB Garamond"/>
                          <a:cs typeface="EB Garamond"/>
                          <a:sym typeface="EB Garamond"/>
                        </a:rPr>
                        <a:t>Concepto</a:t>
                      </a:r>
                      <a:endParaRPr>
                        <a:solidFill>
                          <a:schemeClr val="lt2"/>
                        </a:solidFill>
                        <a:latin typeface="EB Garamond"/>
                        <a:ea typeface="EB Garamond"/>
                        <a:cs typeface="EB Garamond"/>
                        <a:sym typeface="EB Garamond"/>
                      </a:endParaRPr>
                    </a:p>
                  </a:txBody>
                  <a:tcPr marT="45725" marB="45725" marR="91450" marL="91450">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l">
                        <a:spcBef>
                          <a:spcPts val="0"/>
                        </a:spcBef>
                        <a:spcAft>
                          <a:spcPts val="0"/>
                        </a:spcAft>
                        <a:buNone/>
                      </a:pPr>
                      <a:r>
                        <a:rPr lang="es">
                          <a:solidFill>
                            <a:schemeClr val="lt2"/>
                          </a:solidFill>
                          <a:latin typeface="EB Garamond"/>
                          <a:ea typeface="EB Garamond"/>
                          <a:cs typeface="EB Garamond"/>
                          <a:sym typeface="EB Garamond"/>
                        </a:rPr>
                        <a:t>Dimensión</a:t>
                      </a:r>
                      <a:endParaRPr>
                        <a:solidFill>
                          <a:schemeClr val="lt2"/>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l">
                        <a:spcBef>
                          <a:spcPts val="0"/>
                        </a:spcBef>
                        <a:spcAft>
                          <a:spcPts val="0"/>
                        </a:spcAft>
                        <a:buNone/>
                      </a:pPr>
                      <a:r>
                        <a:rPr lang="es">
                          <a:solidFill>
                            <a:schemeClr val="lt2"/>
                          </a:solidFill>
                          <a:latin typeface="EB Garamond"/>
                          <a:ea typeface="EB Garamond"/>
                          <a:cs typeface="EB Garamond"/>
                          <a:sym typeface="EB Garamond"/>
                        </a:rPr>
                        <a:t>Indicadores</a:t>
                      </a:r>
                      <a:endParaRPr>
                        <a:solidFill>
                          <a:schemeClr val="lt2"/>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r>
              <a:tr h="462500">
                <a:tc rowSpan="2">
                  <a:txBody>
                    <a:bodyPr/>
                    <a:lstStyle/>
                    <a:p>
                      <a:pPr indent="0" lvl="0" marL="0" rtl="0" algn="l">
                        <a:spcBef>
                          <a:spcPts val="0"/>
                        </a:spcBef>
                        <a:spcAft>
                          <a:spcPts val="0"/>
                        </a:spcAft>
                        <a:buNone/>
                      </a:pPr>
                      <a:r>
                        <a:t/>
                      </a:r>
                      <a:endParaRPr>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a:solidFill>
                            <a:schemeClr val="dk1"/>
                          </a:solidFill>
                          <a:latin typeface="EB Garamond"/>
                          <a:ea typeface="EB Garamond"/>
                          <a:cs typeface="EB Garamond"/>
                          <a:sym typeface="EB Garamond"/>
                        </a:rPr>
                        <a:t>Pobreza</a:t>
                      </a:r>
                      <a:endParaRPr>
                        <a:solidFill>
                          <a:schemeClr val="dk1"/>
                        </a:solidFill>
                        <a:latin typeface="EB Garamond"/>
                        <a:ea typeface="EB Garamond"/>
                        <a:cs typeface="EB Garamond"/>
                        <a:sym typeface="EB Garamond"/>
                      </a:endParaRPr>
                    </a:p>
                  </a:txBody>
                  <a:tcPr marT="45725" marB="45725" marR="91450" marL="91450">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c rowSpan="2">
                  <a:txBody>
                    <a:bodyPr/>
                    <a:lstStyle/>
                    <a:p>
                      <a:pPr indent="0" lvl="0" marL="0" rtl="0" algn="l">
                        <a:spcBef>
                          <a:spcPts val="0"/>
                        </a:spcBef>
                        <a:spcAft>
                          <a:spcPts val="0"/>
                        </a:spcAft>
                        <a:buNone/>
                      </a:pPr>
                      <a:r>
                        <a:t/>
                      </a:r>
                      <a:endParaRPr>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a:solidFill>
                            <a:schemeClr val="dk1"/>
                          </a:solidFill>
                          <a:latin typeface="EB Garamond"/>
                          <a:ea typeface="EB Garamond"/>
                          <a:cs typeface="EB Garamond"/>
                          <a:sym typeface="EB Garamond"/>
                        </a:rPr>
                        <a:t>Ingreso</a:t>
                      </a:r>
                      <a:endParaRPr>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c>
                  <a:txBody>
                    <a:bodyPr/>
                    <a:lstStyle/>
                    <a:p>
                      <a:pPr indent="0" lvl="0" marL="0" rtl="0" algn="l">
                        <a:spcBef>
                          <a:spcPts val="0"/>
                        </a:spcBef>
                        <a:spcAft>
                          <a:spcPts val="0"/>
                        </a:spcAft>
                        <a:buClr>
                          <a:schemeClr val="dk1"/>
                        </a:buClr>
                        <a:buSzPts val="1100"/>
                        <a:buFont typeface="Arial"/>
                        <a:buNone/>
                      </a:pPr>
                      <a:r>
                        <a:rPr lang="es">
                          <a:solidFill>
                            <a:schemeClr val="dk1"/>
                          </a:solidFill>
                          <a:latin typeface="EB Garamond"/>
                          <a:ea typeface="EB Garamond"/>
                          <a:cs typeface="EB Garamond"/>
                          <a:sym typeface="EB Garamond"/>
                        </a:rPr>
                        <a:t>Pobre:</a:t>
                      </a:r>
                      <a:endParaRPr>
                        <a:solidFill>
                          <a:schemeClr val="dk1"/>
                        </a:solidFill>
                        <a:latin typeface="EB Garamond"/>
                        <a:ea typeface="EB Garamond"/>
                        <a:cs typeface="EB Garamond"/>
                        <a:sym typeface="EB Garamond"/>
                      </a:endParaRPr>
                    </a:p>
                    <a:p>
                      <a:pPr indent="0" lvl="0" marL="0" rtl="0" algn="l">
                        <a:spcBef>
                          <a:spcPts val="0"/>
                        </a:spcBef>
                        <a:spcAft>
                          <a:spcPts val="0"/>
                        </a:spcAft>
                        <a:buClr>
                          <a:schemeClr val="dk1"/>
                        </a:buClr>
                        <a:buSzPts val="1100"/>
                        <a:buFont typeface="Arial"/>
                        <a:buNone/>
                      </a:pPr>
                      <a:r>
                        <a:rPr lang="es">
                          <a:solidFill>
                            <a:schemeClr val="dk1"/>
                          </a:solidFill>
                          <a:latin typeface="EB Garamond"/>
                          <a:ea typeface="EB Garamond"/>
                          <a:cs typeface="EB Garamond"/>
                          <a:sym typeface="EB Garamond"/>
                        </a:rPr>
                        <a:t>Ingreso mensual inferior a $471.348.- para hogar de 4 integrantes.</a:t>
                      </a:r>
                      <a:endParaRPr>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r>
              <a:tr h="462500">
                <a:tc vMerge="1"/>
                <a:tc vMerge="1"/>
                <a:tc>
                  <a:txBody>
                    <a:bodyPr/>
                    <a:lstStyle/>
                    <a:p>
                      <a:pPr indent="0" lvl="0" marL="0" rtl="0" algn="l">
                        <a:spcBef>
                          <a:spcPts val="0"/>
                        </a:spcBef>
                        <a:spcAft>
                          <a:spcPts val="0"/>
                        </a:spcAft>
                        <a:buClr>
                          <a:schemeClr val="dk1"/>
                        </a:buClr>
                        <a:buSzPts val="1100"/>
                        <a:buFont typeface="Arial"/>
                        <a:buNone/>
                      </a:pPr>
                      <a:r>
                        <a:rPr lang="es">
                          <a:solidFill>
                            <a:schemeClr val="dk1"/>
                          </a:solidFill>
                          <a:latin typeface="EB Garamond"/>
                          <a:ea typeface="EB Garamond"/>
                          <a:cs typeface="EB Garamond"/>
                          <a:sym typeface="EB Garamond"/>
                        </a:rPr>
                        <a:t>Pobre extremo:</a:t>
                      </a:r>
                      <a:endParaRPr>
                        <a:solidFill>
                          <a:schemeClr val="dk1"/>
                        </a:solidFill>
                        <a:latin typeface="EB Garamond"/>
                        <a:ea typeface="EB Garamond"/>
                        <a:cs typeface="EB Garamond"/>
                        <a:sym typeface="EB Garamond"/>
                      </a:endParaRPr>
                    </a:p>
                    <a:p>
                      <a:pPr indent="0" lvl="0" marL="0" rtl="0" algn="l">
                        <a:spcBef>
                          <a:spcPts val="0"/>
                        </a:spcBef>
                        <a:spcAft>
                          <a:spcPts val="0"/>
                        </a:spcAft>
                        <a:buClr>
                          <a:schemeClr val="dk1"/>
                        </a:buClr>
                        <a:buSzPts val="1100"/>
                        <a:buFont typeface="Arial"/>
                        <a:buNone/>
                      </a:pPr>
                      <a:r>
                        <a:rPr lang="es">
                          <a:solidFill>
                            <a:schemeClr val="dk1"/>
                          </a:solidFill>
                          <a:latin typeface="EB Garamond"/>
                          <a:ea typeface="EB Garamond"/>
                          <a:cs typeface="EB Garamond"/>
                          <a:sym typeface="EB Garamond"/>
                        </a:rPr>
                        <a:t>Ingreso mensual inferior a $314.232.- para hogar de 4 integrantes.</a:t>
                      </a:r>
                      <a:endParaRPr>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descr="Imagen que contiene Escala de tiempo&#10;&#10;Descripción generada automáticamente" id="150" name="Google Shape;150;p27"/>
          <p:cNvPicPr preferRelativeResize="0"/>
          <p:nvPr/>
        </p:nvPicPr>
        <p:blipFill rotWithShape="1">
          <a:blip r:embed="rId3">
            <a:alphaModFix/>
          </a:blip>
          <a:srcRect b="0" l="0" r="0" t="0"/>
          <a:stretch/>
        </p:blipFill>
        <p:spPr>
          <a:xfrm>
            <a:off x="1246500" y="454424"/>
            <a:ext cx="6651000" cy="4148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Proceso de operacionalización</a:t>
            </a:r>
            <a:endParaRPr b="1">
              <a:latin typeface="EB Garamond"/>
              <a:ea typeface="EB Garamond"/>
              <a:cs typeface="EB Garamond"/>
              <a:sym typeface="EB Garamond"/>
            </a:endParaRPr>
          </a:p>
        </p:txBody>
      </p:sp>
      <p:sp>
        <p:nvSpPr>
          <p:cNvPr id="156" name="Google Shape;15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57" name="Google Shape;157;p28"/>
          <p:cNvSpPr txBox="1"/>
          <p:nvPr>
            <p:ph idx="1" type="body"/>
          </p:nvPr>
        </p:nvSpPr>
        <p:spPr>
          <a:xfrm>
            <a:off x="311700" y="1300025"/>
            <a:ext cx="8520600" cy="463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None/>
            </a:pPr>
            <a:r>
              <a:rPr b="1" lang="es">
                <a:solidFill>
                  <a:schemeClr val="dk1"/>
                </a:solidFill>
                <a:latin typeface="EB Garamond"/>
                <a:ea typeface="EB Garamond"/>
                <a:cs typeface="EB Garamond"/>
                <a:sym typeface="EB Garamond"/>
              </a:rPr>
              <a:t>Ejemplo: medición de la pobreza en Chile</a:t>
            </a:r>
            <a:endParaRPr b="1" sz="2200">
              <a:solidFill>
                <a:schemeClr val="dk1"/>
              </a:solidFill>
              <a:latin typeface="EB Garamond"/>
              <a:ea typeface="EB Garamond"/>
              <a:cs typeface="EB Garamond"/>
              <a:sym typeface="EB Garamond"/>
            </a:endParaRPr>
          </a:p>
        </p:txBody>
      </p:sp>
      <p:graphicFrame>
        <p:nvGraphicFramePr>
          <p:cNvPr id="158" name="Google Shape;158;p28"/>
          <p:cNvGraphicFramePr/>
          <p:nvPr/>
        </p:nvGraphicFramePr>
        <p:xfrm>
          <a:off x="311701" y="1763815"/>
          <a:ext cx="3000000" cy="3000000"/>
        </p:xfrm>
        <a:graphic>
          <a:graphicData uri="http://schemas.openxmlformats.org/drawingml/2006/table">
            <a:tbl>
              <a:tblPr bandRow="1" firstRow="1">
                <a:noFill/>
                <a:tableStyleId>{3523307D-3957-4866-8D09-ACF051106280}</a:tableStyleId>
              </a:tblPr>
              <a:tblGrid>
                <a:gridCol w="831625"/>
                <a:gridCol w="951000"/>
                <a:gridCol w="2752450"/>
              </a:tblGrid>
              <a:tr h="291225">
                <a:tc>
                  <a:txBody>
                    <a:bodyPr/>
                    <a:lstStyle/>
                    <a:p>
                      <a:pPr indent="0" lvl="0" marL="0" marR="0" rtl="0" algn="l">
                        <a:spcBef>
                          <a:spcPts val="0"/>
                        </a:spcBef>
                        <a:spcAft>
                          <a:spcPts val="0"/>
                        </a:spcAft>
                        <a:buNone/>
                      </a:pPr>
                      <a:r>
                        <a:rPr lang="es" sz="1200" u="none" cap="none" strike="noStrike">
                          <a:solidFill>
                            <a:schemeClr val="lt2"/>
                          </a:solidFill>
                          <a:latin typeface="EB Garamond"/>
                          <a:ea typeface="EB Garamond"/>
                          <a:cs typeface="EB Garamond"/>
                          <a:sym typeface="EB Garamond"/>
                        </a:rPr>
                        <a:t>Concepto</a:t>
                      </a:r>
                      <a:endParaRPr sz="1200">
                        <a:solidFill>
                          <a:schemeClr val="lt2"/>
                        </a:solidFill>
                        <a:latin typeface="EB Garamond"/>
                        <a:ea typeface="EB Garamond"/>
                        <a:cs typeface="EB Garamond"/>
                        <a:sym typeface="EB Garamond"/>
                      </a:endParaRPr>
                    </a:p>
                  </a:txBody>
                  <a:tcPr marT="45725" marB="45725" marR="91450" marL="91450">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Dimensión</a:t>
                      </a:r>
                      <a:endParaRPr sz="1200">
                        <a:solidFill>
                          <a:schemeClr val="lt2"/>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Indicadores</a:t>
                      </a:r>
                      <a:endParaRPr sz="1200">
                        <a:solidFill>
                          <a:schemeClr val="lt2"/>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r>
              <a:tr h="495075">
                <a:tc rowSpan="2">
                  <a:txBody>
                    <a:bodyPr/>
                    <a:lstStyle/>
                    <a:p>
                      <a:pPr indent="0" lvl="0" marL="0" rtl="0" algn="l">
                        <a:spcBef>
                          <a:spcPts val="0"/>
                        </a:spcBef>
                        <a:spcAft>
                          <a:spcPts val="0"/>
                        </a:spcAft>
                        <a:buNone/>
                      </a:pPr>
                      <a:r>
                        <a:t/>
                      </a:r>
                      <a:endParaRPr sz="12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200">
                          <a:solidFill>
                            <a:schemeClr val="dk1"/>
                          </a:solidFill>
                          <a:latin typeface="EB Garamond"/>
                          <a:ea typeface="EB Garamond"/>
                          <a:cs typeface="EB Garamond"/>
                          <a:sym typeface="EB Garamond"/>
                        </a:rPr>
                        <a:t>Pobreza</a:t>
                      </a:r>
                      <a:endParaRPr sz="1200">
                        <a:solidFill>
                          <a:schemeClr val="dk1"/>
                        </a:solidFill>
                        <a:latin typeface="EB Garamond"/>
                        <a:ea typeface="EB Garamond"/>
                        <a:cs typeface="EB Garamond"/>
                        <a:sym typeface="EB Garamond"/>
                      </a:endParaRPr>
                    </a:p>
                  </a:txBody>
                  <a:tcPr marT="45725" marB="45725" marR="91450" marL="91450">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c rowSpan="2">
                  <a:txBody>
                    <a:bodyPr/>
                    <a:lstStyle/>
                    <a:p>
                      <a:pPr indent="0" lvl="0" marL="0" rtl="0" algn="l">
                        <a:spcBef>
                          <a:spcPts val="0"/>
                        </a:spcBef>
                        <a:spcAft>
                          <a:spcPts val="0"/>
                        </a:spcAft>
                        <a:buNone/>
                      </a:pPr>
                      <a:r>
                        <a:t/>
                      </a:r>
                      <a:endParaRPr sz="12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200">
                          <a:solidFill>
                            <a:schemeClr val="dk1"/>
                          </a:solidFill>
                          <a:latin typeface="EB Garamond"/>
                          <a:ea typeface="EB Garamond"/>
                          <a:cs typeface="EB Garamond"/>
                          <a:sym typeface="EB Garamond"/>
                        </a:rPr>
                        <a:t>Ingreso</a:t>
                      </a:r>
                      <a:endParaRPr sz="12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c>
                  <a:txBody>
                    <a:bodyPr/>
                    <a:lstStyle/>
                    <a:p>
                      <a:pPr indent="0" lvl="0" marL="0" rtl="0" algn="l">
                        <a:spcBef>
                          <a:spcPts val="0"/>
                        </a:spcBef>
                        <a:spcAft>
                          <a:spcPts val="0"/>
                        </a:spcAft>
                        <a:buSzPts val="1100"/>
                        <a:buNone/>
                      </a:pPr>
                      <a:r>
                        <a:rPr lang="es" sz="1200">
                          <a:solidFill>
                            <a:schemeClr val="dk1"/>
                          </a:solidFill>
                          <a:latin typeface="EB Garamond"/>
                          <a:ea typeface="EB Garamond"/>
                          <a:cs typeface="EB Garamond"/>
                          <a:sym typeface="EB Garamond"/>
                        </a:rPr>
                        <a:t>Pobre:</a:t>
                      </a:r>
                      <a:endParaRPr sz="1200">
                        <a:solidFill>
                          <a:schemeClr val="dk1"/>
                        </a:solidFill>
                        <a:latin typeface="EB Garamond"/>
                        <a:ea typeface="EB Garamond"/>
                        <a:cs typeface="EB Garamond"/>
                        <a:sym typeface="EB Garamond"/>
                      </a:endParaRPr>
                    </a:p>
                    <a:p>
                      <a:pPr indent="0" lvl="0" marL="0" rtl="0" algn="l">
                        <a:spcBef>
                          <a:spcPts val="0"/>
                        </a:spcBef>
                        <a:spcAft>
                          <a:spcPts val="0"/>
                        </a:spcAft>
                        <a:buSzPts val="1100"/>
                        <a:buNone/>
                      </a:pPr>
                      <a:r>
                        <a:rPr lang="es" sz="1200">
                          <a:solidFill>
                            <a:schemeClr val="dk1"/>
                          </a:solidFill>
                          <a:latin typeface="EB Garamond"/>
                          <a:ea typeface="EB Garamond"/>
                          <a:cs typeface="EB Garamond"/>
                          <a:sym typeface="EB Garamond"/>
                        </a:rPr>
                        <a:t>Ingreso mensual inferior a $471.348.- para hogar de 4 integrantes.</a:t>
                      </a:r>
                      <a:endParaRPr sz="12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r>
              <a:tr h="495075">
                <a:tc vMerge="1"/>
                <a:tc vMerge="1"/>
                <a:tc>
                  <a:txBody>
                    <a:bodyPr/>
                    <a:lstStyle/>
                    <a:p>
                      <a:pPr indent="0" lvl="0" marL="0" rtl="0" algn="l">
                        <a:spcBef>
                          <a:spcPts val="0"/>
                        </a:spcBef>
                        <a:spcAft>
                          <a:spcPts val="0"/>
                        </a:spcAft>
                        <a:buNone/>
                      </a:pPr>
                      <a:r>
                        <a:rPr lang="es" sz="1200">
                          <a:solidFill>
                            <a:schemeClr val="dk1"/>
                          </a:solidFill>
                          <a:latin typeface="EB Garamond"/>
                          <a:ea typeface="EB Garamond"/>
                          <a:cs typeface="EB Garamond"/>
                          <a:sym typeface="EB Garamond"/>
                        </a:rPr>
                        <a:t>Pobre extremo:</a:t>
                      </a:r>
                      <a:endParaRPr sz="1200">
                        <a:solidFill>
                          <a:schemeClr val="dk1"/>
                        </a:solidFill>
                        <a:latin typeface="EB Garamond"/>
                        <a:ea typeface="EB Garamond"/>
                        <a:cs typeface="EB Garamond"/>
                        <a:sym typeface="EB Garamond"/>
                      </a:endParaRPr>
                    </a:p>
                    <a:p>
                      <a:pPr indent="0" lvl="0" marL="0" rtl="0" algn="l">
                        <a:spcBef>
                          <a:spcPts val="0"/>
                        </a:spcBef>
                        <a:spcAft>
                          <a:spcPts val="0"/>
                        </a:spcAft>
                        <a:buNone/>
                      </a:pPr>
                      <a:r>
                        <a:rPr lang="es" sz="1200">
                          <a:solidFill>
                            <a:schemeClr val="dk1"/>
                          </a:solidFill>
                          <a:latin typeface="EB Garamond"/>
                          <a:ea typeface="EB Garamond"/>
                          <a:cs typeface="EB Garamond"/>
                          <a:sym typeface="EB Garamond"/>
                        </a:rPr>
                        <a:t>Ingreso mensual inferior a $314.232.- para hogar de 4 integrantes.</a:t>
                      </a:r>
                      <a:endParaRPr sz="1200">
                        <a:solidFill>
                          <a:schemeClr val="dk1"/>
                        </a:solidFill>
                        <a:latin typeface="EB Garamond"/>
                        <a:ea typeface="EB Garamond"/>
                        <a:cs typeface="EB Garamond"/>
                        <a:sym typeface="EB Garamond"/>
                      </a:endParaRPr>
                    </a:p>
                  </a:txBody>
                  <a:tcPr marT="45725" marB="45725" marR="91450" marL="91450">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FFFFFF"/>
                      </a:solidFill>
                      <a:prstDash val="solid"/>
                      <a:round/>
                      <a:headEnd len="sm" w="sm" type="none"/>
                      <a:tailEnd len="sm" w="sm" type="none"/>
                    </a:lnB>
                    <a:solidFill>
                      <a:srgbClr val="D0E0E3"/>
                    </a:solidFill>
                  </a:tcPr>
                </a:tc>
              </a:tr>
            </a:tbl>
          </a:graphicData>
        </a:graphic>
      </p:graphicFrame>
      <p:pic>
        <p:nvPicPr>
          <p:cNvPr descr="Diagrama&#10;&#10;Descripción generada automáticamente" id="159" name="Google Shape;159;p28"/>
          <p:cNvPicPr preferRelativeResize="0"/>
          <p:nvPr/>
        </p:nvPicPr>
        <p:blipFill rotWithShape="1">
          <a:blip r:embed="rId3">
            <a:alphaModFix/>
          </a:blip>
          <a:srcRect b="0" l="0" r="0" t="0"/>
          <a:stretch/>
        </p:blipFill>
        <p:spPr>
          <a:xfrm>
            <a:off x="4846775" y="2457652"/>
            <a:ext cx="3625676" cy="2370572"/>
          </a:xfrm>
          <a:prstGeom prst="rect">
            <a:avLst/>
          </a:prstGeom>
          <a:noFill/>
          <a:ln>
            <a:noFill/>
          </a:ln>
        </p:spPr>
      </p:pic>
      <p:sp>
        <p:nvSpPr>
          <p:cNvPr id="160" name="Google Shape;160;p28"/>
          <p:cNvSpPr/>
          <p:nvPr/>
        </p:nvSpPr>
        <p:spPr>
          <a:xfrm rot="5400000">
            <a:off x="3518100" y="3112875"/>
            <a:ext cx="667500" cy="1440300"/>
          </a:xfrm>
          <a:prstGeom prst="bentUpArrow">
            <a:avLst>
              <a:gd fmla="val 10854" name="adj1"/>
              <a:gd fmla="val 18419" name="adj2"/>
              <a:gd fmla="val 23861" name="adj3"/>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Proceso de operacionalización</a:t>
            </a:r>
            <a:endParaRPr b="1">
              <a:latin typeface="EB Garamond"/>
              <a:ea typeface="EB Garamond"/>
              <a:cs typeface="EB Garamond"/>
              <a:sym typeface="EB Garamond"/>
            </a:endParaRPr>
          </a:p>
        </p:txBody>
      </p:sp>
      <p:sp>
        <p:nvSpPr>
          <p:cNvPr id="166" name="Google Shape;16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67" name="Google Shape;167;p29"/>
          <p:cNvSpPr txBox="1"/>
          <p:nvPr>
            <p:ph idx="1" type="body"/>
          </p:nvPr>
        </p:nvSpPr>
        <p:spPr>
          <a:xfrm>
            <a:off x="311700" y="1300025"/>
            <a:ext cx="8520600" cy="463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None/>
            </a:pPr>
            <a:r>
              <a:rPr b="1" lang="es">
                <a:solidFill>
                  <a:schemeClr val="dk1"/>
                </a:solidFill>
                <a:latin typeface="EB Garamond"/>
                <a:ea typeface="EB Garamond"/>
                <a:cs typeface="EB Garamond"/>
                <a:sym typeface="EB Garamond"/>
              </a:rPr>
              <a:t>Pobreza Multidimensional</a:t>
            </a:r>
            <a:endParaRPr b="1" sz="2200">
              <a:solidFill>
                <a:schemeClr val="dk1"/>
              </a:solidFill>
              <a:latin typeface="EB Garamond"/>
              <a:ea typeface="EB Garamond"/>
              <a:cs typeface="EB Garamond"/>
              <a:sym typeface="EB Garamond"/>
            </a:endParaRPr>
          </a:p>
        </p:txBody>
      </p:sp>
      <p:pic>
        <p:nvPicPr>
          <p:cNvPr descr="Diagrama&#10;&#10;Descripción generada automáticamente" id="168" name="Google Shape;168;p29"/>
          <p:cNvPicPr preferRelativeResize="0"/>
          <p:nvPr/>
        </p:nvPicPr>
        <p:blipFill rotWithShape="1">
          <a:blip r:embed="rId3">
            <a:alphaModFix/>
          </a:blip>
          <a:srcRect b="0" l="0" r="0" t="0"/>
          <a:stretch/>
        </p:blipFill>
        <p:spPr>
          <a:xfrm>
            <a:off x="311700" y="1763825"/>
            <a:ext cx="3474095" cy="2271474"/>
          </a:xfrm>
          <a:prstGeom prst="rect">
            <a:avLst/>
          </a:prstGeom>
          <a:noFill/>
          <a:ln>
            <a:noFill/>
          </a:ln>
        </p:spPr>
      </p:pic>
      <p:pic>
        <p:nvPicPr>
          <p:cNvPr descr="Diagrama&#10;&#10;Descripción generada automáticamente" id="169" name="Google Shape;169;p29"/>
          <p:cNvPicPr preferRelativeResize="0"/>
          <p:nvPr/>
        </p:nvPicPr>
        <p:blipFill rotWithShape="1">
          <a:blip r:embed="rId4">
            <a:alphaModFix/>
          </a:blip>
          <a:srcRect b="0" l="0" r="0" t="0"/>
          <a:stretch/>
        </p:blipFill>
        <p:spPr>
          <a:xfrm>
            <a:off x="5070225" y="1968850"/>
            <a:ext cx="3762063" cy="2157650"/>
          </a:xfrm>
          <a:prstGeom prst="rect">
            <a:avLst/>
          </a:prstGeom>
          <a:noFill/>
          <a:ln>
            <a:noFill/>
          </a:ln>
        </p:spPr>
      </p:pic>
      <p:sp>
        <p:nvSpPr>
          <p:cNvPr id="170" name="Google Shape;170;p29"/>
          <p:cNvSpPr/>
          <p:nvPr/>
        </p:nvSpPr>
        <p:spPr>
          <a:xfrm>
            <a:off x="4055263" y="3084700"/>
            <a:ext cx="616500" cy="189600"/>
          </a:xfrm>
          <a:prstGeom prst="stripedRightArrow">
            <a:avLst>
              <a:gd fmla="val 50000" name="adj1"/>
              <a:gd fmla="val 50000" name="adj2"/>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descr="Gráfico, Gráfico de barras&#10;&#10;Descripción generada automáticamente" id="176" name="Google Shape;176;p30"/>
          <p:cNvPicPr preferRelativeResize="0"/>
          <p:nvPr/>
        </p:nvPicPr>
        <p:blipFill rotWithShape="1">
          <a:blip r:embed="rId3">
            <a:alphaModFix/>
          </a:blip>
          <a:srcRect b="0" l="0" r="0" t="0"/>
          <a:stretch/>
        </p:blipFill>
        <p:spPr>
          <a:xfrm>
            <a:off x="904150" y="569875"/>
            <a:ext cx="7335699" cy="4180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descr="Gráfico, Gráfico de barras&#10;&#10;Descripción generada automáticamente" id="182" name="Google Shape;182;p31"/>
          <p:cNvPicPr preferRelativeResize="0"/>
          <p:nvPr/>
        </p:nvPicPr>
        <p:blipFill rotWithShape="1">
          <a:blip r:embed="rId3">
            <a:alphaModFix/>
          </a:blip>
          <a:srcRect b="0" l="0" r="0" t="0"/>
          <a:stretch/>
        </p:blipFill>
        <p:spPr>
          <a:xfrm>
            <a:off x="1637338" y="384000"/>
            <a:ext cx="5869324" cy="42792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2"/>
          <p:cNvSpPr txBox="1"/>
          <p:nvPr/>
        </p:nvSpPr>
        <p:spPr>
          <a:xfrm>
            <a:off x="773550" y="4132450"/>
            <a:ext cx="76407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EB Garamond"/>
              <a:buChar char="●"/>
            </a:pPr>
            <a:r>
              <a:rPr lang="es" sz="1800">
                <a:solidFill>
                  <a:schemeClr val="dk1"/>
                </a:solidFill>
                <a:latin typeface="EB Garamond"/>
                <a:ea typeface="EB Garamond"/>
                <a:cs typeface="EB Garamond"/>
                <a:sym typeface="EB Garamond"/>
              </a:rPr>
              <a:t>El tipo de variable determina qué análisis y qué gráfico usar, esto es central</a:t>
            </a:r>
            <a:endParaRPr sz="1800">
              <a:solidFill>
                <a:schemeClr val="dk1"/>
              </a:solidFill>
              <a:latin typeface="EB Garamond"/>
              <a:ea typeface="EB Garamond"/>
              <a:cs typeface="EB Garamond"/>
              <a:sym typeface="EB Garamond"/>
            </a:endParaRPr>
          </a:p>
        </p:txBody>
      </p:sp>
      <p:graphicFrame>
        <p:nvGraphicFramePr>
          <p:cNvPr id="188" name="Google Shape;188;p32"/>
          <p:cNvGraphicFramePr/>
          <p:nvPr/>
        </p:nvGraphicFramePr>
        <p:xfrm>
          <a:off x="401443" y="402841"/>
          <a:ext cx="3000000" cy="3000000"/>
        </p:xfrm>
        <a:graphic>
          <a:graphicData uri="http://schemas.openxmlformats.org/drawingml/2006/table">
            <a:tbl>
              <a:tblPr>
                <a:noFill/>
                <a:tableStyleId>{4A25CF3E-AA19-49CC-8E85-9930AF4A0C35}</a:tableStyleId>
              </a:tblPr>
              <a:tblGrid>
                <a:gridCol w="2224900"/>
                <a:gridCol w="2224900"/>
                <a:gridCol w="1945650"/>
                <a:gridCol w="1945650"/>
              </a:tblGrid>
              <a:tr h="158950">
                <a:tc>
                  <a:txBody>
                    <a:bodyPr/>
                    <a:lstStyle/>
                    <a:p>
                      <a:pPr indent="0" lvl="0" marL="0" marR="0" rtl="0" algn="ctr">
                        <a:spcBef>
                          <a:spcPts val="0"/>
                        </a:spcBef>
                        <a:spcAft>
                          <a:spcPts val="0"/>
                        </a:spcAft>
                        <a:buNone/>
                      </a:pPr>
                      <a:r>
                        <a:rPr b="1" i="0" lang="es" sz="900" u="none" strike="noStrike">
                          <a:solidFill>
                            <a:srgbClr val="EEEEEE"/>
                          </a:solidFill>
                          <a:latin typeface="EB Garamond"/>
                          <a:ea typeface="EB Garamond"/>
                          <a:cs typeface="EB Garamond"/>
                          <a:sym typeface="EB Garamond"/>
                        </a:rPr>
                        <a:t>Concepto</a:t>
                      </a:r>
                      <a:endParaRPr>
                        <a:solidFill>
                          <a:srgbClr val="EEEEEE"/>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c>
                  <a:txBody>
                    <a:bodyPr/>
                    <a:lstStyle/>
                    <a:p>
                      <a:pPr indent="0" lvl="0" marL="0" marR="0" rtl="0" algn="ctr">
                        <a:spcBef>
                          <a:spcPts val="0"/>
                        </a:spcBef>
                        <a:spcAft>
                          <a:spcPts val="0"/>
                        </a:spcAft>
                        <a:buNone/>
                      </a:pPr>
                      <a:r>
                        <a:rPr b="1" i="0" lang="es" sz="900" u="none" strike="noStrike">
                          <a:solidFill>
                            <a:srgbClr val="EEEEEE"/>
                          </a:solidFill>
                          <a:latin typeface="EB Garamond"/>
                          <a:ea typeface="EB Garamond"/>
                          <a:cs typeface="EB Garamond"/>
                          <a:sym typeface="EB Garamond"/>
                        </a:rPr>
                        <a:t>Dimensiones</a:t>
                      </a:r>
                      <a:endParaRPr>
                        <a:solidFill>
                          <a:srgbClr val="EEEEEE"/>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c>
                  <a:txBody>
                    <a:bodyPr/>
                    <a:lstStyle/>
                    <a:p>
                      <a:pPr indent="0" lvl="0" marL="0" marR="0" rtl="0" algn="ctr">
                        <a:spcBef>
                          <a:spcPts val="0"/>
                        </a:spcBef>
                        <a:spcAft>
                          <a:spcPts val="0"/>
                        </a:spcAft>
                        <a:buNone/>
                      </a:pPr>
                      <a:r>
                        <a:rPr b="1" i="0" lang="es" sz="900" u="none" strike="noStrike">
                          <a:solidFill>
                            <a:srgbClr val="EEEEEE"/>
                          </a:solidFill>
                          <a:latin typeface="EB Garamond"/>
                          <a:ea typeface="EB Garamond"/>
                          <a:cs typeface="EB Garamond"/>
                          <a:sym typeface="EB Garamond"/>
                        </a:rPr>
                        <a:t>Indicador y atributo</a:t>
                      </a:r>
                      <a:endParaRPr>
                        <a:solidFill>
                          <a:srgbClr val="EEEEEE"/>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c>
                  <a:txBody>
                    <a:bodyPr/>
                    <a:lstStyle/>
                    <a:p>
                      <a:pPr indent="0" lvl="0" marL="0" marR="0" rtl="0" algn="ctr">
                        <a:spcBef>
                          <a:spcPts val="0"/>
                        </a:spcBef>
                        <a:spcAft>
                          <a:spcPts val="0"/>
                        </a:spcAft>
                        <a:buNone/>
                      </a:pPr>
                      <a:r>
                        <a:rPr b="1" i="0" lang="es" sz="900" u="none" strike="noStrike">
                          <a:solidFill>
                            <a:srgbClr val="EEEEEE"/>
                          </a:solidFill>
                          <a:latin typeface="EB Garamond"/>
                          <a:ea typeface="EB Garamond"/>
                          <a:cs typeface="EB Garamond"/>
                          <a:sym typeface="EB Garamond"/>
                        </a:rPr>
                        <a:t>Variable/Pregunta y atributo</a:t>
                      </a:r>
                      <a:endParaRPr>
                        <a:solidFill>
                          <a:srgbClr val="EEEEEE"/>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5818E"/>
                    </a:solidFill>
                  </a:tcPr>
                </a:tc>
              </a:tr>
              <a:tr h="1327350">
                <a:tc>
                  <a:txBody>
                    <a:bodyPr/>
                    <a:lstStyle/>
                    <a:p>
                      <a:pPr indent="0" lvl="0" marL="0" marR="0" rtl="0" algn="ctr">
                        <a:spcBef>
                          <a:spcPts val="0"/>
                        </a:spcBef>
                        <a:spcAft>
                          <a:spcPts val="0"/>
                        </a:spcAft>
                        <a:buNone/>
                      </a:pPr>
                      <a:r>
                        <a:rPr b="1" i="0" lang="es" sz="900" u="none" strike="noStrike">
                          <a:solidFill>
                            <a:schemeClr val="dk1"/>
                          </a:solidFill>
                          <a:latin typeface="EB Garamond"/>
                          <a:ea typeface="EB Garamond"/>
                          <a:cs typeface="EB Garamond"/>
                          <a:sym typeface="EB Garamond"/>
                        </a:rPr>
                        <a:t>Contexto de pandemia: </a:t>
                      </a:r>
                      <a:r>
                        <a:rPr i="0" lang="es" sz="900" u="none" strike="noStrike">
                          <a:solidFill>
                            <a:schemeClr val="dk1"/>
                          </a:solidFill>
                          <a:latin typeface="EB Garamond"/>
                          <a:ea typeface="EB Garamond"/>
                          <a:cs typeface="EB Garamond"/>
                          <a:sym typeface="EB Garamond"/>
                        </a:rPr>
                        <a:t>momento histórico donde  la crisis sanitaria cambia las condiciones de vida.</a:t>
                      </a:r>
                      <a:endParaRPr>
                        <a:solidFill>
                          <a:schemeClr val="dk1"/>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AD5D4"/>
                    </a:solidFill>
                  </a:tcPr>
                </a:tc>
                <a:tc>
                  <a:txBody>
                    <a:bodyPr/>
                    <a:lstStyle/>
                    <a:p>
                      <a:pPr indent="0" lvl="0" marL="0" marR="0" rtl="0" algn="l">
                        <a:spcBef>
                          <a:spcPts val="0"/>
                        </a:spcBef>
                        <a:spcAft>
                          <a:spcPts val="0"/>
                        </a:spcAft>
                        <a:buNone/>
                      </a:pPr>
                      <a:r>
                        <a:rPr b="1" i="0" lang="es" sz="900" u="none" strike="noStrike">
                          <a:solidFill>
                            <a:schemeClr val="dk1"/>
                          </a:solidFill>
                          <a:latin typeface="EB Garamond"/>
                          <a:ea typeface="EB Garamond"/>
                          <a:cs typeface="EB Garamond"/>
                          <a:sym typeface="EB Garamond"/>
                        </a:rPr>
                        <a:t>Presencia de pandemia</a:t>
                      </a:r>
                      <a:endParaRPr>
                        <a:solidFill>
                          <a:schemeClr val="dk1"/>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AD5D4"/>
                    </a:solidFill>
                  </a:tcPr>
                </a:tc>
                <a:tc>
                  <a:txBody>
                    <a:bodyPr/>
                    <a:lstStyle/>
                    <a:p>
                      <a:pPr indent="0" lvl="0" marL="0" marR="0" rtl="0" algn="l">
                        <a:spcBef>
                          <a:spcPts val="0"/>
                        </a:spcBef>
                        <a:spcAft>
                          <a:spcPts val="0"/>
                        </a:spcAft>
                        <a:buNone/>
                      </a:pPr>
                      <a:r>
                        <a:rPr b="1" i="0" lang="es" sz="900" u="none" strike="noStrike">
                          <a:solidFill>
                            <a:schemeClr val="dk1"/>
                          </a:solidFill>
                          <a:latin typeface="EB Garamond"/>
                          <a:ea typeface="EB Garamond"/>
                          <a:cs typeface="EB Garamond"/>
                          <a:sym typeface="EB Garamond"/>
                        </a:rPr>
                        <a:t>Presencia de pandemia</a:t>
                      </a:r>
                      <a:r>
                        <a:rPr i="0" lang="es" sz="900" u="none" strike="noStrike">
                          <a:solidFill>
                            <a:schemeClr val="dk1"/>
                          </a:solidFill>
                          <a:latin typeface="EB Garamond"/>
                          <a:ea typeface="EB Garamond"/>
                          <a:cs typeface="EB Garamond"/>
                          <a:sym typeface="EB Garamond"/>
                        </a:rPr>
                        <a:t>: </a:t>
                      </a:r>
                      <a:endParaRPr i="0" sz="900" u="none" strike="noStrike">
                        <a:solidFill>
                          <a:schemeClr val="dk1"/>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(1) Presencia de pandemia; </a:t>
                      </a:r>
                      <a:endParaRPr i="0" sz="900" u="none" strike="noStrike">
                        <a:solidFill>
                          <a:schemeClr val="dk1"/>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(2) No presencia de pandemia</a:t>
                      </a:r>
                      <a:endParaRPr>
                        <a:solidFill>
                          <a:schemeClr val="dk1"/>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AD5D4"/>
                    </a:solidFill>
                  </a:tcPr>
                </a:tc>
                <a:tc>
                  <a:txBody>
                    <a:bodyPr/>
                    <a:lstStyle/>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Presencia de pandemia (año 2020); </a:t>
                      </a:r>
                      <a:endParaRPr i="0" sz="900" u="none" strike="noStrike">
                        <a:solidFill>
                          <a:schemeClr val="dk1"/>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No presencia de pandemia (año 2019)</a:t>
                      </a:r>
                      <a:endParaRPr>
                        <a:solidFill>
                          <a:schemeClr val="dk1"/>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AD5D4"/>
                    </a:solidFill>
                  </a:tcPr>
                </a:tc>
              </a:tr>
              <a:tr h="852000">
                <a:tc rowSpan="3">
                  <a:txBody>
                    <a:bodyPr/>
                    <a:lstStyle/>
                    <a:p>
                      <a:pPr indent="0" lvl="0" marL="0" marR="0" rtl="0" algn="ctr">
                        <a:spcBef>
                          <a:spcPts val="0"/>
                        </a:spcBef>
                        <a:spcAft>
                          <a:spcPts val="0"/>
                        </a:spcAft>
                        <a:buNone/>
                      </a:pPr>
                      <a:r>
                        <a:rPr b="1" i="0" lang="es" sz="900" u="none" strike="noStrike">
                          <a:solidFill>
                            <a:schemeClr val="dk1"/>
                          </a:solidFill>
                          <a:latin typeface="EB Garamond"/>
                          <a:ea typeface="EB Garamond"/>
                          <a:cs typeface="EB Garamond"/>
                          <a:sym typeface="EB Garamond"/>
                        </a:rPr>
                        <a:t>Violencia intrafamiliar:</a:t>
                      </a:r>
                      <a:r>
                        <a:rPr i="0" lang="es" sz="900" u="none" strike="noStrike">
                          <a:solidFill>
                            <a:schemeClr val="dk1"/>
                          </a:solidFill>
                          <a:latin typeface="EB Garamond"/>
                          <a:ea typeface="EB Garamond"/>
                          <a:cs typeface="EB Garamond"/>
                          <a:sym typeface="EB Garamond"/>
                        </a:rPr>
                        <a:t> La violencia doméstica abarca la totalidad de situaciones que pueden violentar y hacer daño a cualquier miembro integrante de una familia dentro de un hogar, donde cualquiera puede dañar o ser dañado. (Madeline, Mercedes, Hernández, Margarita, &amp; Presno, 2011)</a:t>
                      </a:r>
                      <a:endParaRPr b="1" i="0" sz="900" u="none" strike="noStrike">
                        <a:solidFill>
                          <a:schemeClr val="dk1"/>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rPr b="1" i="0" lang="es" sz="900" u="none" strike="noStrike">
                          <a:solidFill>
                            <a:schemeClr val="dk1"/>
                          </a:solidFill>
                          <a:latin typeface="EB Garamond"/>
                          <a:ea typeface="EB Garamond"/>
                          <a:cs typeface="EB Garamond"/>
                          <a:sym typeface="EB Garamond"/>
                        </a:rPr>
                        <a:t>Violencia física: </a:t>
                      </a:r>
                      <a:r>
                        <a:rPr i="0" lang="es" sz="900" u="none" strike="noStrike">
                          <a:solidFill>
                            <a:schemeClr val="dk1"/>
                          </a:solidFill>
                          <a:latin typeface="EB Garamond"/>
                          <a:ea typeface="EB Garamond"/>
                          <a:cs typeface="EB Garamond"/>
                          <a:sym typeface="EB Garamond"/>
                        </a:rPr>
                        <a:t>Cuando alguno de los integrantes del hogar hace uso intencional de la fuerza física con intención de causar daños tanto graves como leves (DESUC, 2014)</a:t>
                      </a:r>
                      <a:endParaRPr b="1" i="0" sz="900" u="none" strike="noStrike">
                        <a:solidFill>
                          <a:schemeClr val="dk1"/>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Presencia de violencia física: </a:t>
                      </a:r>
                      <a:endParaRPr i="0" sz="900" u="none" strike="noStrike">
                        <a:solidFill>
                          <a:schemeClr val="dk1"/>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(1) Presenta; </a:t>
                      </a:r>
                      <a:endParaRPr i="0" sz="900" u="none" strike="noStrike">
                        <a:solidFill>
                          <a:schemeClr val="dk1"/>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(2) No presenta</a:t>
                      </a:r>
                      <a:endParaRPr>
                        <a:solidFill>
                          <a:schemeClr val="dk1"/>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¿Durante los últimos 12 meses usted fue víctima de alguna lesión? Si; No</a:t>
                      </a:r>
                      <a:endParaRPr>
                        <a:solidFill>
                          <a:schemeClr val="dk1"/>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r>
              <a:tr h="923325">
                <a:tc vMerge="1"/>
                <a:tc>
                  <a:txBody>
                    <a:bodyPr/>
                    <a:lstStyle/>
                    <a:p>
                      <a:pPr indent="0" lvl="0" marL="0" marR="0" rtl="0" algn="l">
                        <a:spcBef>
                          <a:spcPts val="0"/>
                        </a:spcBef>
                        <a:spcAft>
                          <a:spcPts val="0"/>
                        </a:spcAft>
                        <a:buNone/>
                      </a:pPr>
                      <a:r>
                        <a:rPr b="1" i="0" lang="es" sz="900" u="none" strike="noStrike">
                          <a:solidFill>
                            <a:schemeClr val="dk1"/>
                          </a:solidFill>
                          <a:latin typeface="EB Garamond"/>
                          <a:ea typeface="EB Garamond"/>
                          <a:cs typeface="EB Garamond"/>
                          <a:sym typeface="EB Garamond"/>
                        </a:rPr>
                        <a:t>Violencia psicológica: </a:t>
                      </a:r>
                      <a:r>
                        <a:rPr i="0" lang="es" sz="900" u="none" strike="noStrike">
                          <a:solidFill>
                            <a:schemeClr val="dk1"/>
                          </a:solidFill>
                          <a:latin typeface="EB Garamond"/>
                          <a:ea typeface="EB Garamond"/>
                          <a:cs typeface="EB Garamond"/>
                          <a:sym typeface="EB Garamond"/>
                        </a:rPr>
                        <a:t>Cualquier acto u omisión que puede dañar el autoestima, identidad o el desarrollo de alguno de los integrantes. (DESUC, 2014)</a:t>
                      </a:r>
                      <a:endParaRPr b="1" i="0" sz="900" u="none" strike="noStrike">
                        <a:solidFill>
                          <a:schemeClr val="dk1"/>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Presencia de violencia psicológica: </a:t>
                      </a:r>
                      <a:endParaRPr i="0" sz="900" u="none" strike="noStrike">
                        <a:solidFill>
                          <a:schemeClr val="dk1"/>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(1) Presenta; </a:t>
                      </a:r>
                      <a:endParaRPr i="0" sz="900" u="none" strike="noStrike">
                        <a:solidFill>
                          <a:schemeClr val="dk1"/>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(2) No presenta</a:t>
                      </a:r>
                      <a:endParaRPr>
                        <a:solidFill>
                          <a:schemeClr val="dk1"/>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Pensando en los últimos doce meses ¿Cuántas veces le ha sucedido esto? Insulto, menospecio o humillación, control de vida, etc. (Batería de preguntas con frecuencia "Solo una vez a Todos los días)</a:t>
                      </a:r>
                      <a:endParaRPr>
                        <a:solidFill>
                          <a:schemeClr val="dk1"/>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r>
              <a:tr h="1076200">
                <a:tc vMerge="1"/>
                <a:tc>
                  <a:txBody>
                    <a:bodyPr/>
                    <a:lstStyle/>
                    <a:p>
                      <a:pPr indent="0" lvl="0" marL="0" marR="0" rtl="0" algn="l">
                        <a:spcBef>
                          <a:spcPts val="0"/>
                        </a:spcBef>
                        <a:spcAft>
                          <a:spcPts val="0"/>
                        </a:spcAft>
                        <a:buNone/>
                      </a:pPr>
                      <a:r>
                        <a:rPr b="1" i="0" lang="es" sz="900" u="none" strike="noStrike">
                          <a:solidFill>
                            <a:schemeClr val="dk1"/>
                          </a:solidFill>
                          <a:latin typeface="EB Garamond"/>
                          <a:ea typeface="EB Garamond"/>
                          <a:cs typeface="EB Garamond"/>
                          <a:sym typeface="EB Garamond"/>
                        </a:rPr>
                        <a:t>Violencia sexual: </a:t>
                      </a:r>
                      <a:r>
                        <a:rPr i="0" lang="es" sz="900" u="none" strike="noStrike">
                          <a:solidFill>
                            <a:schemeClr val="dk1"/>
                          </a:solidFill>
                          <a:latin typeface="EB Garamond"/>
                          <a:ea typeface="EB Garamond"/>
                          <a:cs typeface="EB Garamond"/>
                          <a:sym typeface="EB Garamond"/>
                        </a:rPr>
                        <a:t>En una relación de poder donde se hace uso de la fuerza, coerción, miedo o intimidación para realizar un acto sexual en contra de la voluntad de un integrante familiar para realizar algo degradante y humillante. (DESUC, 2014; SERNAM, 2009).</a:t>
                      </a:r>
                      <a:endParaRPr b="1" i="0" sz="900" u="none" strike="noStrike">
                        <a:solidFill>
                          <a:schemeClr val="dk1"/>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Presencia de violencia sexual: </a:t>
                      </a:r>
                      <a:endParaRPr i="0" sz="900" u="none" strike="noStrike">
                        <a:solidFill>
                          <a:schemeClr val="dk1"/>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(1) Presenta; </a:t>
                      </a:r>
                      <a:endParaRPr i="0" sz="900" u="none" strike="noStrike">
                        <a:solidFill>
                          <a:schemeClr val="dk1"/>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(2) No presenta</a:t>
                      </a:r>
                      <a:endParaRPr>
                        <a:solidFill>
                          <a:schemeClr val="dk1"/>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marR="0" rtl="0" algn="l">
                        <a:spcBef>
                          <a:spcPts val="0"/>
                        </a:spcBef>
                        <a:spcAft>
                          <a:spcPts val="0"/>
                        </a:spcAft>
                        <a:buNone/>
                      </a:pPr>
                      <a:r>
                        <a:rPr i="0" lang="es" sz="900" u="none" strike="noStrike">
                          <a:solidFill>
                            <a:schemeClr val="dk1"/>
                          </a:solidFill>
                          <a:latin typeface="EB Garamond"/>
                          <a:ea typeface="EB Garamond"/>
                          <a:cs typeface="EB Garamond"/>
                          <a:sym typeface="EB Garamond"/>
                        </a:rPr>
                        <a:t>Pensando en los últimos doce meses ¿Cuántas veces le ha sucedido esto? obligación a tener relaciones sexuales, forzado físicamente a tener relaciones, etc. (Batería de preguntas con frecuencia "Solo una vez a Todos los días)</a:t>
                      </a:r>
                      <a:endParaRPr>
                        <a:solidFill>
                          <a:schemeClr val="dk1"/>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idx="1" type="body"/>
          </p:nvPr>
        </p:nvSpPr>
        <p:spPr>
          <a:xfrm>
            <a:off x="311700" y="1152475"/>
            <a:ext cx="8452200" cy="356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a:solidFill>
                <a:schemeClr val="dk1"/>
              </a:solidFill>
              <a:latin typeface="EB Garamond ExtraBold"/>
              <a:ea typeface="EB Garamond ExtraBold"/>
              <a:cs typeface="EB Garamond ExtraBold"/>
              <a:sym typeface="EB Garamond ExtraBol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Es una característica, que puede fluctuar y cuya variación puede adoptar diferentes valores.</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La variación tiene que ser susceptible de medirse/evaluarse.</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El concepto de variable se aplica a personas, seres vivos, objetos, hechos y fenómenos.</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Reúne lógicamente atributos que son exhaustivos y mutuamente excluyentes.</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Los atributos son cualidades o características que describen un objeto o individuo.</a:t>
            </a:r>
            <a:endParaRPr>
              <a:solidFill>
                <a:schemeClr val="dk1"/>
              </a:solidFill>
              <a:latin typeface="EB Garamond"/>
              <a:ea typeface="EB Garamond"/>
              <a:cs typeface="EB Garamond"/>
              <a:sym typeface="EB Garamond"/>
            </a:endParaRPr>
          </a:p>
        </p:txBody>
      </p:sp>
      <p:sp>
        <p:nvSpPr>
          <p:cNvPr id="194" name="Google Shape;19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Tipos de variables (recordatorio metodología de investigación)</a:t>
            </a:r>
            <a:endParaRPr b="1">
              <a:latin typeface="EB Garamond"/>
              <a:ea typeface="EB Garamond"/>
              <a:cs typeface="EB Garamond"/>
              <a:sym typeface="EB Garamond"/>
            </a:endParaRPr>
          </a:p>
          <a:p>
            <a:pPr indent="0" lvl="0" marL="0" rtl="0" algn="l">
              <a:spcBef>
                <a:spcPts val="0"/>
              </a:spcBef>
              <a:spcAft>
                <a:spcPts val="0"/>
              </a:spcAft>
              <a:buNone/>
            </a:pPr>
            <a:r>
              <a:t/>
            </a:r>
            <a:endParaRPr b="1">
              <a:latin typeface="EB Garamond"/>
              <a:ea typeface="EB Garamond"/>
              <a:cs typeface="EB Garamond"/>
              <a:sym typeface="EB Garamond"/>
            </a:endParaRPr>
          </a:p>
        </p:txBody>
      </p:sp>
      <p:grpSp>
        <p:nvGrpSpPr>
          <p:cNvPr id="195" name="Google Shape;195;p33"/>
          <p:cNvGrpSpPr/>
          <p:nvPr/>
        </p:nvGrpSpPr>
        <p:grpSpPr>
          <a:xfrm>
            <a:off x="891630" y="3445576"/>
            <a:ext cx="7360737" cy="1346827"/>
            <a:chOff x="97526" y="0"/>
            <a:chExt cx="7787492" cy="1773307"/>
          </a:xfrm>
        </p:grpSpPr>
        <p:sp>
          <p:nvSpPr>
            <p:cNvPr id="196" name="Google Shape;196;p33"/>
            <p:cNvSpPr/>
            <p:nvPr/>
          </p:nvSpPr>
          <p:spPr>
            <a:xfrm>
              <a:off x="97526" y="33307"/>
              <a:ext cx="3188700" cy="1740000"/>
            </a:xfrm>
            <a:prstGeom prst="roundRect">
              <a:avLst>
                <a:gd fmla="val 10000" name="adj"/>
              </a:avLst>
            </a:prstGeom>
            <a:solidFill>
              <a:srgbClr val="A64D79"/>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3"/>
            <p:cNvSpPr txBox="1"/>
            <p:nvPr/>
          </p:nvSpPr>
          <p:spPr>
            <a:xfrm>
              <a:off x="249328" y="79656"/>
              <a:ext cx="2885100" cy="1647300"/>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None/>
              </a:pPr>
              <a:r>
                <a:rPr b="1" lang="es" sz="1600">
                  <a:solidFill>
                    <a:srgbClr val="FFFFFF"/>
                  </a:solidFill>
                  <a:latin typeface="EB Garamond"/>
                  <a:ea typeface="EB Garamond"/>
                  <a:cs typeface="EB Garamond"/>
                  <a:sym typeface="EB Garamond"/>
                </a:rPr>
                <a:t>Variable: </a:t>
              </a:r>
              <a:r>
                <a:rPr lang="es" sz="1600">
                  <a:solidFill>
                    <a:srgbClr val="FFFFFF"/>
                  </a:solidFill>
                  <a:latin typeface="EB Garamond"/>
                  <a:ea typeface="EB Garamond"/>
                  <a:cs typeface="EB Garamond"/>
                  <a:sym typeface="EB Garamond"/>
                </a:rPr>
                <a:t>conjunto que reúne lógicamente atributos.</a:t>
              </a:r>
              <a:endParaRPr sz="1200">
                <a:latin typeface="EB Garamond"/>
                <a:ea typeface="EB Garamond"/>
                <a:cs typeface="EB Garamond"/>
                <a:sym typeface="EB Garamond"/>
              </a:endParaRPr>
            </a:p>
            <a:p>
              <a:pPr indent="0" lvl="0" marL="0" marR="0" rtl="0" algn="l">
                <a:lnSpc>
                  <a:spcPct val="90000"/>
                </a:lnSpc>
                <a:spcBef>
                  <a:spcPts val="630"/>
                </a:spcBef>
                <a:spcAft>
                  <a:spcPts val="0"/>
                </a:spcAft>
                <a:buNone/>
              </a:pPr>
              <a:r>
                <a:rPr lang="es" sz="1300">
                  <a:solidFill>
                    <a:srgbClr val="FFFFFF"/>
                  </a:solidFill>
                  <a:latin typeface="EB Garamond"/>
                  <a:ea typeface="EB Garamond"/>
                  <a:cs typeface="EB Garamond"/>
                  <a:sym typeface="EB Garamond"/>
                </a:rPr>
                <a:t>1. Exhaustivos</a:t>
              </a:r>
              <a:endParaRPr sz="1300">
                <a:latin typeface="EB Garamond"/>
                <a:ea typeface="EB Garamond"/>
                <a:cs typeface="EB Garamond"/>
                <a:sym typeface="EB Garamond"/>
              </a:endParaRPr>
            </a:p>
            <a:p>
              <a:pPr indent="0" lvl="0" marL="0" marR="0" rtl="0" algn="l">
                <a:lnSpc>
                  <a:spcPct val="90000"/>
                </a:lnSpc>
                <a:spcBef>
                  <a:spcPts val="490"/>
                </a:spcBef>
                <a:spcAft>
                  <a:spcPts val="0"/>
                </a:spcAft>
                <a:buNone/>
              </a:pPr>
              <a:r>
                <a:rPr lang="es" sz="1300">
                  <a:solidFill>
                    <a:srgbClr val="FFFFFF"/>
                  </a:solidFill>
                  <a:latin typeface="EB Garamond"/>
                  <a:ea typeface="EB Garamond"/>
                  <a:cs typeface="EB Garamond"/>
                  <a:sym typeface="EB Garamond"/>
                </a:rPr>
                <a:t>2. Mutuamente excluyentes</a:t>
              </a:r>
              <a:endParaRPr sz="1300">
                <a:latin typeface="EB Garamond"/>
                <a:ea typeface="EB Garamond"/>
                <a:cs typeface="EB Garamond"/>
                <a:sym typeface="EB Garamond"/>
              </a:endParaRPr>
            </a:p>
            <a:p>
              <a:pPr indent="0" lvl="0" marL="0" marR="0" rtl="0" algn="l">
                <a:lnSpc>
                  <a:spcPct val="90000"/>
                </a:lnSpc>
                <a:spcBef>
                  <a:spcPts val="490"/>
                </a:spcBef>
                <a:spcAft>
                  <a:spcPts val="0"/>
                </a:spcAft>
                <a:buNone/>
              </a:pPr>
              <a:r>
                <a:rPr lang="es" sz="1300">
                  <a:solidFill>
                    <a:srgbClr val="FFFFFF"/>
                  </a:solidFill>
                  <a:latin typeface="EB Garamond"/>
                  <a:ea typeface="EB Garamond"/>
                  <a:cs typeface="EB Garamond"/>
                  <a:sym typeface="EB Garamond"/>
                </a:rPr>
                <a:t>3. Precisos</a:t>
              </a:r>
              <a:endParaRPr sz="1300">
                <a:latin typeface="EB Garamond"/>
                <a:ea typeface="EB Garamond"/>
                <a:cs typeface="EB Garamond"/>
                <a:sym typeface="EB Garamond"/>
              </a:endParaRPr>
            </a:p>
          </p:txBody>
        </p:sp>
        <p:sp>
          <p:nvSpPr>
            <p:cNvPr id="198" name="Google Shape;198;p33"/>
            <p:cNvSpPr/>
            <p:nvPr/>
          </p:nvSpPr>
          <p:spPr>
            <a:xfrm>
              <a:off x="3614865" y="479262"/>
              <a:ext cx="696300" cy="814500"/>
            </a:xfrm>
            <a:prstGeom prst="rightArrow">
              <a:avLst>
                <a:gd fmla="val 60000" name="adj1"/>
                <a:gd fmla="val 50000" name="adj2"/>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3"/>
            <p:cNvSpPr txBox="1"/>
            <p:nvPr/>
          </p:nvSpPr>
          <p:spPr>
            <a:xfrm>
              <a:off x="3614865" y="642190"/>
              <a:ext cx="487500" cy="48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sz="3500">
                <a:solidFill>
                  <a:srgbClr val="FFFFFF"/>
                </a:solidFill>
                <a:latin typeface="Calibri"/>
                <a:ea typeface="Calibri"/>
                <a:cs typeface="Calibri"/>
                <a:sym typeface="Calibri"/>
              </a:endParaRPr>
            </a:p>
          </p:txBody>
        </p:sp>
        <p:sp>
          <p:nvSpPr>
            <p:cNvPr id="200" name="Google Shape;200;p33"/>
            <p:cNvSpPr/>
            <p:nvPr/>
          </p:nvSpPr>
          <p:spPr>
            <a:xfrm>
              <a:off x="4600318" y="0"/>
              <a:ext cx="3284700" cy="1773300"/>
            </a:xfrm>
            <a:prstGeom prst="roundRect">
              <a:avLst>
                <a:gd fmla="val 10000" name="adj"/>
              </a:avLst>
            </a:prstGeom>
            <a:solidFill>
              <a:srgbClr val="FFC000"/>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3"/>
            <p:cNvSpPr txBox="1"/>
            <p:nvPr/>
          </p:nvSpPr>
          <p:spPr>
            <a:xfrm>
              <a:off x="4859474" y="160234"/>
              <a:ext cx="2885100" cy="1452600"/>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None/>
              </a:pPr>
              <a:r>
                <a:rPr b="1" lang="es" sz="1600">
                  <a:solidFill>
                    <a:srgbClr val="595959"/>
                  </a:solidFill>
                  <a:latin typeface="EB Garamond"/>
                  <a:ea typeface="EB Garamond"/>
                  <a:cs typeface="EB Garamond"/>
                  <a:sym typeface="EB Garamond"/>
                </a:rPr>
                <a:t>Atributo: </a:t>
              </a:r>
              <a:r>
                <a:rPr lang="es" sz="1600">
                  <a:solidFill>
                    <a:srgbClr val="595959"/>
                  </a:solidFill>
                  <a:latin typeface="EB Garamond"/>
                  <a:ea typeface="EB Garamond"/>
                  <a:cs typeface="EB Garamond"/>
                  <a:sym typeface="EB Garamond"/>
                </a:rPr>
                <a:t>cualidad o característica que describe a un objeto o individuo.</a:t>
              </a:r>
              <a:endParaRPr sz="1200">
                <a:solidFill>
                  <a:srgbClr val="595959"/>
                </a:solidFill>
                <a:latin typeface="EB Garamond"/>
                <a:ea typeface="EB Garamond"/>
                <a:cs typeface="EB Garamond"/>
                <a:sym typeface="EB Garamond"/>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Tipos de</a:t>
            </a:r>
            <a:r>
              <a:rPr b="1" lang="es">
                <a:latin typeface="EB Garamond"/>
                <a:ea typeface="EB Garamond"/>
                <a:cs typeface="EB Garamond"/>
                <a:sym typeface="EB Garamond"/>
              </a:rPr>
              <a:t> variables</a:t>
            </a:r>
            <a:endParaRPr b="1">
              <a:latin typeface="EB Garamond"/>
              <a:ea typeface="EB Garamond"/>
              <a:cs typeface="EB Garamond"/>
              <a:sym typeface="EB Garamond"/>
            </a:endParaRPr>
          </a:p>
        </p:txBody>
      </p:sp>
      <p:sp>
        <p:nvSpPr>
          <p:cNvPr id="207" name="Google Shape;20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08" name="Google Shape;208;p34"/>
          <p:cNvSpPr/>
          <p:nvPr/>
        </p:nvSpPr>
        <p:spPr>
          <a:xfrm>
            <a:off x="508182" y="2007071"/>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Categóricas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a:t>
            </a:r>
            <a:r>
              <a:rPr lang="es" sz="1500">
                <a:solidFill>
                  <a:schemeClr val="lt1"/>
                </a:solidFill>
                <a:latin typeface="EB Garamond"/>
                <a:ea typeface="EB Garamond"/>
                <a:cs typeface="EB Garamond"/>
                <a:sym typeface="EB Garamond"/>
              </a:rPr>
              <a:t>No métricas)</a:t>
            </a:r>
            <a:endParaRPr sz="1500">
              <a:solidFill>
                <a:srgbClr val="FFFFFF"/>
              </a:solidFill>
              <a:latin typeface="EB Garamond"/>
              <a:ea typeface="EB Garamond"/>
              <a:cs typeface="EB Garamond"/>
              <a:sym typeface="EB Garamond"/>
            </a:endParaRPr>
          </a:p>
        </p:txBody>
      </p:sp>
      <p:sp>
        <p:nvSpPr>
          <p:cNvPr id="209" name="Google Shape;209;p34"/>
          <p:cNvSpPr/>
          <p:nvPr/>
        </p:nvSpPr>
        <p:spPr>
          <a:xfrm>
            <a:off x="508182" y="3428438"/>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s" sz="1500">
                <a:solidFill>
                  <a:schemeClr val="lt1"/>
                </a:solidFill>
                <a:latin typeface="EB Garamond"/>
                <a:ea typeface="EB Garamond"/>
                <a:cs typeface="EB Garamond"/>
                <a:sym typeface="EB Garamond"/>
              </a:rPr>
              <a:t>Numéricas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a:t>
            </a:r>
            <a:r>
              <a:rPr lang="es" sz="1500">
                <a:solidFill>
                  <a:schemeClr val="lt1"/>
                </a:solidFill>
                <a:latin typeface="EB Garamond"/>
                <a:ea typeface="EB Garamond"/>
                <a:cs typeface="EB Garamond"/>
                <a:sym typeface="EB Garamond"/>
              </a:rPr>
              <a:t>Métricas</a:t>
            </a:r>
            <a:r>
              <a:rPr lang="es" sz="1500">
                <a:solidFill>
                  <a:srgbClr val="FFFFFF"/>
                </a:solidFill>
                <a:latin typeface="EB Garamond"/>
                <a:ea typeface="EB Garamond"/>
                <a:cs typeface="EB Garamond"/>
                <a:sym typeface="EB Garamond"/>
              </a:rPr>
              <a:t>)</a:t>
            </a:r>
            <a:endParaRPr sz="1500">
              <a:solidFill>
                <a:srgbClr val="FFFFFF"/>
              </a:solidFill>
              <a:latin typeface="EB Garamond"/>
              <a:ea typeface="EB Garamond"/>
              <a:cs typeface="EB Garamond"/>
              <a:sym typeface="EB Garamond"/>
            </a:endParaRPr>
          </a:p>
        </p:txBody>
      </p:sp>
      <p:sp>
        <p:nvSpPr>
          <p:cNvPr id="210" name="Google Shape;210;p34"/>
          <p:cNvSpPr/>
          <p:nvPr/>
        </p:nvSpPr>
        <p:spPr>
          <a:xfrm>
            <a:off x="2699481" y="2047942"/>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500">
              <a:latin typeface="EB Garamond"/>
              <a:ea typeface="EB Garamond"/>
              <a:cs typeface="EB Garamond"/>
              <a:sym typeface="EB Garamond"/>
            </a:endParaRPr>
          </a:p>
        </p:txBody>
      </p:sp>
      <p:sp>
        <p:nvSpPr>
          <p:cNvPr id="211" name="Google Shape;211;p34"/>
          <p:cNvSpPr/>
          <p:nvPr/>
        </p:nvSpPr>
        <p:spPr>
          <a:xfrm>
            <a:off x="2699481" y="275862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500">
              <a:latin typeface="EB Garamond"/>
              <a:ea typeface="EB Garamond"/>
              <a:cs typeface="EB Garamond"/>
              <a:sym typeface="EB Garamond"/>
            </a:endParaRPr>
          </a:p>
        </p:txBody>
      </p:sp>
      <p:sp>
        <p:nvSpPr>
          <p:cNvPr id="212" name="Google Shape;212;p34"/>
          <p:cNvSpPr/>
          <p:nvPr/>
        </p:nvSpPr>
        <p:spPr>
          <a:xfrm>
            <a:off x="2699481" y="346931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500">
              <a:latin typeface="EB Garamond"/>
              <a:ea typeface="EB Garamond"/>
              <a:cs typeface="EB Garamond"/>
              <a:sym typeface="EB Garamond"/>
            </a:endParaRPr>
          </a:p>
        </p:txBody>
      </p:sp>
      <p:sp>
        <p:nvSpPr>
          <p:cNvPr id="213" name="Google Shape;213;p34"/>
          <p:cNvSpPr/>
          <p:nvPr/>
        </p:nvSpPr>
        <p:spPr>
          <a:xfrm>
            <a:off x="2699481" y="416602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500">
              <a:latin typeface="EB Garamond"/>
              <a:ea typeface="EB Garamond"/>
              <a:cs typeface="EB Garamond"/>
              <a:sym typeface="EB Garamond"/>
            </a:endParaRPr>
          </a:p>
        </p:txBody>
      </p:sp>
      <p:sp>
        <p:nvSpPr>
          <p:cNvPr id="214" name="Google Shape;214;p34"/>
          <p:cNvSpPr txBox="1"/>
          <p:nvPr/>
        </p:nvSpPr>
        <p:spPr>
          <a:xfrm>
            <a:off x="508174" y="1361250"/>
            <a:ext cx="1917600" cy="323100"/>
          </a:xfrm>
          <a:prstGeom prst="rect">
            <a:avLst/>
          </a:prstGeom>
          <a:solidFill>
            <a:srgbClr val="C27BA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1"/>
                </a:solidFill>
                <a:latin typeface="EB Garamond"/>
                <a:ea typeface="EB Garamond"/>
                <a:cs typeface="EB Garamond"/>
                <a:sym typeface="EB Garamond"/>
              </a:rPr>
              <a:t>TIPOS</a:t>
            </a:r>
            <a:endParaRPr sz="1500">
              <a:solidFill>
                <a:schemeClr val="dk1"/>
              </a:solidFill>
              <a:latin typeface="EB Garamond"/>
              <a:ea typeface="EB Garamond"/>
              <a:cs typeface="EB Garamond"/>
              <a:sym typeface="EB Garamond"/>
            </a:endParaRPr>
          </a:p>
        </p:txBody>
      </p:sp>
      <p:sp>
        <p:nvSpPr>
          <p:cNvPr id="215" name="Google Shape;215;p34"/>
          <p:cNvSpPr txBox="1"/>
          <p:nvPr/>
        </p:nvSpPr>
        <p:spPr>
          <a:xfrm>
            <a:off x="2699475" y="1361250"/>
            <a:ext cx="1917600" cy="554100"/>
          </a:xfrm>
          <a:prstGeom prst="rect">
            <a:avLst/>
          </a:prstGeom>
          <a:solidFill>
            <a:srgbClr val="AAD5D4"/>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1"/>
                </a:solidFill>
                <a:latin typeface="EB Garamond"/>
                <a:ea typeface="EB Garamond"/>
                <a:cs typeface="EB Garamond"/>
                <a:sym typeface="EB Garamond"/>
              </a:rPr>
              <a:t>NIVEL DE MEDICIÓN</a:t>
            </a:r>
            <a:endParaRPr sz="1500">
              <a:solidFill>
                <a:schemeClr val="dk1"/>
              </a:solidFill>
              <a:latin typeface="EB Garamond"/>
              <a:ea typeface="EB Garamond"/>
              <a:cs typeface="EB Garamond"/>
              <a:sym typeface="EB Garamond"/>
            </a:endParaRPr>
          </a:p>
        </p:txBody>
      </p:sp>
      <p:sp>
        <p:nvSpPr>
          <p:cNvPr id="216" name="Google Shape;216;p34"/>
          <p:cNvSpPr/>
          <p:nvPr/>
        </p:nvSpPr>
        <p:spPr>
          <a:xfrm>
            <a:off x="6871250" y="2055750"/>
            <a:ext cx="1917600" cy="6564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Dependiente</a:t>
            </a:r>
            <a:endParaRPr sz="1500">
              <a:latin typeface="EB Garamond"/>
              <a:ea typeface="EB Garamond"/>
              <a:cs typeface="EB Garamond"/>
              <a:sym typeface="EB Garamond"/>
            </a:endParaRPr>
          </a:p>
        </p:txBody>
      </p:sp>
      <p:sp>
        <p:nvSpPr>
          <p:cNvPr id="217" name="Google Shape;217;p34"/>
          <p:cNvSpPr/>
          <p:nvPr/>
        </p:nvSpPr>
        <p:spPr>
          <a:xfrm>
            <a:off x="6871249" y="3013767"/>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Independiente</a:t>
            </a:r>
            <a:endParaRPr sz="1500">
              <a:latin typeface="EB Garamond"/>
              <a:ea typeface="EB Garamond"/>
              <a:cs typeface="EB Garamond"/>
              <a:sym typeface="EB Garamond"/>
            </a:endParaRPr>
          </a:p>
        </p:txBody>
      </p:sp>
      <p:sp>
        <p:nvSpPr>
          <p:cNvPr id="218" name="Google Shape;218;p34"/>
          <p:cNvSpPr/>
          <p:nvPr/>
        </p:nvSpPr>
        <p:spPr>
          <a:xfrm>
            <a:off x="6871249" y="4004174"/>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Control</a:t>
            </a:r>
            <a:endParaRPr sz="1500">
              <a:latin typeface="EB Garamond"/>
              <a:ea typeface="EB Garamond"/>
              <a:cs typeface="EB Garamond"/>
              <a:sym typeface="EB Garamond"/>
            </a:endParaRPr>
          </a:p>
        </p:txBody>
      </p:sp>
      <p:sp>
        <p:nvSpPr>
          <p:cNvPr id="219" name="Google Shape;219;p34"/>
          <p:cNvSpPr txBox="1"/>
          <p:nvPr/>
        </p:nvSpPr>
        <p:spPr>
          <a:xfrm>
            <a:off x="6871250" y="1361250"/>
            <a:ext cx="1917600" cy="554100"/>
          </a:xfrm>
          <a:prstGeom prst="rect">
            <a:avLst/>
          </a:prstGeom>
          <a:solidFill>
            <a:srgbClr val="A5A5A5"/>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1"/>
                </a:solidFill>
                <a:latin typeface="EB Garamond"/>
                <a:ea typeface="EB Garamond"/>
                <a:cs typeface="EB Garamond"/>
                <a:sym typeface="EB Garamond"/>
              </a:rPr>
              <a:t>FUNCIÓN EN LA INVESTIGACIÓN</a:t>
            </a:r>
            <a:endParaRPr sz="1500">
              <a:solidFill>
                <a:schemeClr val="dk1"/>
              </a:solidFill>
              <a:latin typeface="EB Garamond"/>
              <a:ea typeface="EB Garamond"/>
              <a:cs typeface="EB Garamond"/>
              <a:sym typeface="EB Garamond"/>
            </a:endParaRPr>
          </a:p>
        </p:txBody>
      </p:sp>
      <p:sp>
        <p:nvSpPr>
          <p:cNvPr id="220" name="Google Shape;220;p34"/>
          <p:cNvSpPr/>
          <p:nvPr/>
        </p:nvSpPr>
        <p:spPr>
          <a:xfrm>
            <a:off x="4801325" y="2774075"/>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1"/>
                </a:solidFill>
                <a:latin typeface="EB Garamond"/>
                <a:ea typeface="EB Garamond"/>
                <a:cs typeface="EB Garamond"/>
                <a:sym typeface="EB Garamond"/>
              </a:rPr>
              <a:t>Continua</a:t>
            </a:r>
            <a:endParaRPr sz="1500">
              <a:solidFill>
                <a:schemeClr val="dk1"/>
              </a:solidFill>
              <a:latin typeface="EB Garamond"/>
              <a:ea typeface="EB Garamond"/>
              <a:cs typeface="EB Garamond"/>
              <a:sym typeface="EB Garamond"/>
            </a:endParaRPr>
          </a:p>
        </p:txBody>
      </p:sp>
      <p:sp>
        <p:nvSpPr>
          <p:cNvPr id="221" name="Google Shape;221;p34"/>
          <p:cNvSpPr/>
          <p:nvPr/>
        </p:nvSpPr>
        <p:spPr>
          <a:xfrm>
            <a:off x="4801325" y="2070450"/>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1"/>
                </a:solidFill>
                <a:latin typeface="EB Garamond"/>
                <a:ea typeface="EB Garamond"/>
                <a:cs typeface="EB Garamond"/>
                <a:sym typeface="EB Garamond"/>
              </a:rPr>
              <a:t>Discreta</a:t>
            </a:r>
            <a:endParaRPr sz="1500">
              <a:solidFill>
                <a:schemeClr val="dk1"/>
              </a:solidFill>
              <a:latin typeface="EB Garamond"/>
              <a:ea typeface="EB Garamond"/>
              <a:cs typeface="EB Garamond"/>
              <a:sym typeface="EB Garamond"/>
            </a:endParaRPr>
          </a:p>
        </p:txBody>
      </p:sp>
      <p:sp>
        <p:nvSpPr>
          <p:cNvPr id="222" name="Google Shape;222;p34"/>
          <p:cNvSpPr txBox="1"/>
          <p:nvPr/>
        </p:nvSpPr>
        <p:spPr>
          <a:xfrm>
            <a:off x="4801325" y="1361250"/>
            <a:ext cx="1917600" cy="554100"/>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1"/>
                </a:solidFill>
                <a:latin typeface="EB Garamond"/>
                <a:ea typeface="EB Garamond"/>
                <a:cs typeface="EB Garamond"/>
                <a:sym typeface="EB Garamond"/>
              </a:rPr>
              <a:t>ESCALA DE MEDICIÓN</a:t>
            </a:r>
            <a:endParaRPr sz="1500">
              <a:solidFill>
                <a:schemeClr val="dk1"/>
              </a:solidFill>
              <a:latin typeface="EB Garamond"/>
              <a:ea typeface="EB Garamond"/>
              <a:cs typeface="EB Garamond"/>
              <a:sym typeface="EB Garamo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Tipos de variables</a:t>
            </a:r>
            <a:endParaRPr b="1">
              <a:latin typeface="EB Garamond"/>
              <a:ea typeface="EB Garamond"/>
              <a:cs typeface="EB Garamond"/>
              <a:sym typeface="EB Garamond"/>
            </a:endParaRPr>
          </a:p>
        </p:txBody>
      </p:sp>
      <p:sp>
        <p:nvSpPr>
          <p:cNvPr id="228" name="Google Shape;228;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29" name="Google Shape;229;p35"/>
          <p:cNvSpPr/>
          <p:nvPr/>
        </p:nvSpPr>
        <p:spPr>
          <a:xfrm>
            <a:off x="292100" y="1268016"/>
            <a:ext cx="8382000" cy="1818000"/>
          </a:xfrm>
          <a:prstGeom prst="roundRect">
            <a:avLst>
              <a:gd fmla="val 16667" name="adj"/>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EB Garamond"/>
              <a:ea typeface="EB Garamond"/>
              <a:cs typeface="EB Garamond"/>
              <a:sym typeface="EB Garamond"/>
            </a:endParaRPr>
          </a:p>
        </p:txBody>
      </p:sp>
      <p:sp>
        <p:nvSpPr>
          <p:cNvPr id="230" name="Google Shape;230;p35"/>
          <p:cNvSpPr/>
          <p:nvPr/>
        </p:nvSpPr>
        <p:spPr>
          <a:xfrm>
            <a:off x="508182" y="1562571"/>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800">
                <a:solidFill>
                  <a:srgbClr val="FFFFFF"/>
                </a:solidFill>
                <a:latin typeface="EB Garamond"/>
                <a:ea typeface="EB Garamond"/>
                <a:cs typeface="EB Garamond"/>
                <a:sym typeface="EB Garamond"/>
              </a:rPr>
              <a:t>Categórica</a:t>
            </a:r>
            <a:r>
              <a:rPr lang="es" sz="1800">
                <a:solidFill>
                  <a:srgbClr val="FFFFFF"/>
                </a:solidFill>
                <a:latin typeface="EB Garamond"/>
                <a:ea typeface="EB Garamond"/>
                <a:cs typeface="EB Garamond"/>
                <a:sym typeface="EB Garamond"/>
              </a:rPr>
              <a:t> </a:t>
            </a:r>
            <a:endParaRPr>
              <a:latin typeface="EB Garamond"/>
              <a:ea typeface="EB Garamond"/>
              <a:cs typeface="EB Garamond"/>
              <a:sym typeface="EB Garamond"/>
            </a:endParaRPr>
          </a:p>
          <a:p>
            <a:pPr indent="0" lvl="0" marL="0" marR="0" rtl="0" algn="ctr">
              <a:spcBef>
                <a:spcPts val="0"/>
              </a:spcBef>
              <a:spcAft>
                <a:spcPts val="0"/>
              </a:spcAft>
              <a:buNone/>
            </a:pPr>
            <a:r>
              <a:rPr lang="es" sz="1400">
                <a:solidFill>
                  <a:srgbClr val="FFFFFF"/>
                </a:solidFill>
                <a:latin typeface="EB Garamond"/>
                <a:ea typeface="EB Garamond"/>
                <a:cs typeface="EB Garamond"/>
                <a:sym typeface="EB Garamond"/>
              </a:rPr>
              <a:t>(</a:t>
            </a:r>
            <a:r>
              <a:rPr lang="es">
                <a:solidFill>
                  <a:srgbClr val="FFFFFF"/>
                </a:solidFill>
                <a:latin typeface="EB Garamond"/>
                <a:ea typeface="EB Garamond"/>
                <a:cs typeface="EB Garamond"/>
                <a:sym typeface="EB Garamond"/>
              </a:rPr>
              <a:t>No métrica</a:t>
            </a:r>
            <a:r>
              <a:rPr lang="es" sz="1400">
                <a:solidFill>
                  <a:srgbClr val="FFFFFF"/>
                </a:solidFill>
                <a:latin typeface="EB Garamond"/>
                <a:ea typeface="EB Garamond"/>
                <a:cs typeface="EB Garamond"/>
                <a:sym typeface="EB Garamond"/>
              </a:rPr>
              <a:t>)</a:t>
            </a:r>
            <a:endParaRPr>
              <a:latin typeface="EB Garamond"/>
              <a:ea typeface="EB Garamond"/>
              <a:cs typeface="EB Garamond"/>
              <a:sym typeface="EB Garamond"/>
            </a:endParaRPr>
          </a:p>
        </p:txBody>
      </p:sp>
      <p:sp>
        <p:nvSpPr>
          <p:cNvPr id="231" name="Google Shape;231;p35"/>
          <p:cNvSpPr/>
          <p:nvPr/>
        </p:nvSpPr>
        <p:spPr>
          <a:xfrm>
            <a:off x="292100" y="3086100"/>
            <a:ext cx="8382000" cy="1818000"/>
          </a:xfrm>
          <a:prstGeom prst="roundRect">
            <a:avLst>
              <a:gd fmla="val 16667" name="adj"/>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EB Garamond"/>
              <a:ea typeface="EB Garamond"/>
              <a:cs typeface="EB Garamond"/>
              <a:sym typeface="EB Garamond"/>
            </a:endParaRPr>
          </a:p>
        </p:txBody>
      </p:sp>
      <p:sp>
        <p:nvSpPr>
          <p:cNvPr id="232" name="Google Shape;232;p35"/>
          <p:cNvSpPr/>
          <p:nvPr/>
        </p:nvSpPr>
        <p:spPr>
          <a:xfrm>
            <a:off x="508182" y="3428438"/>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800">
                <a:solidFill>
                  <a:srgbClr val="FFFFFF"/>
                </a:solidFill>
                <a:latin typeface="EB Garamond"/>
                <a:ea typeface="EB Garamond"/>
                <a:cs typeface="EB Garamond"/>
                <a:sym typeface="EB Garamond"/>
              </a:rPr>
              <a:t>Numérica</a:t>
            </a:r>
            <a:endParaRPr>
              <a:latin typeface="EB Garamond"/>
              <a:ea typeface="EB Garamond"/>
              <a:cs typeface="EB Garamond"/>
              <a:sym typeface="EB Garamond"/>
            </a:endParaRPr>
          </a:p>
          <a:p>
            <a:pPr indent="0" lvl="0" marL="0" marR="0" rtl="0" algn="ctr">
              <a:spcBef>
                <a:spcPts val="0"/>
              </a:spcBef>
              <a:spcAft>
                <a:spcPts val="0"/>
              </a:spcAft>
              <a:buNone/>
            </a:pPr>
            <a:r>
              <a:rPr lang="es" sz="1400">
                <a:solidFill>
                  <a:srgbClr val="FFFFFF"/>
                </a:solidFill>
                <a:latin typeface="EB Garamond"/>
                <a:ea typeface="EB Garamond"/>
                <a:cs typeface="EB Garamond"/>
                <a:sym typeface="EB Garamond"/>
              </a:rPr>
              <a:t>(</a:t>
            </a:r>
            <a:r>
              <a:rPr lang="es">
                <a:solidFill>
                  <a:srgbClr val="FFFFFF"/>
                </a:solidFill>
                <a:latin typeface="EB Garamond"/>
                <a:ea typeface="EB Garamond"/>
                <a:cs typeface="EB Garamond"/>
                <a:sym typeface="EB Garamond"/>
              </a:rPr>
              <a:t>Métrica</a:t>
            </a:r>
            <a:r>
              <a:rPr lang="es" sz="1400">
                <a:solidFill>
                  <a:srgbClr val="FFFFFF"/>
                </a:solidFill>
                <a:latin typeface="EB Garamond"/>
                <a:ea typeface="EB Garamond"/>
                <a:cs typeface="EB Garamond"/>
                <a:sym typeface="EB Garamond"/>
              </a:rPr>
              <a:t>)</a:t>
            </a:r>
            <a:endParaRPr>
              <a:latin typeface="EB Garamond"/>
              <a:ea typeface="EB Garamond"/>
              <a:cs typeface="EB Garamond"/>
              <a:sym typeface="EB Garamond"/>
            </a:endParaRPr>
          </a:p>
        </p:txBody>
      </p:sp>
      <p:sp>
        <p:nvSpPr>
          <p:cNvPr id="233" name="Google Shape;233;p35"/>
          <p:cNvSpPr txBox="1"/>
          <p:nvPr/>
        </p:nvSpPr>
        <p:spPr>
          <a:xfrm>
            <a:off x="3009901" y="1562571"/>
            <a:ext cx="25401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800">
                <a:solidFill>
                  <a:schemeClr val="dk1"/>
                </a:solidFill>
                <a:latin typeface="EB Garamond"/>
                <a:ea typeface="EB Garamond"/>
                <a:cs typeface="EB Garamond"/>
                <a:sym typeface="EB Garamond"/>
              </a:rPr>
              <a:t>Variables que son observables pero no medibles en una escala, es una “</a:t>
            </a:r>
            <a:r>
              <a:rPr i="1" lang="es" sz="1800">
                <a:solidFill>
                  <a:schemeClr val="dk1"/>
                </a:solidFill>
                <a:latin typeface="EB Garamond"/>
                <a:ea typeface="EB Garamond"/>
                <a:cs typeface="EB Garamond"/>
                <a:sym typeface="EB Garamond"/>
              </a:rPr>
              <a:t>categoría”</a:t>
            </a:r>
            <a:r>
              <a:rPr lang="es" sz="1800">
                <a:solidFill>
                  <a:schemeClr val="dk1"/>
                </a:solidFill>
                <a:latin typeface="EB Garamond"/>
                <a:ea typeface="EB Garamond"/>
                <a:cs typeface="EB Garamond"/>
                <a:sym typeface="EB Garamond"/>
              </a:rPr>
              <a:t>.</a:t>
            </a:r>
            <a:endParaRPr>
              <a:solidFill>
                <a:schemeClr val="dk1"/>
              </a:solidFill>
              <a:latin typeface="EB Garamond"/>
              <a:ea typeface="EB Garamond"/>
              <a:cs typeface="EB Garamond"/>
              <a:sym typeface="EB Garamond"/>
            </a:endParaRPr>
          </a:p>
        </p:txBody>
      </p:sp>
      <p:sp>
        <p:nvSpPr>
          <p:cNvPr id="234" name="Google Shape;234;p35"/>
          <p:cNvSpPr txBox="1"/>
          <p:nvPr/>
        </p:nvSpPr>
        <p:spPr>
          <a:xfrm>
            <a:off x="3009901" y="3585640"/>
            <a:ext cx="25401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800">
                <a:solidFill>
                  <a:schemeClr val="dk1"/>
                </a:solidFill>
                <a:latin typeface="EB Garamond"/>
                <a:ea typeface="EB Garamond"/>
                <a:cs typeface="EB Garamond"/>
                <a:sym typeface="EB Garamond"/>
              </a:rPr>
              <a:t>Variables que son medibles en una escala, es </a:t>
            </a:r>
            <a:r>
              <a:rPr i="1" lang="es" sz="1800">
                <a:solidFill>
                  <a:schemeClr val="dk1"/>
                </a:solidFill>
                <a:latin typeface="EB Garamond"/>
                <a:ea typeface="EB Garamond"/>
                <a:cs typeface="EB Garamond"/>
                <a:sym typeface="EB Garamond"/>
              </a:rPr>
              <a:t>escalar</a:t>
            </a:r>
            <a:r>
              <a:rPr lang="es" sz="1800">
                <a:solidFill>
                  <a:schemeClr val="dk1"/>
                </a:solidFill>
                <a:latin typeface="EB Garamond"/>
                <a:ea typeface="EB Garamond"/>
                <a:cs typeface="EB Garamond"/>
                <a:sym typeface="EB Garamond"/>
              </a:rPr>
              <a:t>.</a:t>
            </a:r>
            <a:endParaRPr>
              <a:solidFill>
                <a:schemeClr val="dk1"/>
              </a:solidFill>
              <a:latin typeface="EB Garamond"/>
              <a:ea typeface="EB Garamond"/>
              <a:cs typeface="EB Garamond"/>
              <a:sym typeface="EB Garamond"/>
            </a:endParaRPr>
          </a:p>
        </p:txBody>
      </p:sp>
      <p:sp>
        <p:nvSpPr>
          <p:cNvPr id="235" name="Google Shape;235;p35"/>
          <p:cNvSpPr txBox="1"/>
          <p:nvPr/>
        </p:nvSpPr>
        <p:spPr>
          <a:xfrm>
            <a:off x="6070240" y="1362516"/>
            <a:ext cx="2883000" cy="16008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Sexo</a:t>
            </a:r>
            <a:endParaRPr>
              <a:solidFill>
                <a:schemeClr val="dk1"/>
              </a:solidFill>
              <a:latin typeface="EB Garamond"/>
              <a:ea typeface="EB Garamond"/>
              <a:cs typeface="EB Garamond"/>
              <a:sym typeface="EB Garamond"/>
            </a:endParaRPr>
          </a:p>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Estado civil</a:t>
            </a:r>
            <a:endParaRPr>
              <a:solidFill>
                <a:schemeClr val="dk1"/>
              </a:solidFill>
              <a:latin typeface="EB Garamond"/>
              <a:ea typeface="EB Garamond"/>
              <a:cs typeface="EB Garamond"/>
              <a:sym typeface="EB Garamond"/>
            </a:endParaRPr>
          </a:p>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Religión</a:t>
            </a:r>
            <a:endParaRPr>
              <a:solidFill>
                <a:schemeClr val="dk1"/>
              </a:solidFill>
              <a:latin typeface="EB Garamond"/>
              <a:ea typeface="EB Garamond"/>
              <a:cs typeface="EB Garamond"/>
              <a:sym typeface="EB Garamond"/>
            </a:endParaRPr>
          </a:p>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Nivel educativo</a:t>
            </a:r>
            <a:endParaRPr>
              <a:solidFill>
                <a:schemeClr val="dk1"/>
              </a:solidFill>
              <a:latin typeface="EB Garamond"/>
              <a:ea typeface="EB Garamond"/>
              <a:cs typeface="EB Garamond"/>
              <a:sym typeface="EB Garamond"/>
            </a:endParaRPr>
          </a:p>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Carrera universitaria</a:t>
            </a:r>
            <a:endParaRPr>
              <a:solidFill>
                <a:schemeClr val="dk1"/>
              </a:solidFill>
              <a:latin typeface="EB Garamond"/>
              <a:ea typeface="EB Garamond"/>
              <a:cs typeface="EB Garamond"/>
              <a:sym typeface="EB Garamond"/>
            </a:endParaRPr>
          </a:p>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¿Realizó el retiro del 10%?</a:t>
            </a:r>
            <a:endParaRPr>
              <a:solidFill>
                <a:schemeClr val="dk1"/>
              </a:solidFill>
              <a:latin typeface="EB Garamond"/>
              <a:ea typeface="EB Garamond"/>
              <a:cs typeface="EB Garamond"/>
              <a:sym typeface="EB Garamond"/>
            </a:endParaRPr>
          </a:p>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¿Apruebo, rechazo o nulo?</a:t>
            </a:r>
            <a:endParaRPr>
              <a:solidFill>
                <a:schemeClr val="dk1"/>
              </a:solidFill>
              <a:latin typeface="EB Garamond"/>
              <a:ea typeface="EB Garamond"/>
              <a:cs typeface="EB Garamond"/>
              <a:sym typeface="EB Garamond"/>
            </a:endParaRPr>
          </a:p>
        </p:txBody>
      </p:sp>
      <p:sp>
        <p:nvSpPr>
          <p:cNvPr id="236" name="Google Shape;236;p35"/>
          <p:cNvSpPr txBox="1"/>
          <p:nvPr/>
        </p:nvSpPr>
        <p:spPr>
          <a:xfrm>
            <a:off x="6070240" y="3247086"/>
            <a:ext cx="2883000" cy="16008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Peso (masa)</a:t>
            </a:r>
            <a:endParaRPr>
              <a:solidFill>
                <a:schemeClr val="dk1"/>
              </a:solidFill>
              <a:latin typeface="EB Garamond"/>
              <a:ea typeface="EB Garamond"/>
              <a:cs typeface="EB Garamond"/>
              <a:sym typeface="EB Garamond"/>
            </a:endParaRPr>
          </a:p>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Ingreso</a:t>
            </a:r>
            <a:endParaRPr>
              <a:solidFill>
                <a:schemeClr val="dk1"/>
              </a:solidFill>
              <a:latin typeface="EB Garamond"/>
              <a:ea typeface="EB Garamond"/>
              <a:cs typeface="EB Garamond"/>
              <a:sym typeface="EB Garamond"/>
            </a:endParaRPr>
          </a:p>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Edad</a:t>
            </a:r>
            <a:endParaRPr>
              <a:solidFill>
                <a:schemeClr val="dk1"/>
              </a:solidFill>
              <a:latin typeface="EB Garamond"/>
              <a:ea typeface="EB Garamond"/>
              <a:cs typeface="EB Garamond"/>
              <a:sym typeface="EB Garamond"/>
            </a:endParaRPr>
          </a:p>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Número de hijos</a:t>
            </a:r>
            <a:endParaRPr>
              <a:solidFill>
                <a:schemeClr val="dk1"/>
              </a:solidFill>
              <a:latin typeface="EB Garamond"/>
              <a:ea typeface="EB Garamond"/>
              <a:cs typeface="EB Garamond"/>
              <a:sym typeface="EB Garamond"/>
            </a:endParaRPr>
          </a:p>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Ramos aprobados</a:t>
            </a:r>
            <a:endParaRPr>
              <a:solidFill>
                <a:schemeClr val="dk1"/>
              </a:solidFill>
              <a:latin typeface="EB Garamond"/>
              <a:ea typeface="EB Garamond"/>
              <a:cs typeface="EB Garamond"/>
              <a:sym typeface="EB Garamond"/>
            </a:endParaRPr>
          </a:p>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Puntaje PTU</a:t>
            </a:r>
            <a:endParaRPr>
              <a:solidFill>
                <a:schemeClr val="dk1"/>
              </a:solidFill>
              <a:latin typeface="EB Garamond"/>
              <a:ea typeface="EB Garamond"/>
              <a:cs typeface="EB Garamond"/>
              <a:sym typeface="EB Garamond"/>
            </a:endParaRPr>
          </a:p>
          <a:p>
            <a:pPr indent="-285750" lvl="0" marL="285750" marR="0" rtl="0" algn="l">
              <a:spcBef>
                <a:spcPts val="0"/>
              </a:spcBef>
              <a:spcAft>
                <a:spcPts val="0"/>
              </a:spcAft>
              <a:buClr>
                <a:schemeClr val="dk1"/>
              </a:buClr>
              <a:buSzPts val="1400"/>
              <a:buFont typeface="EB Garamond"/>
              <a:buChar char="✔"/>
            </a:pPr>
            <a:r>
              <a:rPr lang="es" sz="1400">
                <a:solidFill>
                  <a:schemeClr val="dk1"/>
                </a:solidFill>
                <a:latin typeface="EB Garamond"/>
                <a:ea typeface="EB Garamond"/>
                <a:cs typeface="EB Garamond"/>
                <a:sym typeface="EB Garamond"/>
              </a:rPr>
              <a:t>Ranking de notas</a:t>
            </a:r>
            <a:endParaRPr>
              <a:solidFill>
                <a:schemeClr val="dk1"/>
              </a:solidFill>
              <a:latin typeface="EB Garamond"/>
              <a:ea typeface="EB Garamond"/>
              <a:cs typeface="EB Garamond"/>
              <a:sym typeface="EB Garamo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Nivel de medición</a:t>
            </a:r>
            <a:endParaRPr b="1">
              <a:latin typeface="EB Garamond"/>
              <a:ea typeface="EB Garamond"/>
              <a:cs typeface="EB Garamond"/>
              <a:sym typeface="EB Garamond"/>
            </a:endParaRPr>
          </a:p>
        </p:txBody>
      </p:sp>
      <p:sp>
        <p:nvSpPr>
          <p:cNvPr id="242" name="Google Shape;242;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43" name="Google Shape;243;p36"/>
          <p:cNvSpPr/>
          <p:nvPr/>
        </p:nvSpPr>
        <p:spPr>
          <a:xfrm>
            <a:off x="311706" y="1571867"/>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244" name="Google Shape;244;p36"/>
          <p:cNvSpPr/>
          <p:nvPr/>
        </p:nvSpPr>
        <p:spPr>
          <a:xfrm>
            <a:off x="311706" y="237237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245" name="Google Shape;245;p36"/>
          <p:cNvSpPr/>
          <p:nvPr/>
        </p:nvSpPr>
        <p:spPr>
          <a:xfrm>
            <a:off x="311706" y="3172885"/>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246" name="Google Shape;246;p36"/>
          <p:cNvSpPr/>
          <p:nvPr/>
        </p:nvSpPr>
        <p:spPr>
          <a:xfrm>
            <a:off x="311706" y="397337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247" name="Google Shape;247;p36"/>
          <p:cNvSpPr/>
          <p:nvPr/>
        </p:nvSpPr>
        <p:spPr>
          <a:xfrm>
            <a:off x="226800" y="2275525"/>
            <a:ext cx="2087400" cy="23877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36"/>
          <p:cNvSpPr txBox="1"/>
          <p:nvPr/>
        </p:nvSpPr>
        <p:spPr>
          <a:xfrm>
            <a:off x="2736775" y="1650766"/>
            <a:ext cx="5638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800">
                <a:solidFill>
                  <a:schemeClr val="dk1"/>
                </a:solidFill>
                <a:latin typeface="EB Garamond"/>
                <a:ea typeface="EB Garamond"/>
                <a:cs typeface="EB Garamond"/>
                <a:sym typeface="EB Garamond"/>
              </a:rPr>
              <a:t>Variables cuyos atributos son </a:t>
            </a:r>
            <a:r>
              <a:rPr lang="es" sz="1800">
                <a:solidFill>
                  <a:schemeClr val="dk1"/>
                </a:solidFill>
                <a:highlight>
                  <a:srgbClr val="A2C4C9"/>
                </a:highlight>
                <a:latin typeface="EB Garamond"/>
                <a:ea typeface="EB Garamond"/>
                <a:cs typeface="EB Garamond"/>
                <a:sym typeface="EB Garamond"/>
              </a:rPr>
              <a:t>exhaustivos y excluyentes</a:t>
            </a:r>
            <a:r>
              <a:rPr lang="es" sz="1800">
                <a:solidFill>
                  <a:schemeClr val="dk1"/>
                </a:solidFill>
                <a:latin typeface="EB Garamond"/>
                <a:ea typeface="EB Garamond"/>
                <a:cs typeface="EB Garamond"/>
                <a:sym typeface="EB Garamond"/>
              </a:rPr>
              <a:t>.</a:t>
            </a:r>
            <a:endParaRPr sz="1800">
              <a:solidFill>
                <a:schemeClr val="dk1"/>
              </a:solidFill>
              <a:latin typeface="EB Garamond"/>
              <a:ea typeface="EB Garamond"/>
              <a:cs typeface="EB Garamond"/>
              <a:sym typeface="EB Garamond"/>
            </a:endParaRPr>
          </a:p>
        </p:txBody>
      </p:sp>
      <p:sp>
        <p:nvSpPr>
          <p:cNvPr id="249" name="Google Shape;249;p36"/>
          <p:cNvSpPr txBox="1"/>
          <p:nvPr/>
        </p:nvSpPr>
        <p:spPr>
          <a:xfrm>
            <a:off x="3754600" y="2098987"/>
            <a:ext cx="3929100" cy="2247300"/>
          </a:xfrm>
          <a:prstGeom prst="rect">
            <a:avLst/>
          </a:prstGeom>
          <a:noFill/>
          <a:ln cap="flat" cmpd="sng" w="4127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
                <a:solidFill>
                  <a:schemeClr val="dk1"/>
                </a:solidFill>
                <a:latin typeface="EB Garamond"/>
                <a:ea typeface="EB Garamond"/>
                <a:cs typeface="EB Garamond"/>
                <a:sym typeface="EB Garamond"/>
              </a:rPr>
              <a:t>P1. ¿Cuál es su sexo?</a:t>
            </a:r>
            <a:endParaRPr>
              <a:solidFill>
                <a:schemeClr val="dk1"/>
              </a:solidFill>
              <a:latin typeface="EB Garamond"/>
              <a:ea typeface="EB Garamond"/>
              <a:cs typeface="EB Garamond"/>
              <a:sym typeface="EB Garamond"/>
            </a:endParaRPr>
          </a:p>
          <a:p>
            <a:pPr indent="-330200" lvl="0" marL="342900" marR="0" rtl="0" algn="l">
              <a:spcBef>
                <a:spcPts val="0"/>
              </a:spcBef>
              <a:spcAft>
                <a:spcPts val="0"/>
              </a:spcAft>
              <a:buClr>
                <a:schemeClr val="dk1"/>
              </a:buClr>
              <a:buSzPts val="1400"/>
              <a:buFont typeface="EB Garamond"/>
              <a:buAutoNum type="arabicPeriod"/>
            </a:pPr>
            <a:r>
              <a:rPr lang="es">
                <a:solidFill>
                  <a:schemeClr val="dk1"/>
                </a:solidFill>
                <a:latin typeface="EB Garamond"/>
                <a:ea typeface="EB Garamond"/>
                <a:cs typeface="EB Garamond"/>
                <a:sym typeface="EB Garamond"/>
              </a:rPr>
              <a:t>Femenino</a:t>
            </a:r>
            <a:endParaRPr>
              <a:solidFill>
                <a:schemeClr val="dk1"/>
              </a:solidFill>
              <a:latin typeface="EB Garamond"/>
              <a:ea typeface="EB Garamond"/>
              <a:cs typeface="EB Garamond"/>
              <a:sym typeface="EB Garamond"/>
            </a:endParaRPr>
          </a:p>
          <a:p>
            <a:pPr indent="-330200" lvl="0" marL="342900" marR="0" rtl="0" algn="l">
              <a:spcBef>
                <a:spcPts val="0"/>
              </a:spcBef>
              <a:spcAft>
                <a:spcPts val="0"/>
              </a:spcAft>
              <a:buClr>
                <a:schemeClr val="dk1"/>
              </a:buClr>
              <a:buSzPts val="1400"/>
              <a:buFont typeface="EB Garamond"/>
              <a:buAutoNum type="arabicPeriod"/>
            </a:pPr>
            <a:r>
              <a:rPr lang="es">
                <a:solidFill>
                  <a:schemeClr val="dk1"/>
                </a:solidFill>
                <a:latin typeface="EB Garamond"/>
                <a:ea typeface="EB Garamond"/>
                <a:cs typeface="EB Garamond"/>
                <a:sym typeface="EB Garamond"/>
              </a:rPr>
              <a:t>Masculino</a:t>
            </a:r>
            <a:endParaRPr>
              <a:solidFill>
                <a:schemeClr val="dk1"/>
              </a:solidFill>
              <a:latin typeface="EB Garamond"/>
              <a:ea typeface="EB Garamond"/>
              <a:cs typeface="EB Garamond"/>
              <a:sym typeface="EB Garamond"/>
            </a:endParaRPr>
          </a:p>
          <a:p>
            <a:pPr indent="-330200" lvl="0" marL="342900" marR="0" rtl="0" algn="l">
              <a:spcBef>
                <a:spcPts val="0"/>
              </a:spcBef>
              <a:spcAft>
                <a:spcPts val="0"/>
              </a:spcAft>
              <a:buClr>
                <a:schemeClr val="dk1"/>
              </a:buClr>
              <a:buSzPts val="1400"/>
              <a:buFont typeface="EB Garamond"/>
              <a:buAutoNum type="arabicPeriod"/>
            </a:pPr>
            <a:r>
              <a:rPr lang="es">
                <a:solidFill>
                  <a:schemeClr val="dk1"/>
                </a:solidFill>
                <a:latin typeface="EB Garamond"/>
                <a:ea typeface="EB Garamond"/>
                <a:cs typeface="EB Garamond"/>
                <a:sym typeface="EB Garamond"/>
              </a:rPr>
              <a:t>Prefiero no decir</a:t>
            </a:r>
            <a:endParaRPr>
              <a:solidFill>
                <a:schemeClr val="dk1"/>
              </a:solidFill>
              <a:latin typeface="EB Garamond"/>
              <a:ea typeface="EB Garamond"/>
              <a:cs typeface="EB Garamond"/>
              <a:sym typeface="EB Garamond"/>
            </a:endParaRPr>
          </a:p>
          <a:p>
            <a:pPr indent="0" lvl="0" marL="0" marR="0" rtl="0" algn="l">
              <a:spcBef>
                <a:spcPts val="0"/>
              </a:spcBef>
              <a:spcAft>
                <a:spcPts val="0"/>
              </a:spcAft>
              <a:buNone/>
            </a:pPr>
            <a:r>
              <a:t/>
            </a:r>
            <a:endParaRPr>
              <a:solidFill>
                <a:schemeClr val="dk1"/>
              </a:solidFill>
              <a:latin typeface="EB Garamond"/>
              <a:ea typeface="EB Garamond"/>
              <a:cs typeface="EB Garamond"/>
              <a:sym typeface="EB Garamond"/>
            </a:endParaRPr>
          </a:p>
          <a:p>
            <a:pPr indent="0" lvl="0" marL="0" marR="0" rtl="0" algn="l">
              <a:spcBef>
                <a:spcPts val="0"/>
              </a:spcBef>
              <a:spcAft>
                <a:spcPts val="0"/>
              </a:spcAft>
              <a:buNone/>
            </a:pPr>
            <a:r>
              <a:rPr b="1" lang="es">
                <a:solidFill>
                  <a:schemeClr val="dk1"/>
                </a:solidFill>
                <a:latin typeface="EB Garamond"/>
                <a:ea typeface="EB Garamond"/>
                <a:cs typeface="EB Garamond"/>
                <a:sym typeface="EB Garamond"/>
              </a:rPr>
              <a:t>P2. ¿Con qué religión se siente identificado?</a:t>
            </a:r>
            <a:endParaRPr>
              <a:solidFill>
                <a:schemeClr val="dk1"/>
              </a:solidFill>
              <a:latin typeface="EB Garamond"/>
              <a:ea typeface="EB Garamond"/>
              <a:cs typeface="EB Garamond"/>
              <a:sym typeface="EB Garamond"/>
            </a:endParaRPr>
          </a:p>
          <a:p>
            <a:pPr indent="-330200" lvl="0" marL="342900" marR="0" rtl="0" algn="l">
              <a:spcBef>
                <a:spcPts val="0"/>
              </a:spcBef>
              <a:spcAft>
                <a:spcPts val="0"/>
              </a:spcAft>
              <a:buClr>
                <a:schemeClr val="dk1"/>
              </a:buClr>
              <a:buSzPts val="1400"/>
              <a:buFont typeface="EB Garamond"/>
              <a:buAutoNum type="arabicPeriod"/>
            </a:pPr>
            <a:r>
              <a:rPr lang="es">
                <a:solidFill>
                  <a:schemeClr val="dk1"/>
                </a:solidFill>
                <a:latin typeface="EB Garamond"/>
                <a:ea typeface="EB Garamond"/>
                <a:cs typeface="EB Garamond"/>
                <a:sym typeface="EB Garamond"/>
              </a:rPr>
              <a:t>Cristiano</a:t>
            </a:r>
            <a:endParaRPr>
              <a:solidFill>
                <a:schemeClr val="dk1"/>
              </a:solidFill>
              <a:latin typeface="EB Garamond"/>
              <a:ea typeface="EB Garamond"/>
              <a:cs typeface="EB Garamond"/>
              <a:sym typeface="EB Garamond"/>
            </a:endParaRPr>
          </a:p>
          <a:p>
            <a:pPr indent="-330200" lvl="0" marL="342900" marR="0" rtl="0" algn="l">
              <a:spcBef>
                <a:spcPts val="0"/>
              </a:spcBef>
              <a:spcAft>
                <a:spcPts val="0"/>
              </a:spcAft>
              <a:buClr>
                <a:schemeClr val="dk1"/>
              </a:buClr>
              <a:buSzPts val="1400"/>
              <a:buFont typeface="EB Garamond"/>
              <a:buAutoNum type="arabicPeriod"/>
            </a:pPr>
            <a:r>
              <a:rPr lang="es">
                <a:solidFill>
                  <a:schemeClr val="dk1"/>
                </a:solidFill>
                <a:latin typeface="EB Garamond"/>
                <a:ea typeface="EB Garamond"/>
                <a:cs typeface="EB Garamond"/>
                <a:sym typeface="EB Garamond"/>
              </a:rPr>
              <a:t>Judío</a:t>
            </a:r>
            <a:endParaRPr>
              <a:solidFill>
                <a:schemeClr val="dk1"/>
              </a:solidFill>
              <a:latin typeface="EB Garamond"/>
              <a:ea typeface="EB Garamond"/>
              <a:cs typeface="EB Garamond"/>
              <a:sym typeface="EB Garamond"/>
            </a:endParaRPr>
          </a:p>
          <a:p>
            <a:pPr indent="-330200" lvl="0" marL="342900" marR="0" rtl="0" algn="l">
              <a:spcBef>
                <a:spcPts val="0"/>
              </a:spcBef>
              <a:spcAft>
                <a:spcPts val="0"/>
              </a:spcAft>
              <a:buClr>
                <a:schemeClr val="dk1"/>
              </a:buClr>
              <a:buSzPts val="1400"/>
              <a:buFont typeface="EB Garamond"/>
              <a:buAutoNum type="arabicPeriod"/>
            </a:pPr>
            <a:r>
              <a:rPr lang="es">
                <a:solidFill>
                  <a:schemeClr val="dk1"/>
                </a:solidFill>
                <a:latin typeface="EB Garamond"/>
                <a:ea typeface="EB Garamond"/>
                <a:cs typeface="EB Garamond"/>
                <a:sym typeface="EB Garamond"/>
              </a:rPr>
              <a:t>Musulmán</a:t>
            </a:r>
            <a:endParaRPr>
              <a:solidFill>
                <a:schemeClr val="dk1"/>
              </a:solidFill>
              <a:latin typeface="EB Garamond"/>
              <a:ea typeface="EB Garamond"/>
              <a:cs typeface="EB Garamond"/>
              <a:sym typeface="EB Garamond"/>
            </a:endParaRPr>
          </a:p>
          <a:p>
            <a:pPr indent="-330200" lvl="0" marL="342900" marR="0" rtl="0" algn="l">
              <a:spcBef>
                <a:spcPts val="0"/>
              </a:spcBef>
              <a:spcAft>
                <a:spcPts val="0"/>
              </a:spcAft>
              <a:buClr>
                <a:schemeClr val="dk1"/>
              </a:buClr>
              <a:buSzPts val="1400"/>
              <a:buFont typeface="EB Garamond"/>
              <a:buAutoNum type="arabicPeriod"/>
            </a:pPr>
            <a:r>
              <a:rPr lang="es">
                <a:solidFill>
                  <a:schemeClr val="dk1"/>
                </a:solidFill>
                <a:latin typeface="EB Garamond"/>
                <a:ea typeface="EB Garamond"/>
                <a:cs typeface="EB Garamond"/>
                <a:sym typeface="EB Garamond"/>
              </a:rPr>
              <a:t>Otro</a:t>
            </a:r>
            <a:endParaRPr>
              <a:solidFill>
                <a:schemeClr val="dk1"/>
              </a:solidFill>
              <a:latin typeface="EB Garamond"/>
              <a:ea typeface="EB Garamond"/>
              <a:cs typeface="EB Garamond"/>
              <a:sym typeface="EB Garamo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Nivel de medición</a:t>
            </a:r>
            <a:endParaRPr b="1">
              <a:latin typeface="EB Garamond"/>
              <a:ea typeface="EB Garamond"/>
              <a:cs typeface="EB Garamond"/>
              <a:sym typeface="EB Garamond"/>
            </a:endParaRPr>
          </a:p>
        </p:txBody>
      </p:sp>
      <p:sp>
        <p:nvSpPr>
          <p:cNvPr id="255" name="Google Shape;255;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solidFill>
                  <a:schemeClr val="dk1"/>
                </a:solidFill>
              </a:rPr>
              <a:t>‹#›</a:t>
            </a:fld>
            <a:endParaRPr>
              <a:solidFill>
                <a:schemeClr val="dk1"/>
              </a:solidFill>
            </a:endParaRPr>
          </a:p>
        </p:txBody>
      </p:sp>
      <p:sp>
        <p:nvSpPr>
          <p:cNvPr id="256" name="Google Shape;256;p37"/>
          <p:cNvSpPr/>
          <p:nvPr/>
        </p:nvSpPr>
        <p:spPr>
          <a:xfrm>
            <a:off x="311706" y="1571867"/>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257" name="Google Shape;257;p37"/>
          <p:cNvSpPr/>
          <p:nvPr/>
        </p:nvSpPr>
        <p:spPr>
          <a:xfrm>
            <a:off x="311706" y="237237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258" name="Google Shape;258;p37"/>
          <p:cNvSpPr/>
          <p:nvPr/>
        </p:nvSpPr>
        <p:spPr>
          <a:xfrm>
            <a:off x="311706" y="3172885"/>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259" name="Google Shape;259;p37"/>
          <p:cNvSpPr/>
          <p:nvPr/>
        </p:nvSpPr>
        <p:spPr>
          <a:xfrm>
            <a:off x="311706" y="397337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260" name="Google Shape;260;p37"/>
          <p:cNvSpPr/>
          <p:nvPr/>
        </p:nvSpPr>
        <p:spPr>
          <a:xfrm>
            <a:off x="226800" y="3030025"/>
            <a:ext cx="2087400" cy="16332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37"/>
          <p:cNvSpPr txBox="1"/>
          <p:nvPr/>
        </p:nvSpPr>
        <p:spPr>
          <a:xfrm>
            <a:off x="2743350" y="2451265"/>
            <a:ext cx="6267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s" sz="1800">
                <a:solidFill>
                  <a:schemeClr val="dk1"/>
                </a:solidFill>
                <a:latin typeface="EB Garamond"/>
                <a:ea typeface="EB Garamond"/>
                <a:cs typeface="EB Garamond"/>
                <a:sym typeface="EB Garamond"/>
              </a:rPr>
              <a:t>Exhaustivo, excluyente y se pueden </a:t>
            </a:r>
            <a:r>
              <a:rPr lang="es" sz="1800">
                <a:solidFill>
                  <a:schemeClr val="dk1"/>
                </a:solidFill>
                <a:highlight>
                  <a:srgbClr val="A2C4C9"/>
                </a:highlight>
                <a:latin typeface="EB Garamond"/>
                <a:ea typeface="EB Garamond"/>
                <a:cs typeface="EB Garamond"/>
                <a:sym typeface="EB Garamond"/>
              </a:rPr>
              <a:t>ordenar o jerarquizar</a:t>
            </a:r>
            <a:r>
              <a:rPr lang="es" sz="1800">
                <a:solidFill>
                  <a:schemeClr val="dk1"/>
                </a:solidFill>
                <a:latin typeface="EB Garamond"/>
                <a:ea typeface="EB Garamond"/>
                <a:cs typeface="EB Garamond"/>
                <a:sym typeface="EB Garamond"/>
              </a:rPr>
              <a:t>.</a:t>
            </a:r>
            <a:endParaRPr sz="1800">
              <a:solidFill>
                <a:schemeClr val="dk1"/>
              </a:solidFill>
              <a:latin typeface="EB Garamond"/>
              <a:ea typeface="EB Garamond"/>
              <a:cs typeface="EB Garamond"/>
              <a:sym typeface="EB Garamond"/>
            </a:endParaRPr>
          </a:p>
        </p:txBody>
      </p:sp>
      <p:sp>
        <p:nvSpPr>
          <p:cNvPr id="262" name="Google Shape;262;p37"/>
          <p:cNvSpPr txBox="1"/>
          <p:nvPr/>
        </p:nvSpPr>
        <p:spPr>
          <a:xfrm>
            <a:off x="3562350" y="3080005"/>
            <a:ext cx="4629300" cy="1600800"/>
          </a:xfrm>
          <a:prstGeom prst="rect">
            <a:avLst/>
          </a:prstGeom>
          <a:noFill/>
          <a:ln cap="flat" cmpd="sng" w="4127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
                <a:solidFill>
                  <a:schemeClr val="dk1"/>
                </a:solidFill>
                <a:latin typeface="EB Garamond"/>
                <a:ea typeface="EB Garamond"/>
                <a:cs typeface="EB Garamond"/>
                <a:sym typeface="EB Garamond"/>
              </a:rPr>
              <a:t>P3. ¿Qué tan de acuerdo está con el aborto libre?</a:t>
            </a:r>
            <a:endParaRPr>
              <a:solidFill>
                <a:schemeClr val="dk1"/>
              </a:solidFill>
              <a:latin typeface="EB Garamond"/>
              <a:ea typeface="EB Garamond"/>
              <a:cs typeface="EB Garamond"/>
              <a:sym typeface="EB Garamond"/>
            </a:endParaRPr>
          </a:p>
          <a:p>
            <a:pPr indent="-330200" lvl="0" marL="342900" marR="0" rtl="0" algn="l">
              <a:spcBef>
                <a:spcPts val="0"/>
              </a:spcBef>
              <a:spcAft>
                <a:spcPts val="0"/>
              </a:spcAft>
              <a:buClr>
                <a:schemeClr val="dk1"/>
              </a:buClr>
              <a:buSzPts val="1400"/>
              <a:buFont typeface="EB Garamond"/>
              <a:buAutoNum type="arabicPeriod"/>
            </a:pPr>
            <a:r>
              <a:rPr lang="es">
                <a:solidFill>
                  <a:schemeClr val="dk1"/>
                </a:solidFill>
                <a:latin typeface="EB Garamond"/>
                <a:ea typeface="EB Garamond"/>
                <a:cs typeface="EB Garamond"/>
                <a:sym typeface="EB Garamond"/>
              </a:rPr>
              <a:t>Muy en desacuerdo</a:t>
            </a:r>
            <a:endParaRPr>
              <a:solidFill>
                <a:schemeClr val="dk1"/>
              </a:solidFill>
              <a:latin typeface="EB Garamond"/>
              <a:ea typeface="EB Garamond"/>
              <a:cs typeface="EB Garamond"/>
              <a:sym typeface="EB Garamond"/>
            </a:endParaRPr>
          </a:p>
          <a:p>
            <a:pPr indent="-330200" lvl="0" marL="342900" marR="0" rtl="0" algn="l">
              <a:spcBef>
                <a:spcPts val="0"/>
              </a:spcBef>
              <a:spcAft>
                <a:spcPts val="0"/>
              </a:spcAft>
              <a:buClr>
                <a:schemeClr val="dk1"/>
              </a:buClr>
              <a:buSzPts val="1400"/>
              <a:buFont typeface="EB Garamond"/>
              <a:buAutoNum type="arabicPeriod"/>
            </a:pPr>
            <a:r>
              <a:rPr lang="es">
                <a:solidFill>
                  <a:schemeClr val="dk1"/>
                </a:solidFill>
                <a:latin typeface="EB Garamond"/>
                <a:ea typeface="EB Garamond"/>
                <a:cs typeface="EB Garamond"/>
                <a:sym typeface="EB Garamond"/>
              </a:rPr>
              <a:t>En desacuerdo</a:t>
            </a:r>
            <a:endParaRPr>
              <a:solidFill>
                <a:schemeClr val="dk1"/>
              </a:solidFill>
              <a:latin typeface="EB Garamond"/>
              <a:ea typeface="EB Garamond"/>
              <a:cs typeface="EB Garamond"/>
              <a:sym typeface="EB Garamond"/>
            </a:endParaRPr>
          </a:p>
          <a:p>
            <a:pPr indent="-330200" lvl="0" marL="342900" marR="0" rtl="0" algn="l">
              <a:spcBef>
                <a:spcPts val="0"/>
              </a:spcBef>
              <a:spcAft>
                <a:spcPts val="0"/>
              </a:spcAft>
              <a:buClr>
                <a:schemeClr val="dk1"/>
              </a:buClr>
              <a:buSzPts val="1400"/>
              <a:buFont typeface="EB Garamond"/>
              <a:buAutoNum type="arabicPeriod"/>
            </a:pPr>
            <a:r>
              <a:rPr lang="es">
                <a:solidFill>
                  <a:schemeClr val="dk1"/>
                </a:solidFill>
                <a:latin typeface="EB Garamond"/>
                <a:ea typeface="EB Garamond"/>
                <a:cs typeface="EB Garamond"/>
                <a:sym typeface="EB Garamond"/>
              </a:rPr>
              <a:t>Ni de acuerdo ni en desacuerdo</a:t>
            </a:r>
            <a:endParaRPr>
              <a:solidFill>
                <a:schemeClr val="dk1"/>
              </a:solidFill>
              <a:latin typeface="EB Garamond"/>
              <a:ea typeface="EB Garamond"/>
              <a:cs typeface="EB Garamond"/>
              <a:sym typeface="EB Garamond"/>
            </a:endParaRPr>
          </a:p>
          <a:p>
            <a:pPr indent="-330200" lvl="0" marL="342900" marR="0" rtl="0" algn="l">
              <a:spcBef>
                <a:spcPts val="0"/>
              </a:spcBef>
              <a:spcAft>
                <a:spcPts val="0"/>
              </a:spcAft>
              <a:buClr>
                <a:schemeClr val="dk1"/>
              </a:buClr>
              <a:buSzPts val="1400"/>
              <a:buFont typeface="EB Garamond"/>
              <a:buAutoNum type="arabicPeriod"/>
            </a:pPr>
            <a:r>
              <a:rPr lang="es">
                <a:solidFill>
                  <a:schemeClr val="dk1"/>
                </a:solidFill>
                <a:latin typeface="EB Garamond"/>
                <a:ea typeface="EB Garamond"/>
                <a:cs typeface="EB Garamond"/>
                <a:sym typeface="EB Garamond"/>
              </a:rPr>
              <a:t>De acuerdo</a:t>
            </a:r>
            <a:endParaRPr>
              <a:solidFill>
                <a:schemeClr val="dk1"/>
              </a:solidFill>
              <a:latin typeface="EB Garamond"/>
              <a:ea typeface="EB Garamond"/>
              <a:cs typeface="EB Garamond"/>
              <a:sym typeface="EB Garamond"/>
            </a:endParaRPr>
          </a:p>
          <a:p>
            <a:pPr indent="-330200" lvl="0" marL="342900" marR="0" rtl="0" algn="l">
              <a:spcBef>
                <a:spcPts val="0"/>
              </a:spcBef>
              <a:spcAft>
                <a:spcPts val="0"/>
              </a:spcAft>
              <a:buClr>
                <a:schemeClr val="dk1"/>
              </a:buClr>
              <a:buSzPts val="1400"/>
              <a:buFont typeface="EB Garamond"/>
              <a:buAutoNum type="arabicPeriod"/>
            </a:pPr>
            <a:r>
              <a:rPr lang="es">
                <a:solidFill>
                  <a:schemeClr val="dk1"/>
                </a:solidFill>
                <a:latin typeface="EB Garamond"/>
                <a:ea typeface="EB Garamond"/>
                <a:cs typeface="EB Garamond"/>
                <a:sym typeface="EB Garamond"/>
              </a:rPr>
              <a:t>Muy de acuerdo</a:t>
            </a:r>
            <a:endParaRPr>
              <a:solidFill>
                <a:schemeClr val="dk1"/>
              </a:solidFill>
              <a:latin typeface="EB Garamond"/>
              <a:ea typeface="EB Garamond"/>
              <a:cs typeface="EB Garamond"/>
              <a:sym typeface="EB Garamond"/>
            </a:endParaRPr>
          </a:p>
          <a:p>
            <a:pPr indent="-330200" lvl="0" marL="342900" marR="0" rtl="0" algn="l">
              <a:spcBef>
                <a:spcPts val="0"/>
              </a:spcBef>
              <a:spcAft>
                <a:spcPts val="0"/>
              </a:spcAft>
              <a:buClr>
                <a:schemeClr val="dk1"/>
              </a:buClr>
              <a:buSzPts val="1400"/>
              <a:buFont typeface="EB Garamond"/>
              <a:buAutoNum type="arabicPeriod"/>
            </a:pPr>
            <a:r>
              <a:rPr lang="es">
                <a:solidFill>
                  <a:schemeClr val="dk1"/>
                </a:solidFill>
                <a:latin typeface="EB Garamond"/>
                <a:ea typeface="EB Garamond"/>
                <a:cs typeface="EB Garamond"/>
                <a:sym typeface="EB Garamond"/>
              </a:rPr>
              <a:t>No sé / No responde</a:t>
            </a:r>
            <a:endParaRPr>
              <a:solidFill>
                <a:schemeClr val="dk1"/>
              </a:solidFill>
              <a:latin typeface="EB Garamond"/>
              <a:ea typeface="EB Garamond"/>
              <a:cs typeface="EB Garamond"/>
              <a:sym typeface="EB Garamond"/>
            </a:endParaRPr>
          </a:p>
        </p:txBody>
      </p:sp>
      <p:sp>
        <p:nvSpPr>
          <p:cNvPr id="263" name="Google Shape;263;p37"/>
          <p:cNvSpPr/>
          <p:nvPr/>
        </p:nvSpPr>
        <p:spPr>
          <a:xfrm>
            <a:off x="226800" y="1408125"/>
            <a:ext cx="2087400" cy="8337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Nivel de medición</a:t>
            </a:r>
            <a:endParaRPr b="1">
              <a:latin typeface="EB Garamond"/>
              <a:ea typeface="EB Garamond"/>
              <a:cs typeface="EB Garamond"/>
              <a:sym typeface="EB Garamond"/>
            </a:endParaRPr>
          </a:p>
        </p:txBody>
      </p:sp>
      <p:sp>
        <p:nvSpPr>
          <p:cNvPr id="269" name="Google Shape;269;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70" name="Google Shape;270;p38"/>
          <p:cNvSpPr/>
          <p:nvPr/>
        </p:nvSpPr>
        <p:spPr>
          <a:xfrm>
            <a:off x="311706" y="1571867"/>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271" name="Google Shape;271;p38"/>
          <p:cNvSpPr/>
          <p:nvPr/>
        </p:nvSpPr>
        <p:spPr>
          <a:xfrm>
            <a:off x="311706" y="237237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272" name="Google Shape;272;p38"/>
          <p:cNvSpPr/>
          <p:nvPr/>
        </p:nvSpPr>
        <p:spPr>
          <a:xfrm>
            <a:off x="311706" y="3172885"/>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273" name="Google Shape;273;p38"/>
          <p:cNvSpPr/>
          <p:nvPr/>
        </p:nvSpPr>
        <p:spPr>
          <a:xfrm>
            <a:off x="311706" y="397337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274" name="Google Shape;274;p38"/>
          <p:cNvSpPr/>
          <p:nvPr/>
        </p:nvSpPr>
        <p:spPr>
          <a:xfrm>
            <a:off x="226800" y="3829450"/>
            <a:ext cx="2087400" cy="8337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38"/>
          <p:cNvSpPr txBox="1"/>
          <p:nvPr/>
        </p:nvSpPr>
        <p:spPr>
          <a:xfrm>
            <a:off x="2901950" y="3293900"/>
            <a:ext cx="5510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800">
                <a:solidFill>
                  <a:schemeClr val="dk1"/>
                </a:solidFill>
                <a:latin typeface="EB Garamond"/>
                <a:ea typeface="EB Garamond"/>
                <a:cs typeface="EB Garamond"/>
                <a:sym typeface="EB Garamond"/>
              </a:rPr>
              <a:t>Exhaustivo, excluyente, se pueden jerarquizar y existe </a:t>
            </a:r>
            <a:r>
              <a:rPr lang="es" sz="1800">
                <a:solidFill>
                  <a:schemeClr val="dk1"/>
                </a:solidFill>
                <a:highlight>
                  <a:srgbClr val="A2C4C9"/>
                </a:highlight>
                <a:latin typeface="EB Garamond"/>
                <a:ea typeface="EB Garamond"/>
                <a:cs typeface="EB Garamond"/>
                <a:sym typeface="EB Garamond"/>
              </a:rPr>
              <a:t>diferencia exacta entre atributos</a:t>
            </a:r>
            <a:r>
              <a:rPr lang="es" sz="1800">
                <a:solidFill>
                  <a:schemeClr val="dk1"/>
                </a:solidFill>
                <a:latin typeface="EB Garamond"/>
                <a:ea typeface="EB Garamond"/>
                <a:cs typeface="EB Garamond"/>
                <a:sym typeface="EB Garamond"/>
              </a:rPr>
              <a:t>. </a:t>
            </a:r>
            <a:endParaRPr sz="1800">
              <a:solidFill>
                <a:schemeClr val="dk1"/>
              </a:solidFill>
              <a:latin typeface="EB Garamond"/>
              <a:ea typeface="EB Garamond"/>
              <a:cs typeface="EB Garamond"/>
              <a:sym typeface="EB Garamond"/>
            </a:endParaRPr>
          </a:p>
        </p:txBody>
      </p:sp>
      <p:sp>
        <p:nvSpPr>
          <p:cNvPr id="276" name="Google Shape;276;p38"/>
          <p:cNvSpPr txBox="1"/>
          <p:nvPr/>
        </p:nvSpPr>
        <p:spPr>
          <a:xfrm>
            <a:off x="2974100" y="2218566"/>
            <a:ext cx="4629300" cy="954300"/>
          </a:xfrm>
          <a:prstGeom prst="rect">
            <a:avLst/>
          </a:prstGeom>
          <a:noFill/>
          <a:ln cap="flat" cmpd="sng" w="4127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
                <a:solidFill>
                  <a:schemeClr val="dk1"/>
                </a:solidFill>
                <a:latin typeface="EB Garamond"/>
                <a:ea typeface="EB Garamond"/>
                <a:cs typeface="EB Garamond"/>
                <a:sym typeface="EB Garamond"/>
              </a:rPr>
              <a:t>P4. ¿Cuál es su temperatura corporal (Cº)?</a:t>
            </a:r>
            <a:endParaRPr>
              <a:solidFill>
                <a:schemeClr val="dk1"/>
              </a:solidFill>
              <a:latin typeface="EB Garamond"/>
              <a:ea typeface="EB Garamond"/>
              <a:cs typeface="EB Garamond"/>
              <a:sym typeface="EB Garamond"/>
            </a:endParaRPr>
          </a:p>
          <a:p>
            <a:pPr indent="0" lvl="0" marL="0" marR="0" rtl="0" algn="l">
              <a:spcBef>
                <a:spcPts val="0"/>
              </a:spcBef>
              <a:spcAft>
                <a:spcPts val="0"/>
              </a:spcAft>
              <a:buNone/>
            </a:pPr>
            <a:r>
              <a:rPr lang="es">
                <a:solidFill>
                  <a:schemeClr val="dk1"/>
                </a:solidFill>
                <a:latin typeface="EB Garamond"/>
                <a:ea typeface="EB Garamond"/>
                <a:cs typeface="EB Garamond"/>
                <a:sym typeface="EB Garamond"/>
              </a:rPr>
              <a:t>La respuesta debe estar entre 34º a 42º grados.</a:t>
            </a:r>
            <a:endParaRPr>
              <a:solidFill>
                <a:schemeClr val="dk1"/>
              </a:solidFill>
              <a:latin typeface="EB Garamond"/>
              <a:ea typeface="EB Garamond"/>
              <a:cs typeface="EB Garamond"/>
              <a:sym typeface="EB Garamond"/>
            </a:endParaRPr>
          </a:p>
          <a:p>
            <a:pPr indent="0" lvl="0" marL="0" marR="0" rtl="0" algn="l">
              <a:spcBef>
                <a:spcPts val="0"/>
              </a:spcBef>
              <a:spcAft>
                <a:spcPts val="0"/>
              </a:spcAft>
              <a:buNone/>
            </a:pPr>
            <a:r>
              <a:rPr b="1" lang="es">
                <a:solidFill>
                  <a:schemeClr val="dk1"/>
                </a:solidFill>
                <a:latin typeface="EB Garamond"/>
                <a:ea typeface="EB Garamond"/>
                <a:cs typeface="EB Garamond"/>
                <a:sym typeface="EB Garamond"/>
              </a:rPr>
              <a:t>R: </a:t>
            </a:r>
            <a:r>
              <a:rPr lang="es">
                <a:solidFill>
                  <a:schemeClr val="dk1"/>
                </a:solidFill>
                <a:latin typeface="EB Garamond"/>
                <a:ea typeface="EB Garamond"/>
                <a:cs typeface="EB Garamond"/>
                <a:sym typeface="EB Garamond"/>
              </a:rPr>
              <a:t>36,5 Cº</a:t>
            </a:r>
            <a:endParaRPr>
              <a:solidFill>
                <a:schemeClr val="dk1"/>
              </a:solidFill>
              <a:latin typeface="EB Garamond"/>
              <a:ea typeface="EB Garamond"/>
              <a:cs typeface="EB Garamond"/>
              <a:sym typeface="EB Garamond"/>
            </a:endParaRPr>
          </a:p>
          <a:p>
            <a:pPr indent="0" lvl="0" marL="0" marR="0" rtl="0" algn="l">
              <a:spcBef>
                <a:spcPts val="0"/>
              </a:spcBef>
              <a:spcAft>
                <a:spcPts val="0"/>
              </a:spcAft>
              <a:buNone/>
            </a:pPr>
            <a:r>
              <a:rPr b="1" lang="es">
                <a:solidFill>
                  <a:schemeClr val="dk1"/>
                </a:solidFill>
                <a:latin typeface="EB Garamond"/>
                <a:ea typeface="EB Garamond"/>
                <a:cs typeface="EB Garamond"/>
                <a:sym typeface="EB Garamond"/>
              </a:rPr>
              <a:t>Diferencia: </a:t>
            </a:r>
            <a:r>
              <a:rPr lang="es">
                <a:solidFill>
                  <a:schemeClr val="dk1"/>
                </a:solidFill>
                <a:latin typeface="EB Garamond"/>
                <a:ea typeface="EB Garamond"/>
                <a:cs typeface="EB Garamond"/>
                <a:sym typeface="EB Garamond"/>
              </a:rPr>
              <a:t>a 0,5 Cº de la fiebre.</a:t>
            </a:r>
            <a:endParaRPr>
              <a:solidFill>
                <a:schemeClr val="dk1"/>
              </a:solidFill>
              <a:latin typeface="EB Garamond"/>
              <a:ea typeface="EB Garamond"/>
              <a:cs typeface="EB Garamond"/>
              <a:sym typeface="EB Garamond"/>
            </a:endParaRPr>
          </a:p>
        </p:txBody>
      </p:sp>
      <p:sp>
        <p:nvSpPr>
          <p:cNvPr id="277" name="Google Shape;277;p38"/>
          <p:cNvSpPr/>
          <p:nvPr/>
        </p:nvSpPr>
        <p:spPr>
          <a:xfrm>
            <a:off x="226800" y="1410200"/>
            <a:ext cx="2087400" cy="16332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Nivel de medición</a:t>
            </a:r>
            <a:endParaRPr b="1">
              <a:latin typeface="EB Garamond"/>
              <a:ea typeface="EB Garamond"/>
              <a:cs typeface="EB Garamond"/>
              <a:sym typeface="EB Garamond"/>
            </a:endParaRPr>
          </a:p>
        </p:txBody>
      </p:sp>
      <p:sp>
        <p:nvSpPr>
          <p:cNvPr id="283" name="Google Shape;283;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84" name="Google Shape;284;p39"/>
          <p:cNvSpPr/>
          <p:nvPr/>
        </p:nvSpPr>
        <p:spPr>
          <a:xfrm>
            <a:off x="311706" y="1571867"/>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285" name="Google Shape;285;p39"/>
          <p:cNvSpPr/>
          <p:nvPr/>
        </p:nvSpPr>
        <p:spPr>
          <a:xfrm>
            <a:off x="311706" y="237237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286" name="Google Shape;286;p39"/>
          <p:cNvSpPr/>
          <p:nvPr/>
        </p:nvSpPr>
        <p:spPr>
          <a:xfrm>
            <a:off x="311706" y="3172885"/>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287" name="Google Shape;287;p39"/>
          <p:cNvSpPr/>
          <p:nvPr/>
        </p:nvSpPr>
        <p:spPr>
          <a:xfrm>
            <a:off x="311706" y="397337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288" name="Google Shape;288;p39"/>
          <p:cNvSpPr/>
          <p:nvPr/>
        </p:nvSpPr>
        <p:spPr>
          <a:xfrm>
            <a:off x="226800" y="1418575"/>
            <a:ext cx="2087400" cy="24156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9" name="Google Shape;289;p39"/>
          <p:cNvSpPr txBox="1"/>
          <p:nvPr/>
        </p:nvSpPr>
        <p:spPr>
          <a:xfrm>
            <a:off x="2813875" y="3973375"/>
            <a:ext cx="53256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800">
                <a:solidFill>
                  <a:schemeClr val="dk1"/>
                </a:solidFill>
                <a:latin typeface="EB Garamond"/>
                <a:ea typeface="EB Garamond"/>
                <a:cs typeface="EB Garamond"/>
                <a:sym typeface="EB Garamond"/>
              </a:rPr>
              <a:t>Exhaustivo, excluyente, se pueden jerarquizar, existe diferencia exacta entre atributos y se agrega el </a:t>
            </a:r>
            <a:r>
              <a:rPr lang="es" sz="1800">
                <a:solidFill>
                  <a:schemeClr val="dk1"/>
                </a:solidFill>
                <a:highlight>
                  <a:srgbClr val="A2C4C9"/>
                </a:highlight>
                <a:latin typeface="EB Garamond"/>
                <a:ea typeface="EB Garamond"/>
                <a:cs typeface="EB Garamond"/>
                <a:sym typeface="EB Garamond"/>
              </a:rPr>
              <a:t>cero absoluto</a:t>
            </a:r>
            <a:r>
              <a:rPr lang="es" sz="1800">
                <a:solidFill>
                  <a:schemeClr val="dk1"/>
                </a:solidFill>
                <a:latin typeface="EB Garamond"/>
                <a:ea typeface="EB Garamond"/>
                <a:cs typeface="EB Garamond"/>
                <a:sym typeface="EB Garamond"/>
              </a:rPr>
              <a:t>.</a:t>
            </a:r>
            <a:r>
              <a:rPr b="1" lang="es" sz="1800">
                <a:solidFill>
                  <a:schemeClr val="dk1"/>
                </a:solidFill>
                <a:latin typeface="EB Garamond"/>
                <a:ea typeface="EB Garamond"/>
                <a:cs typeface="EB Garamond"/>
                <a:sym typeface="EB Garamond"/>
              </a:rPr>
              <a:t> </a:t>
            </a:r>
            <a:endParaRPr sz="1800">
              <a:solidFill>
                <a:schemeClr val="dk1"/>
              </a:solidFill>
              <a:latin typeface="EB Garamond"/>
              <a:ea typeface="EB Garamond"/>
              <a:cs typeface="EB Garamond"/>
              <a:sym typeface="EB Garamond"/>
            </a:endParaRPr>
          </a:p>
        </p:txBody>
      </p:sp>
      <p:sp>
        <p:nvSpPr>
          <p:cNvPr id="290" name="Google Shape;290;p39"/>
          <p:cNvSpPr txBox="1"/>
          <p:nvPr/>
        </p:nvSpPr>
        <p:spPr>
          <a:xfrm>
            <a:off x="2907425" y="2372382"/>
            <a:ext cx="2931000" cy="1385400"/>
          </a:xfrm>
          <a:prstGeom prst="rect">
            <a:avLst/>
          </a:prstGeom>
          <a:noFill/>
          <a:ln cap="flat" cmpd="sng" w="4127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
                <a:solidFill>
                  <a:schemeClr val="dk1"/>
                </a:solidFill>
                <a:latin typeface="EB Garamond"/>
                <a:ea typeface="EB Garamond"/>
                <a:cs typeface="EB Garamond"/>
                <a:sym typeface="EB Garamond"/>
              </a:rPr>
              <a:t>P6. ¿Cuántos hijos/as tiene?</a:t>
            </a:r>
            <a:endParaRPr>
              <a:solidFill>
                <a:schemeClr val="dk1"/>
              </a:solidFill>
              <a:latin typeface="EB Garamond"/>
              <a:ea typeface="EB Garamond"/>
              <a:cs typeface="EB Garamond"/>
              <a:sym typeface="EB Garamond"/>
            </a:endParaRPr>
          </a:p>
          <a:p>
            <a:pPr indent="-317500" lvl="0" marL="457200" marR="0" rtl="0" algn="l">
              <a:spcBef>
                <a:spcPts val="0"/>
              </a:spcBef>
              <a:spcAft>
                <a:spcPts val="0"/>
              </a:spcAft>
              <a:buClr>
                <a:schemeClr val="dk1"/>
              </a:buClr>
              <a:buSzPts val="1400"/>
              <a:buFont typeface="EB Garamond"/>
              <a:buAutoNum type="arabicPeriod"/>
            </a:pPr>
            <a:r>
              <a:rPr b="1" lang="es">
                <a:solidFill>
                  <a:schemeClr val="dk1"/>
                </a:solidFill>
                <a:latin typeface="EB Garamond"/>
                <a:ea typeface="EB Garamond"/>
                <a:cs typeface="EB Garamond"/>
                <a:sym typeface="EB Garamond"/>
              </a:rPr>
              <a:t>0</a:t>
            </a:r>
            <a:endParaRPr>
              <a:solidFill>
                <a:schemeClr val="dk1"/>
              </a:solidFill>
              <a:latin typeface="EB Garamond"/>
              <a:ea typeface="EB Garamond"/>
              <a:cs typeface="EB Garamond"/>
              <a:sym typeface="EB Garamond"/>
            </a:endParaRPr>
          </a:p>
          <a:p>
            <a:pPr indent="-317500" lvl="0" marL="457200" marR="0" rtl="0" algn="l">
              <a:spcBef>
                <a:spcPts val="0"/>
              </a:spcBef>
              <a:spcAft>
                <a:spcPts val="0"/>
              </a:spcAft>
              <a:buClr>
                <a:schemeClr val="dk1"/>
              </a:buClr>
              <a:buSzPts val="1400"/>
              <a:buFont typeface="EB Garamond"/>
              <a:buAutoNum type="arabicPeriod"/>
            </a:pPr>
            <a:r>
              <a:rPr b="1" lang="es">
                <a:solidFill>
                  <a:schemeClr val="dk1"/>
                </a:solidFill>
                <a:latin typeface="EB Garamond"/>
                <a:ea typeface="EB Garamond"/>
                <a:cs typeface="EB Garamond"/>
                <a:sym typeface="EB Garamond"/>
              </a:rPr>
              <a:t>1</a:t>
            </a:r>
            <a:endParaRPr>
              <a:solidFill>
                <a:schemeClr val="dk1"/>
              </a:solidFill>
              <a:latin typeface="EB Garamond"/>
              <a:ea typeface="EB Garamond"/>
              <a:cs typeface="EB Garamond"/>
              <a:sym typeface="EB Garamond"/>
            </a:endParaRPr>
          </a:p>
          <a:p>
            <a:pPr indent="-317500" lvl="0" marL="457200" marR="0" rtl="0" algn="l">
              <a:spcBef>
                <a:spcPts val="0"/>
              </a:spcBef>
              <a:spcAft>
                <a:spcPts val="0"/>
              </a:spcAft>
              <a:buClr>
                <a:schemeClr val="dk1"/>
              </a:buClr>
              <a:buSzPts val="1400"/>
              <a:buFont typeface="EB Garamond"/>
              <a:buAutoNum type="arabicPeriod"/>
            </a:pPr>
            <a:r>
              <a:rPr b="1" lang="es">
                <a:solidFill>
                  <a:schemeClr val="dk1"/>
                </a:solidFill>
                <a:latin typeface="EB Garamond"/>
                <a:ea typeface="EB Garamond"/>
                <a:cs typeface="EB Garamond"/>
                <a:sym typeface="EB Garamond"/>
              </a:rPr>
              <a:t>2</a:t>
            </a:r>
            <a:endParaRPr>
              <a:solidFill>
                <a:schemeClr val="dk1"/>
              </a:solidFill>
              <a:latin typeface="EB Garamond"/>
              <a:ea typeface="EB Garamond"/>
              <a:cs typeface="EB Garamond"/>
              <a:sym typeface="EB Garamond"/>
            </a:endParaRPr>
          </a:p>
          <a:p>
            <a:pPr indent="-317500" lvl="0" marL="457200" marR="0" rtl="0" algn="l">
              <a:spcBef>
                <a:spcPts val="0"/>
              </a:spcBef>
              <a:spcAft>
                <a:spcPts val="0"/>
              </a:spcAft>
              <a:buClr>
                <a:schemeClr val="dk1"/>
              </a:buClr>
              <a:buSzPts val="1400"/>
              <a:buFont typeface="EB Garamond"/>
              <a:buAutoNum type="arabicPeriod"/>
            </a:pPr>
            <a:r>
              <a:rPr b="1" lang="es">
                <a:solidFill>
                  <a:schemeClr val="dk1"/>
                </a:solidFill>
                <a:latin typeface="EB Garamond"/>
                <a:ea typeface="EB Garamond"/>
                <a:cs typeface="EB Garamond"/>
                <a:sym typeface="EB Garamond"/>
              </a:rPr>
              <a:t>3</a:t>
            </a:r>
            <a:endParaRPr>
              <a:solidFill>
                <a:schemeClr val="dk1"/>
              </a:solidFill>
              <a:latin typeface="EB Garamond"/>
              <a:ea typeface="EB Garamond"/>
              <a:cs typeface="EB Garamond"/>
              <a:sym typeface="EB Garamond"/>
            </a:endParaRPr>
          </a:p>
          <a:p>
            <a:pPr indent="-317500" lvl="0" marL="457200" marR="0" rtl="0" algn="l">
              <a:spcBef>
                <a:spcPts val="0"/>
              </a:spcBef>
              <a:spcAft>
                <a:spcPts val="0"/>
              </a:spcAft>
              <a:buClr>
                <a:schemeClr val="dk1"/>
              </a:buClr>
              <a:buSzPts val="1400"/>
              <a:buFont typeface="EB Garamond"/>
              <a:buAutoNum type="arabicPeriod"/>
            </a:pPr>
            <a:r>
              <a:rPr b="1" lang="es">
                <a:solidFill>
                  <a:schemeClr val="dk1"/>
                </a:solidFill>
                <a:latin typeface="EB Garamond"/>
                <a:ea typeface="EB Garamond"/>
                <a:cs typeface="EB Garamond"/>
                <a:sym typeface="EB Garamond"/>
              </a:rPr>
              <a:t>más de 3</a:t>
            </a:r>
            <a:endParaRPr>
              <a:solidFill>
                <a:schemeClr val="dk1"/>
              </a:solidFill>
              <a:latin typeface="EB Garamond"/>
              <a:ea typeface="EB Garamond"/>
              <a:cs typeface="EB Garamond"/>
              <a:sym typeface="EB Garamo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Nivel de medición</a:t>
            </a:r>
            <a:endParaRPr b="1">
              <a:latin typeface="EB Garamond"/>
              <a:ea typeface="EB Garamond"/>
              <a:cs typeface="EB Garamond"/>
              <a:sym typeface="EB Garamond"/>
            </a:endParaRPr>
          </a:p>
        </p:txBody>
      </p:sp>
      <p:sp>
        <p:nvSpPr>
          <p:cNvPr id="296" name="Google Shape;296;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solidFill>
                  <a:schemeClr val="dk1"/>
                </a:solidFill>
              </a:rPr>
              <a:t>‹#›</a:t>
            </a:fld>
            <a:endParaRPr>
              <a:solidFill>
                <a:schemeClr val="dk1"/>
              </a:solidFill>
            </a:endParaRPr>
          </a:p>
        </p:txBody>
      </p:sp>
      <p:sp>
        <p:nvSpPr>
          <p:cNvPr id="297" name="Google Shape;297;p40"/>
          <p:cNvSpPr/>
          <p:nvPr/>
        </p:nvSpPr>
        <p:spPr>
          <a:xfrm>
            <a:off x="311706" y="1571867"/>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298" name="Google Shape;298;p40"/>
          <p:cNvSpPr/>
          <p:nvPr/>
        </p:nvSpPr>
        <p:spPr>
          <a:xfrm>
            <a:off x="311706" y="237237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299" name="Google Shape;299;p40"/>
          <p:cNvSpPr/>
          <p:nvPr/>
        </p:nvSpPr>
        <p:spPr>
          <a:xfrm>
            <a:off x="311706" y="3172885"/>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300" name="Google Shape;300;p40"/>
          <p:cNvSpPr/>
          <p:nvPr/>
        </p:nvSpPr>
        <p:spPr>
          <a:xfrm>
            <a:off x="311706" y="397337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301" name="Google Shape;301;p40"/>
          <p:cNvSpPr txBox="1"/>
          <p:nvPr/>
        </p:nvSpPr>
        <p:spPr>
          <a:xfrm>
            <a:off x="2643775" y="3973375"/>
            <a:ext cx="58287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700">
                <a:solidFill>
                  <a:schemeClr val="dk1"/>
                </a:solidFill>
                <a:latin typeface="EB Garamond"/>
                <a:ea typeface="EB Garamond"/>
                <a:cs typeface="EB Garamond"/>
                <a:sym typeface="EB Garamond"/>
              </a:rPr>
              <a:t>Exhaustivo, excluyente, se pueden jerarquizar, existe diferencia exacta entre atributos y se agrega el </a:t>
            </a:r>
            <a:r>
              <a:rPr lang="es" sz="1700">
                <a:solidFill>
                  <a:schemeClr val="dk1"/>
                </a:solidFill>
                <a:highlight>
                  <a:srgbClr val="A2C4C9"/>
                </a:highlight>
                <a:latin typeface="EB Garamond"/>
                <a:ea typeface="EB Garamond"/>
                <a:cs typeface="EB Garamond"/>
                <a:sym typeface="EB Garamond"/>
              </a:rPr>
              <a:t>cero absoluto</a:t>
            </a:r>
            <a:r>
              <a:rPr lang="es" sz="1700">
                <a:solidFill>
                  <a:schemeClr val="dk1"/>
                </a:solidFill>
                <a:latin typeface="EB Garamond"/>
                <a:ea typeface="EB Garamond"/>
                <a:cs typeface="EB Garamond"/>
                <a:sym typeface="EB Garamond"/>
              </a:rPr>
              <a:t>.</a:t>
            </a:r>
            <a:r>
              <a:rPr b="1" lang="es" sz="1700">
                <a:solidFill>
                  <a:schemeClr val="dk1"/>
                </a:solidFill>
                <a:latin typeface="EB Garamond"/>
                <a:ea typeface="EB Garamond"/>
                <a:cs typeface="EB Garamond"/>
                <a:sym typeface="EB Garamond"/>
              </a:rPr>
              <a:t> </a:t>
            </a:r>
            <a:endParaRPr sz="1700">
              <a:solidFill>
                <a:schemeClr val="dk1"/>
              </a:solidFill>
              <a:latin typeface="EB Garamond"/>
              <a:ea typeface="EB Garamond"/>
              <a:cs typeface="EB Garamond"/>
              <a:sym typeface="EB Garamond"/>
            </a:endParaRPr>
          </a:p>
        </p:txBody>
      </p:sp>
      <p:sp>
        <p:nvSpPr>
          <p:cNvPr id="302" name="Google Shape;302;p40"/>
          <p:cNvSpPr txBox="1"/>
          <p:nvPr/>
        </p:nvSpPr>
        <p:spPr>
          <a:xfrm>
            <a:off x="2643775" y="1650775"/>
            <a:ext cx="59118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700">
                <a:solidFill>
                  <a:schemeClr val="dk1"/>
                </a:solidFill>
                <a:latin typeface="EB Garamond"/>
                <a:ea typeface="EB Garamond"/>
                <a:cs typeface="EB Garamond"/>
                <a:sym typeface="EB Garamond"/>
              </a:rPr>
              <a:t>Variables cuyos atributos son </a:t>
            </a:r>
            <a:r>
              <a:rPr lang="es" sz="1700">
                <a:solidFill>
                  <a:schemeClr val="dk1"/>
                </a:solidFill>
                <a:highlight>
                  <a:srgbClr val="A2C4C9"/>
                </a:highlight>
                <a:latin typeface="EB Garamond"/>
                <a:ea typeface="EB Garamond"/>
                <a:cs typeface="EB Garamond"/>
                <a:sym typeface="EB Garamond"/>
              </a:rPr>
              <a:t>exhaustivos y excluyentes</a:t>
            </a:r>
            <a:r>
              <a:rPr lang="es" sz="1700">
                <a:solidFill>
                  <a:schemeClr val="dk1"/>
                </a:solidFill>
                <a:latin typeface="EB Garamond"/>
                <a:ea typeface="EB Garamond"/>
                <a:cs typeface="EB Garamond"/>
                <a:sym typeface="EB Garamond"/>
              </a:rPr>
              <a:t>.</a:t>
            </a:r>
            <a:endParaRPr sz="1700">
              <a:solidFill>
                <a:schemeClr val="dk1"/>
              </a:solidFill>
              <a:latin typeface="EB Garamond"/>
              <a:ea typeface="EB Garamond"/>
              <a:cs typeface="EB Garamond"/>
              <a:sym typeface="EB Garamond"/>
            </a:endParaRPr>
          </a:p>
        </p:txBody>
      </p:sp>
      <p:sp>
        <p:nvSpPr>
          <p:cNvPr id="303" name="Google Shape;303;p40"/>
          <p:cNvSpPr txBox="1"/>
          <p:nvPr/>
        </p:nvSpPr>
        <p:spPr>
          <a:xfrm>
            <a:off x="2643775" y="2451275"/>
            <a:ext cx="58287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s" sz="1700">
                <a:solidFill>
                  <a:schemeClr val="dk1"/>
                </a:solidFill>
                <a:latin typeface="EB Garamond"/>
                <a:ea typeface="EB Garamond"/>
                <a:cs typeface="EB Garamond"/>
                <a:sym typeface="EB Garamond"/>
              </a:rPr>
              <a:t>Exhaustivo, excluyente y se pueden </a:t>
            </a:r>
            <a:r>
              <a:rPr lang="es" sz="1700">
                <a:solidFill>
                  <a:schemeClr val="dk1"/>
                </a:solidFill>
                <a:highlight>
                  <a:srgbClr val="A2C4C9"/>
                </a:highlight>
                <a:latin typeface="EB Garamond"/>
                <a:ea typeface="EB Garamond"/>
                <a:cs typeface="EB Garamond"/>
                <a:sym typeface="EB Garamond"/>
              </a:rPr>
              <a:t>ordenar o jerarquizar</a:t>
            </a:r>
            <a:r>
              <a:rPr lang="es" sz="1700">
                <a:solidFill>
                  <a:schemeClr val="dk1"/>
                </a:solidFill>
                <a:latin typeface="EB Garamond"/>
                <a:ea typeface="EB Garamond"/>
                <a:cs typeface="EB Garamond"/>
                <a:sym typeface="EB Garamond"/>
              </a:rPr>
              <a:t>.</a:t>
            </a:r>
            <a:endParaRPr sz="1700">
              <a:solidFill>
                <a:schemeClr val="dk1"/>
              </a:solidFill>
              <a:latin typeface="EB Garamond"/>
              <a:ea typeface="EB Garamond"/>
              <a:cs typeface="EB Garamond"/>
              <a:sym typeface="EB Garamond"/>
            </a:endParaRPr>
          </a:p>
        </p:txBody>
      </p:sp>
      <p:sp>
        <p:nvSpPr>
          <p:cNvPr id="304" name="Google Shape;304;p40"/>
          <p:cNvSpPr txBox="1"/>
          <p:nvPr/>
        </p:nvSpPr>
        <p:spPr>
          <a:xfrm>
            <a:off x="2643775" y="3172875"/>
            <a:ext cx="5828700" cy="87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700">
                <a:solidFill>
                  <a:schemeClr val="dk1"/>
                </a:solidFill>
                <a:latin typeface="EB Garamond"/>
                <a:ea typeface="EB Garamond"/>
                <a:cs typeface="EB Garamond"/>
                <a:sym typeface="EB Garamond"/>
              </a:rPr>
              <a:t>Exhaustivo, excluyente, se pueden jerarquizar y existe </a:t>
            </a:r>
            <a:r>
              <a:rPr lang="es" sz="1700">
                <a:solidFill>
                  <a:schemeClr val="dk1"/>
                </a:solidFill>
                <a:highlight>
                  <a:srgbClr val="A2C4C9"/>
                </a:highlight>
                <a:latin typeface="EB Garamond"/>
                <a:ea typeface="EB Garamond"/>
                <a:cs typeface="EB Garamond"/>
                <a:sym typeface="EB Garamond"/>
              </a:rPr>
              <a:t>diferencia exacta entre atributos</a:t>
            </a:r>
            <a:r>
              <a:rPr lang="es" sz="1700">
                <a:solidFill>
                  <a:schemeClr val="dk1"/>
                </a:solidFill>
                <a:latin typeface="EB Garamond"/>
                <a:ea typeface="EB Garamond"/>
                <a:cs typeface="EB Garamond"/>
                <a:sym typeface="EB Garamond"/>
              </a:rPr>
              <a:t>. </a:t>
            </a:r>
            <a:endParaRPr sz="1700">
              <a:solidFill>
                <a:schemeClr val="dk1"/>
              </a:solidFill>
              <a:latin typeface="EB Garamond"/>
              <a:ea typeface="EB Garamond"/>
              <a:cs typeface="EB Garamond"/>
              <a:sym typeface="EB Garamond"/>
            </a:endParaRPr>
          </a:p>
          <a:p>
            <a:pPr indent="0" lvl="0" marL="0" marR="0" rtl="0" algn="l">
              <a:spcBef>
                <a:spcPts val="0"/>
              </a:spcBef>
              <a:spcAft>
                <a:spcPts val="0"/>
              </a:spcAft>
              <a:buNone/>
            </a:pPr>
            <a:r>
              <a:t/>
            </a:r>
            <a:endParaRPr sz="1700">
              <a:solidFill>
                <a:schemeClr val="dk1"/>
              </a:solidFill>
              <a:latin typeface="EB Garamond"/>
              <a:ea typeface="EB Garamond"/>
              <a:cs typeface="EB Garamond"/>
              <a:sym typeface="EB Garamon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Escala de medición</a:t>
            </a:r>
            <a:endParaRPr b="1">
              <a:latin typeface="EB Garamond"/>
              <a:ea typeface="EB Garamond"/>
              <a:cs typeface="EB Garamond"/>
              <a:sym typeface="EB Garamond"/>
            </a:endParaRPr>
          </a:p>
        </p:txBody>
      </p:sp>
      <p:sp>
        <p:nvSpPr>
          <p:cNvPr id="310" name="Google Shape;31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11" name="Google Shape;311;p41"/>
          <p:cNvSpPr/>
          <p:nvPr/>
        </p:nvSpPr>
        <p:spPr>
          <a:xfrm>
            <a:off x="432879" y="3100390"/>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800">
                <a:solidFill>
                  <a:schemeClr val="dk1"/>
                </a:solidFill>
                <a:latin typeface="EB Garamond"/>
                <a:ea typeface="EB Garamond"/>
                <a:cs typeface="EB Garamond"/>
                <a:sym typeface="EB Garamond"/>
              </a:rPr>
              <a:t>Continua</a:t>
            </a:r>
            <a:endParaRPr sz="1800">
              <a:solidFill>
                <a:schemeClr val="dk1"/>
              </a:solidFill>
              <a:latin typeface="EB Garamond"/>
              <a:ea typeface="EB Garamond"/>
              <a:cs typeface="EB Garamond"/>
              <a:sym typeface="EB Garamond"/>
            </a:endParaRPr>
          </a:p>
        </p:txBody>
      </p:sp>
      <p:sp>
        <p:nvSpPr>
          <p:cNvPr id="312" name="Google Shape;312;p41"/>
          <p:cNvSpPr/>
          <p:nvPr/>
        </p:nvSpPr>
        <p:spPr>
          <a:xfrm>
            <a:off x="432875" y="1366300"/>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800">
                <a:solidFill>
                  <a:schemeClr val="dk1"/>
                </a:solidFill>
                <a:latin typeface="EB Garamond"/>
                <a:ea typeface="EB Garamond"/>
                <a:cs typeface="EB Garamond"/>
                <a:sym typeface="EB Garamond"/>
              </a:rPr>
              <a:t>Discreta</a:t>
            </a:r>
            <a:endParaRPr>
              <a:solidFill>
                <a:schemeClr val="dk1"/>
              </a:solidFill>
              <a:latin typeface="EB Garamond"/>
              <a:ea typeface="EB Garamond"/>
              <a:cs typeface="EB Garamond"/>
              <a:sym typeface="EB Garamond"/>
            </a:endParaRPr>
          </a:p>
        </p:txBody>
      </p:sp>
      <p:sp>
        <p:nvSpPr>
          <p:cNvPr id="313" name="Google Shape;313;p41"/>
          <p:cNvSpPr txBox="1"/>
          <p:nvPr/>
        </p:nvSpPr>
        <p:spPr>
          <a:xfrm>
            <a:off x="2897799" y="1366300"/>
            <a:ext cx="55746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600">
                <a:solidFill>
                  <a:schemeClr val="dk1"/>
                </a:solidFill>
                <a:latin typeface="EB Garamond"/>
                <a:ea typeface="EB Garamond"/>
                <a:cs typeface="EB Garamond"/>
                <a:sym typeface="EB Garamond"/>
              </a:rPr>
              <a:t>Son aquellas en que la escala de medición de la variable </a:t>
            </a:r>
            <a:r>
              <a:rPr b="1" lang="es" sz="1600">
                <a:solidFill>
                  <a:schemeClr val="dk1"/>
                </a:solidFill>
                <a:latin typeface="EB Garamond"/>
                <a:ea typeface="EB Garamond"/>
                <a:cs typeface="EB Garamond"/>
                <a:sym typeface="EB Garamond"/>
              </a:rPr>
              <a:t>no cabe la posibilidad de hallar valores intermedios</a:t>
            </a:r>
            <a:r>
              <a:rPr lang="es" sz="1600">
                <a:solidFill>
                  <a:schemeClr val="dk1"/>
                </a:solidFill>
                <a:latin typeface="EB Garamond"/>
                <a:ea typeface="EB Garamond"/>
                <a:cs typeface="EB Garamond"/>
                <a:sym typeface="EB Garamond"/>
              </a:rPr>
              <a:t>, comprendidos entre 2 atributos de la variable</a:t>
            </a:r>
            <a:endParaRPr sz="1200">
              <a:solidFill>
                <a:schemeClr val="dk1"/>
              </a:solidFill>
              <a:latin typeface="EB Garamond"/>
              <a:ea typeface="EB Garamond"/>
              <a:cs typeface="EB Garamond"/>
              <a:sym typeface="EB Garamond"/>
            </a:endParaRPr>
          </a:p>
        </p:txBody>
      </p:sp>
      <p:sp>
        <p:nvSpPr>
          <p:cNvPr id="314" name="Google Shape;314;p41"/>
          <p:cNvSpPr txBox="1"/>
          <p:nvPr/>
        </p:nvSpPr>
        <p:spPr>
          <a:xfrm>
            <a:off x="2897789" y="3071455"/>
            <a:ext cx="5949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600">
                <a:solidFill>
                  <a:schemeClr val="dk1"/>
                </a:solidFill>
                <a:latin typeface="EB Garamond"/>
                <a:ea typeface="EB Garamond"/>
                <a:cs typeface="EB Garamond"/>
                <a:sym typeface="EB Garamond"/>
              </a:rPr>
              <a:t>Son aquellas en las que puede hallarse valores intermedios entre dos valores dados, al conformar una </a:t>
            </a:r>
            <a:r>
              <a:rPr b="1" lang="es" sz="1600">
                <a:solidFill>
                  <a:schemeClr val="dk1"/>
                </a:solidFill>
                <a:latin typeface="EB Garamond"/>
                <a:ea typeface="EB Garamond"/>
                <a:cs typeface="EB Garamond"/>
                <a:sym typeface="EB Garamond"/>
              </a:rPr>
              <a:t>escala ininterrumpida de valores.</a:t>
            </a:r>
            <a:endParaRPr sz="1200">
              <a:solidFill>
                <a:schemeClr val="dk1"/>
              </a:solidFill>
              <a:latin typeface="EB Garamond"/>
              <a:ea typeface="EB Garamond"/>
              <a:cs typeface="EB Garamond"/>
              <a:sym typeface="EB Garamond"/>
            </a:endParaRPr>
          </a:p>
        </p:txBody>
      </p:sp>
      <p:sp>
        <p:nvSpPr>
          <p:cNvPr id="315" name="Google Shape;315;p41"/>
          <p:cNvSpPr txBox="1"/>
          <p:nvPr/>
        </p:nvSpPr>
        <p:spPr>
          <a:xfrm>
            <a:off x="5328626" y="2026825"/>
            <a:ext cx="2837400" cy="738900"/>
          </a:xfrm>
          <a:prstGeom prst="rect">
            <a:avLst/>
          </a:prstGeom>
          <a:noFill/>
          <a:ln cap="flat" cmpd="sng" w="41275">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273050" lvl="0" marL="285750" marR="0" rtl="0" algn="l">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Número de hijos/as</a:t>
            </a:r>
            <a:endParaRPr>
              <a:solidFill>
                <a:schemeClr val="dk1"/>
              </a:solidFill>
              <a:latin typeface="EB Garamond"/>
              <a:ea typeface="EB Garamond"/>
              <a:cs typeface="EB Garamond"/>
              <a:sym typeface="EB Garamond"/>
            </a:endParaRPr>
          </a:p>
          <a:p>
            <a:pPr indent="-273050" lvl="0" marL="285750" marR="0" rtl="0" algn="l">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Veces que miro mi celular</a:t>
            </a:r>
            <a:endParaRPr>
              <a:solidFill>
                <a:schemeClr val="dk1"/>
              </a:solidFill>
              <a:latin typeface="EB Garamond"/>
              <a:ea typeface="EB Garamond"/>
              <a:cs typeface="EB Garamond"/>
              <a:sym typeface="EB Garamond"/>
            </a:endParaRPr>
          </a:p>
          <a:p>
            <a:pPr indent="-273050" lvl="0" marL="285750" marR="0" rtl="0" algn="l">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Número de integrantes hogar</a:t>
            </a:r>
            <a:endParaRPr>
              <a:solidFill>
                <a:schemeClr val="dk1"/>
              </a:solidFill>
              <a:latin typeface="EB Garamond"/>
              <a:ea typeface="EB Garamond"/>
              <a:cs typeface="EB Garamond"/>
              <a:sym typeface="EB Garamond"/>
            </a:endParaRPr>
          </a:p>
        </p:txBody>
      </p:sp>
      <p:sp>
        <p:nvSpPr>
          <p:cNvPr id="316" name="Google Shape;316;p41"/>
          <p:cNvSpPr txBox="1"/>
          <p:nvPr/>
        </p:nvSpPr>
        <p:spPr>
          <a:xfrm>
            <a:off x="5328550" y="3790375"/>
            <a:ext cx="2837400" cy="738900"/>
          </a:xfrm>
          <a:prstGeom prst="rect">
            <a:avLst/>
          </a:prstGeom>
          <a:noFill/>
          <a:ln cap="flat" cmpd="sng" w="41275">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273050" lvl="0" marL="285750" marR="0" rtl="0" algn="l">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Peso</a:t>
            </a:r>
            <a:endParaRPr>
              <a:solidFill>
                <a:schemeClr val="dk1"/>
              </a:solidFill>
              <a:latin typeface="EB Garamond"/>
              <a:ea typeface="EB Garamond"/>
              <a:cs typeface="EB Garamond"/>
              <a:sym typeface="EB Garamond"/>
            </a:endParaRPr>
          </a:p>
          <a:p>
            <a:pPr indent="-273050" lvl="0" marL="285750" marR="0" rtl="0" algn="l">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Talla</a:t>
            </a:r>
            <a:endParaRPr>
              <a:solidFill>
                <a:schemeClr val="dk1"/>
              </a:solidFill>
              <a:latin typeface="EB Garamond"/>
              <a:ea typeface="EB Garamond"/>
              <a:cs typeface="EB Garamond"/>
              <a:sym typeface="EB Garamond"/>
            </a:endParaRPr>
          </a:p>
          <a:p>
            <a:pPr indent="-273050" lvl="0" marL="285750" marR="0" rtl="0" algn="l">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Ingreso</a:t>
            </a:r>
            <a:endParaRPr>
              <a:solidFill>
                <a:schemeClr val="dk1"/>
              </a:solidFill>
              <a:latin typeface="EB Garamond"/>
              <a:ea typeface="EB Garamond"/>
              <a:cs typeface="EB Garamond"/>
              <a:sym typeface="EB Garamo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Función en la investigación</a:t>
            </a:r>
            <a:endParaRPr b="1">
              <a:latin typeface="EB Garamond"/>
              <a:ea typeface="EB Garamond"/>
              <a:cs typeface="EB Garamond"/>
              <a:sym typeface="EB Garamond"/>
            </a:endParaRPr>
          </a:p>
        </p:txBody>
      </p:sp>
      <p:sp>
        <p:nvSpPr>
          <p:cNvPr id="322" name="Google Shape;322;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23" name="Google Shape;323;p42"/>
          <p:cNvSpPr/>
          <p:nvPr/>
        </p:nvSpPr>
        <p:spPr>
          <a:xfrm>
            <a:off x="311700" y="1346575"/>
            <a:ext cx="1917600" cy="6564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Dependiente</a:t>
            </a:r>
            <a:endParaRPr sz="1100">
              <a:latin typeface="EB Garamond"/>
              <a:ea typeface="EB Garamond"/>
              <a:cs typeface="EB Garamond"/>
              <a:sym typeface="EB Garamond"/>
            </a:endParaRPr>
          </a:p>
        </p:txBody>
      </p:sp>
      <p:sp>
        <p:nvSpPr>
          <p:cNvPr id="324" name="Google Shape;324;p42"/>
          <p:cNvSpPr/>
          <p:nvPr/>
        </p:nvSpPr>
        <p:spPr>
          <a:xfrm>
            <a:off x="311699" y="2530592"/>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Independiente</a:t>
            </a:r>
            <a:endParaRPr sz="1100">
              <a:latin typeface="EB Garamond"/>
              <a:ea typeface="EB Garamond"/>
              <a:cs typeface="EB Garamond"/>
              <a:sym typeface="EB Garamond"/>
            </a:endParaRPr>
          </a:p>
        </p:txBody>
      </p:sp>
      <p:sp>
        <p:nvSpPr>
          <p:cNvPr id="325" name="Google Shape;325;p42"/>
          <p:cNvSpPr/>
          <p:nvPr/>
        </p:nvSpPr>
        <p:spPr>
          <a:xfrm>
            <a:off x="311699" y="3747024"/>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Control</a:t>
            </a:r>
            <a:endParaRPr sz="1100">
              <a:latin typeface="EB Garamond"/>
              <a:ea typeface="EB Garamond"/>
              <a:cs typeface="EB Garamond"/>
              <a:sym typeface="EB Garamond"/>
            </a:endParaRPr>
          </a:p>
        </p:txBody>
      </p:sp>
      <p:sp>
        <p:nvSpPr>
          <p:cNvPr id="326" name="Google Shape;326;p42"/>
          <p:cNvSpPr txBox="1"/>
          <p:nvPr/>
        </p:nvSpPr>
        <p:spPr>
          <a:xfrm>
            <a:off x="2558992" y="1413187"/>
            <a:ext cx="29901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400">
                <a:solidFill>
                  <a:schemeClr val="dk1"/>
                </a:solidFill>
                <a:latin typeface="EB Garamond"/>
                <a:ea typeface="EB Garamond"/>
                <a:cs typeface="EB Garamond"/>
                <a:sym typeface="EB Garamond"/>
              </a:rPr>
              <a:t>Aquellas cuyos atributos “dependen” de cómo varían las variables independientes.</a:t>
            </a:r>
            <a:endParaRPr>
              <a:solidFill>
                <a:schemeClr val="dk1"/>
              </a:solidFill>
              <a:latin typeface="EB Garamond"/>
              <a:ea typeface="EB Garamond"/>
              <a:cs typeface="EB Garamond"/>
              <a:sym typeface="EB Garamond"/>
            </a:endParaRPr>
          </a:p>
        </p:txBody>
      </p:sp>
      <p:sp>
        <p:nvSpPr>
          <p:cNvPr id="327" name="Google Shape;327;p42"/>
          <p:cNvSpPr txBox="1"/>
          <p:nvPr/>
        </p:nvSpPr>
        <p:spPr>
          <a:xfrm>
            <a:off x="2558991" y="2613401"/>
            <a:ext cx="29901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400">
                <a:solidFill>
                  <a:schemeClr val="dk1"/>
                </a:solidFill>
                <a:latin typeface="EB Garamond"/>
                <a:ea typeface="EB Garamond"/>
                <a:cs typeface="EB Garamond"/>
                <a:sym typeface="EB Garamond"/>
              </a:rPr>
              <a:t>Variable que la “variar”, debería influir a la variable que depende de ella.</a:t>
            </a:r>
            <a:endParaRPr>
              <a:solidFill>
                <a:schemeClr val="dk1"/>
              </a:solidFill>
              <a:latin typeface="EB Garamond"/>
              <a:ea typeface="EB Garamond"/>
              <a:cs typeface="EB Garamond"/>
              <a:sym typeface="EB Garamond"/>
            </a:endParaRPr>
          </a:p>
        </p:txBody>
      </p:sp>
      <p:sp>
        <p:nvSpPr>
          <p:cNvPr id="328" name="Google Shape;328;p42"/>
          <p:cNvSpPr txBox="1"/>
          <p:nvPr/>
        </p:nvSpPr>
        <p:spPr>
          <a:xfrm>
            <a:off x="2558990" y="3721971"/>
            <a:ext cx="2990100" cy="738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400">
                <a:solidFill>
                  <a:schemeClr val="dk1"/>
                </a:solidFill>
                <a:latin typeface="EB Garamond"/>
                <a:ea typeface="EB Garamond"/>
                <a:cs typeface="EB Garamond"/>
                <a:sym typeface="EB Garamond"/>
              </a:rPr>
              <a:t>Aquella que busca ”controlar” la relación entre VI y VD, es decir, ver cómo se comporta si entra otra variable en juego.</a:t>
            </a:r>
            <a:endParaRPr>
              <a:solidFill>
                <a:schemeClr val="dk1"/>
              </a:solidFill>
              <a:latin typeface="EB Garamond"/>
              <a:ea typeface="EB Garamond"/>
              <a:cs typeface="EB Garamond"/>
              <a:sym typeface="EB Garamond"/>
            </a:endParaRPr>
          </a:p>
        </p:txBody>
      </p:sp>
      <p:sp>
        <p:nvSpPr>
          <p:cNvPr id="329" name="Google Shape;329;p42"/>
          <p:cNvSpPr txBox="1"/>
          <p:nvPr/>
        </p:nvSpPr>
        <p:spPr>
          <a:xfrm>
            <a:off x="5910203" y="1413180"/>
            <a:ext cx="2605200" cy="492600"/>
          </a:xfrm>
          <a:prstGeom prst="rect">
            <a:avLst/>
          </a:prstGeom>
          <a:noFill/>
          <a:ln cap="flat" cmpd="sng" w="28575">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 sz="1300">
                <a:solidFill>
                  <a:schemeClr val="dk1"/>
                </a:solidFill>
                <a:latin typeface="EB Garamond"/>
                <a:ea typeface="EB Garamond"/>
                <a:cs typeface="EB Garamond"/>
                <a:sym typeface="EB Garamond"/>
              </a:rPr>
              <a:t>Mi INGRESO (VD) “depende” de mi NIVEL EDUCATIVO (VI) </a:t>
            </a:r>
            <a:endParaRPr sz="1300">
              <a:solidFill>
                <a:schemeClr val="dk1"/>
              </a:solidFill>
              <a:latin typeface="EB Garamond"/>
              <a:ea typeface="EB Garamond"/>
              <a:cs typeface="EB Garamond"/>
              <a:sym typeface="EB Garamond"/>
            </a:endParaRPr>
          </a:p>
        </p:txBody>
      </p:sp>
      <p:sp>
        <p:nvSpPr>
          <p:cNvPr id="330" name="Google Shape;330;p42"/>
          <p:cNvSpPr txBox="1"/>
          <p:nvPr/>
        </p:nvSpPr>
        <p:spPr>
          <a:xfrm>
            <a:off x="5878800" y="2599438"/>
            <a:ext cx="2753700" cy="492600"/>
          </a:xfrm>
          <a:prstGeom prst="rect">
            <a:avLst/>
          </a:prstGeom>
          <a:noFill/>
          <a:ln cap="flat" cmpd="sng" w="28575">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 sz="1300">
                <a:solidFill>
                  <a:schemeClr val="dk1"/>
                </a:solidFill>
                <a:latin typeface="EB Garamond"/>
                <a:ea typeface="EB Garamond"/>
                <a:cs typeface="EB Garamond"/>
                <a:sym typeface="EB Garamond"/>
              </a:rPr>
              <a:t>Mi NIVEL EDUCATIVO (VI) es independiente de mi INGRESO (VD)</a:t>
            </a:r>
            <a:endParaRPr sz="1300">
              <a:solidFill>
                <a:schemeClr val="dk1"/>
              </a:solidFill>
              <a:latin typeface="EB Garamond"/>
              <a:ea typeface="EB Garamond"/>
              <a:cs typeface="EB Garamond"/>
              <a:sym typeface="EB Garamond"/>
            </a:endParaRPr>
          </a:p>
        </p:txBody>
      </p:sp>
      <p:sp>
        <p:nvSpPr>
          <p:cNvPr id="331" name="Google Shape;331;p42"/>
          <p:cNvSpPr txBox="1"/>
          <p:nvPr/>
        </p:nvSpPr>
        <p:spPr>
          <a:xfrm>
            <a:off x="5878800" y="3785725"/>
            <a:ext cx="2753700" cy="692700"/>
          </a:xfrm>
          <a:prstGeom prst="rect">
            <a:avLst/>
          </a:prstGeom>
          <a:noFill/>
          <a:ln cap="flat" cmpd="sng" w="28575">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 sz="1300">
                <a:solidFill>
                  <a:schemeClr val="dk1"/>
                </a:solidFill>
                <a:latin typeface="EB Garamond"/>
                <a:ea typeface="EB Garamond"/>
                <a:cs typeface="EB Garamond"/>
                <a:sym typeface="EB Garamond"/>
              </a:rPr>
              <a:t>Mi NIVEL EDUCATIVO (VI) influye a mi INGRESO (VD) de manera distinta si controlo por GÉNERO (VC)</a:t>
            </a:r>
            <a:endParaRPr sz="1300">
              <a:solidFill>
                <a:schemeClr val="dk1"/>
              </a:solidFill>
              <a:latin typeface="EB Garamond"/>
              <a:ea typeface="EB Garamond"/>
              <a:cs typeface="EB Garamond"/>
              <a:sym typeface="EB Garamo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Ejercicio</a:t>
            </a:r>
            <a:endParaRPr>
              <a:latin typeface="EB Garamond"/>
              <a:ea typeface="EB Garamond"/>
              <a:cs typeface="EB Garamond"/>
              <a:sym typeface="EB Garamond"/>
            </a:endParaRPr>
          </a:p>
        </p:txBody>
      </p:sp>
      <p:sp>
        <p:nvSpPr>
          <p:cNvPr id="337" name="Google Shape;337;p43"/>
          <p:cNvSpPr txBox="1"/>
          <p:nvPr>
            <p:ph idx="1" type="body"/>
          </p:nvPr>
        </p:nvSpPr>
        <p:spPr>
          <a:xfrm>
            <a:off x="311700" y="1152475"/>
            <a:ext cx="5053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700">
                <a:solidFill>
                  <a:schemeClr val="dk1"/>
                </a:solidFill>
                <a:latin typeface="EB Garamond"/>
                <a:ea typeface="EB Garamond"/>
                <a:cs typeface="EB Garamond"/>
                <a:sym typeface="EB Garamond"/>
              </a:rPr>
              <a:t>Nº1: Un estudio levantado con 215 madres chilenas y publicado por el Psychology of Women Quarterly, buscó develar factores que podrían estar asociados a la violencia doméstica que sufren las mujeres. Algunas de las ideas que manejaban los investigadores del estudio, indicaban que la violencia sobre madres chilenas se debe a contextos socioeconómicos desaventajados y a una vida estresante reportada por ellas mismas y que esto puede variar según la edad de las mujeres.</a:t>
            </a:r>
            <a:endParaRPr sz="1700">
              <a:solidFill>
                <a:schemeClr val="dk1"/>
              </a:solidFill>
              <a:latin typeface="EB Garamond"/>
              <a:ea typeface="EB Garamond"/>
              <a:cs typeface="EB Garamond"/>
              <a:sym typeface="EB Garamond"/>
            </a:endParaRPr>
          </a:p>
        </p:txBody>
      </p:sp>
      <p:sp>
        <p:nvSpPr>
          <p:cNvPr id="338" name="Google Shape;338;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39" name="Google Shape;339;p43"/>
          <p:cNvSpPr txBox="1"/>
          <p:nvPr>
            <p:ph idx="2" type="body"/>
          </p:nvPr>
        </p:nvSpPr>
        <p:spPr>
          <a:xfrm>
            <a:off x="5990475" y="1152475"/>
            <a:ext cx="2841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solidFill>
                  <a:schemeClr val="dk1"/>
                </a:solidFill>
                <a:latin typeface="EB Garamond"/>
                <a:ea typeface="EB Garamond"/>
                <a:cs typeface="EB Garamond"/>
                <a:sym typeface="EB Garamond"/>
              </a:rPr>
              <a:t>Variable dependiente</a:t>
            </a:r>
            <a:endParaRPr b="1">
              <a:solidFill>
                <a:schemeClr val="dk1"/>
              </a:solidFill>
              <a:latin typeface="EB Garamond"/>
              <a:ea typeface="EB Garamond"/>
              <a:cs typeface="EB Garamond"/>
              <a:sym typeface="EB Garamond"/>
            </a:endParaRPr>
          </a:p>
          <a:p>
            <a:pPr indent="0" lvl="0" marL="0" rtl="0" algn="l">
              <a:spcBef>
                <a:spcPts val="1200"/>
              </a:spcBef>
              <a:spcAft>
                <a:spcPts val="0"/>
              </a:spcAft>
              <a:buNone/>
            </a:pPr>
            <a:r>
              <a:t/>
            </a:r>
            <a:endParaRPr b="1">
              <a:solidFill>
                <a:schemeClr val="dk1"/>
              </a:solidFill>
              <a:latin typeface="EB Garamond"/>
              <a:ea typeface="EB Garamond"/>
              <a:cs typeface="EB Garamond"/>
              <a:sym typeface="EB Garamond"/>
            </a:endParaRPr>
          </a:p>
          <a:p>
            <a:pPr indent="0" lvl="0" marL="0" rtl="0" algn="l">
              <a:spcBef>
                <a:spcPts val="1200"/>
              </a:spcBef>
              <a:spcAft>
                <a:spcPts val="0"/>
              </a:spcAft>
              <a:buNone/>
            </a:pPr>
            <a:r>
              <a:rPr b="1" lang="es">
                <a:solidFill>
                  <a:schemeClr val="dk1"/>
                </a:solidFill>
                <a:latin typeface="EB Garamond"/>
                <a:ea typeface="EB Garamond"/>
                <a:cs typeface="EB Garamond"/>
                <a:sym typeface="EB Garamond"/>
              </a:rPr>
              <a:t>Variable independiente</a:t>
            </a:r>
            <a:endParaRPr b="1">
              <a:solidFill>
                <a:schemeClr val="dk1"/>
              </a:solidFill>
              <a:latin typeface="EB Garamond"/>
              <a:ea typeface="EB Garamond"/>
              <a:cs typeface="EB Garamond"/>
              <a:sym typeface="EB Garamond"/>
            </a:endParaRPr>
          </a:p>
          <a:p>
            <a:pPr indent="0" lvl="0" marL="0" rtl="0" algn="l">
              <a:spcBef>
                <a:spcPts val="1200"/>
              </a:spcBef>
              <a:spcAft>
                <a:spcPts val="0"/>
              </a:spcAft>
              <a:buNone/>
            </a:pPr>
            <a:r>
              <a:t/>
            </a:r>
            <a:endParaRPr b="1">
              <a:solidFill>
                <a:schemeClr val="dk1"/>
              </a:solidFill>
              <a:latin typeface="EB Garamond"/>
              <a:ea typeface="EB Garamond"/>
              <a:cs typeface="EB Garamond"/>
              <a:sym typeface="EB Garamond"/>
            </a:endParaRPr>
          </a:p>
          <a:p>
            <a:pPr indent="0" lvl="0" marL="0" rtl="0" algn="l">
              <a:spcBef>
                <a:spcPts val="1200"/>
              </a:spcBef>
              <a:spcAft>
                <a:spcPts val="1200"/>
              </a:spcAft>
              <a:buNone/>
            </a:pPr>
            <a:r>
              <a:rPr b="1" lang="es">
                <a:solidFill>
                  <a:schemeClr val="dk1"/>
                </a:solidFill>
                <a:latin typeface="EB Garamond"/>
                <a:ea typeface="EB Garamond"/>
                <a:cs typeface="EB Garamond"/>
                <a:sym typeface="EB Garamond"/>
              </a:rPr>
              <a:t>Variable control</a:t>
            </a:r>
            <a:endParaRPr b="1">
              <a:solidFill>
                <a:schemeClr val="dk1"/>
              </a:solidFill>
              <a:latin typeface="EB Garamond"/>
              <a:ea typeface="EB Garamond"/>
              <a:cs typeface="EB Garamond"/>
              <a:sym typeface="EB Garamo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Ejercicio</a:t>
            </a:r>
            <a:endParaRPr>
              <a:latin typeface="EB Garamond"/>
              <a:ea typeface="EB Garamond"/>
              <a:cs typeface="EB Garamond"/>
              <a:sym typeface="EB Garamond"/>
            </a:endParaRPr>
          </a:p>
        </p:txBody>
      </p:sp>
      <p:sp>
        <p:nvSpPr>
          <p:cNvPr id="345" name="Google Shape;345;p44"/>
          <p:cNvSpPr txBox="1"/>
          <p:nvPr>
            <p:ph idx="1" type="body"/>
          </p:nvPr>
        </p:nvSpPr>
        <p:spPr>
          <a:xfrm>
            <a:off x="311700" y="1152475"/>
            <a:ext cx="50535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lang="es" sz="1800">
                <a:solidFill>
                  <a:schemeClr val="dk1"/>
                </a:solidFill>
                <a:latin typeface="EB Garamond"/>
                <a:ea typeface="EB Garamond"/>
                <a:cs typeface="EB Garamond"/>
                <a:sym typeface="EB Garamond"/>
              </a:rPr>
              <a:t>Nº2: Examinamos dos fuentes de variación en la adaptación social de los adolescentes en las escuelas: el informante que identifica al niño como víctima (es decir, los compañeros, él mismo, o ambos), y el género de la víctima. La percepción de los pares y los auto reportes fueron proporcionados para 508 alumnos de cuarto y quinto grado del oeste de EE.UU. Dentro de los hallazgos se identifica que las niñas tenían más probabilidades que los niños a ser víctimas de bullying. Esto quiere decir, que según lo reportado por las distintas fuentes, las mujeres presentan una peor y lenta adaptación social en la escuela, siendo víctimas de más antipatías que sus pares masculinos. Entre otros hallazgos, tener amigos se asoció con una adaptación social positiva, tanto en hombres como mujeres.</a:t>
            </a:r>
            <a:endParaRPr sz="1800">
              <a:solidFill>
                <a:schemeClr val="dk1"/>
              </a:solidFill>
              <a:latin typeface="EB Garamond"/>
              <a:ea typeface="EB Garamond"/>
              <a:cs typeface="EB Garamond"/>
              <a:sym typeface="EB Garamond"/>
            </a:endParaRPr>
          </a:p>
        </p:txBody>
      </p:sp>
      <p:sp>
        <p:nvSpPr>
          <p:cNvPr id="346" name="Google Shape;346;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47" name="Google Shape;347;p44"/>
          <p:cNvSpPr txBox="1"/>
          <p:nvPr>
            <p:ph idx="2" type="body"/>
          </p:nvPr>
        </p:nvSpPr>
        <p:spPr>
          <a:xfrm>
            <a:off x="5990475" y="1152475"/>
            <a:ext cx="2841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solidFill>
                  <a:schemeClr val="dk1"/>
                </a:solidFill>
                <a:latin typeface="EB Garamond"/>
                <a:ea typeface="EB Garamond"/>
                <a:cs typeface="EB Garamond"/>
                <a:sym typeface="EB Garamond"/>
              </a:rPr>
              <a:t>Variable dependiente</a:t>
            </a:r>
            <a:endParaRPr b="1">
              <a:solidFill>
                <a:schemeClr val="dk1"/>
              </a:solidFill>
              <a:latin typeface="EB Garamond"/>
              <a:ea typeface="EB Garamond"/>
              <a:cs typeface="EB Garamond"/>
              <a:sym typeface="EB Garamond"/>
            </a:endParaRPr>
          </a:p>
          <a:p>
            <a:pPr indent="0" lvl="0" marL="0" rtl="0" algn="l">
              <a:spcBef>
                <a:spcPts val="1200"/>
              </a:spcBef>
              <a:spcAft>
                <a:spcPts val="0"/>
              </a:spcAft>
              <a:buNone/>
            </a:pPr>
            <a:r>
              <a:t/>
            </a:r>
            <a:endParaRPr b="1">
              <a:solidFill>
                <a:schemeClr val="dk1"/>
              </a:solidFill>
              <a:latin typeface="EB Garamond"/>
              <a:ea typeface="EB Garamond"/>
              <a:cs typeface="EB Garamond"/>
              <a:sym typeface="EB Garamond"/>
            </a:endParaRPr>
          </a:p>
          <a:p>
            <a:pPr indent="0" lvl="0" marL="0" rtl="0" algn="l">
              <a:spcBef>
                <a:spcPts val="1200"/>
              </a:spcBef>
              <a:spcAft>
                <a:spcPts val="0"/>
              </a:spcAft>
              <a:buNone/>
            </a:pPr>
            <a:r>
              <a:rPr b="1" lang="es">
                <a:solidFill>
                  <a:schemeClr val="dk1"/>
                </a:solidFill>
                <a:latin typeface="EB Garamond"/>
                <a:ea typeface="EB Garamond"/>
                <a:cs typeface="EB Garamond"/>
                <a:sym typeface="EB Garamond"/>
              </a:rPr>
              <a:t>Variable independiente</a:t>
            </a:r>
            <a:endParaRPr b="1">
              <a:solidFill>
                <a:schemeClr val="dk1"/>
              </a:solidFill>
              <a:latin typeface="EB Garamond"/>
              <a:ea typeface="EB Garamond"/>
              <a:cs typeface="EB Garamond"/>
              <a:sym typeface="EB Garamond"/>
            </a:endParaRPr>
          </a:p>
          <a:p>
            <a:pPr indent="0" lvl="0" marL="0" rtl="0" algn="l">
              <a:spcBef>
                <a:spcPts val="1200"/>
              </a:spcBef>
              <a:spcAft>
                <a:spcPts val="0"/>
              </a:spcAft>
              <a:buNone/>
            </a:pPr>
            <a:r>
              <a:t/>
            </a:r>
            <a:endParaRPr b="1">
              <a:solidFill>
                <a:schemeClr val="dk1"/>
              </a:solidFill>
              <a:latin typeface="EB Garamond"/>
              <a:ea typeface="EB Garamond"/>
              <a:cs typeface="EB Garamond"/>
              <a:sym typeface="EB Garamond"/>
            </a:endParaRPr>
          </a:p>
          <a:p>
            <a:pPr indent="0" lvl="0" marL="0" rtl="0" algn="l">
              <a:spcBef>
                <a:spcPts val="1200"/>
              </a:spcBef>
              <a:spcAft>
                <a:spcPts val="1200"/>
              </a:spcAft>
              <a:buNone/>
            </a:pPr>
            <a:r>
              <a:rPr b="1" lang="es">
                <a:solidFill>
                  <a:schemeClr val="dk1"/>
                </a:solidFill>
                <a:latin typeface="EB Garamond"/>
                <a:ea typeface="EB Garamond"/>
                <a:cs typeface="EB Garamond"/>
                <a:sym typeface="EB Garamond"/>
              </a:rPr>
              <a:t>Variable control</a:t>
            </a:r>
            <a:endParaRPr b="1">
              <a:solidFill>
                <a:schemeClr val="dk1"/>
              </a:solidFill>
              <a:latin typeface="EB Garamond"/>
              <a:ea typeface="EB Garamond"/>
              <a:cs typeface="EB Garamond"/>
              <a:sym typeface="EB Garamo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Ejercicio</a:t>
            </a:r>
            <a:endParaRPr>
              <a:latin typeface="EB Garamond"/>
              <a:ea typeface="EB Garamond"/>
              <a:cs typeface="EB Garamond"/>
              <a:sym typeface="EB Garamond"/>
            </a:endParaRPr>
          </a:p>
        </p:txBody>
      </p:sp>
      <p:sp>
        <p:nvSpPr>
          <p:cNvPr id="353" name="Google Shape;353;p45"/>
          <p:cNvSpPr txBox="1"/>
          <p:nvPr>
            <p:ph idx="1" type="body"/>
          </p:nvPr>
        </p:nvSpPr>
        <p:spPr>
          <a:xfrm>
            <a:off x="311700" y="1152475"/>
            <a:ext cx="50535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lang="es" sz="1800">
                <a:solidFill>
                  <a:schemeClr val="dk1"/>
                </a:solidFill>
                <a:latin typeface="EB Garamond"/>
                <a:ea typeface="EB Garamond"/>
                <a:cs typeface="EB Garamond"/>
                <a:sym typeface="EB Garamond"/>
              </a:rPr>
              <a:t>Nº3: Una investigación intentó explicar el aumento del nivel de productividad de un grupo de trabajadores de una empresa multinacional a través de la satisfacción de los empleados. A juicio de los investigadores, la satisfacción estaba directamente relacionada con el nivel de ingresos que éstos percibían. No obstante, debieron evaluarse otras variables, como la jornada laboral, la existencia de beneficios para los trabajadores, así como las relaciones interpersonales entre trabajadores y la existencia de recursos técnicos y ambientales a la hora de realizar sus labores. Los datos fueron extraídos a partir de un cuestionario aplicado al 70% de los trabajadores que fueron evaluados por la empresa como “más productivos dentro del último año” y se observó se comportaba la relación según género y edad.</a:t>
            </a:r>
            <a:endParaRPr sz="1800">
              <a:solidFill>
                <a:schemeClr val="dk1"/>
              </a:solidFill>
              <a:latin typeface="EB Garamond"/>
              <a:ea typeface="EB Garamond"/>
              <a:cs typeface="EB Garamond"/>
              <a:sym typeface="EB Garamond"/>
            </a:endParaRPr>
          </a:p>
        </p:txBody>
      </p:sp>
      <p:sp>
        <p:nvSpPr>
          <p:cNvPr id="354" name="Google Shape;354;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55" name="Google Shape;355;p45"/>
          <p:cNvSpPr txBox="1"/>
          <p:nvPr>
            <p:ph idx="2" type="body"/>
          </p:nvPr>
        </p:nvSpPr>
        <p:spPr>
          <a:xfrm>
            <a:off x="5990475" y="1152475"/>
            <a:ext cx="2841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solidFill>
                  <a:schemeClr val="dk1"/>
                </a:solidFill>
                <a:latin typeface="EB Garamond"/>
                <a:ea typeface="EB Garamond"/>
                <a:cs typeface="EB Garamond"/>
                <a:sym typeface="EB Garamond"/>
              </a:rPr>
              <a:t>Variable dependiente</a:t>
            </a:r>
            <a:endParaRPr b="1">
              <a:solidFill>
                <a:schemeClr val="dk1"/>
              </a:solidFill>
              <a:latin typeface="EB Garamond"/>
              <a:ea typeface="EB Garamond"/>
              <a:cs typeface="EB Garamond"/>
              <a:sym typeface="EB Garamond"/>
            </a:endParaRPr>
          </a:p>
          <a:p>
            <a:pPr indent="0" lvl="0" marL="0" rtl="0" algn="l">
              <a:spcBef>
                <a:spcPts val="1200"/>
              </a:spcBef>
              <a:spcAft>
                <a:spcPts val="0"/>
              </a:spcAft>
              <a:buNone/>
            </a:pPr>
            <a:r>
              <a:t/>
            </a:r>
            <a:endParaRPr b="1">
              <a:solidFill>
                <a:schemeClr val="dk1"/>
              </a:solidFill>
              <a:latin typeface="EB Garamond"/>
              <a:ea typeface="EB Garamond"/>
              <a:cs typeface="EB Garamond"/>
              <a:sym typeface="EB Garamond"/>
            </a:endParaRPr>
          </a:p>
          <a:p>
            <a:pPr indent="0" lvl="0" marL="0" rtl="0" algn="l">
              <a:spcBef>
                <a:spcPts val="1200"/>
              </a:spcBef>
              <a:spcAft>
                <a:spcPts val="0"/>
              </a:spcAft>
              <a:buNone/>
            </a:pPr>
            <a:r>
              <a:rPr b="1" lang="es">
                <a:solidFill>
                  <a:schemeClr val="dk1"/>
                </a:solidFill>
                <a:latin typeface="EB Garamond"/>
                <a:ea typeface="EB Garamond"/>
                <a:cs typeface="EB Garamond"/>
                <a:sym typeface="EB Garamond"/>
              </a:rPr>
              <a:t>Variable independiente</a:t>
            </a:r>
            <a:endParaRPr b="1">
              <a:solidFill>
                <a:schemeClr val="dk1"/>
              </a:solidFill>
              <a:latin typeface="EB Garamond"/>
              <a:ea typeface="EB Garamond"/>
              <a:cs typeface="EB Garamond"/>
              <a:sym typeface="EB Garamond"/>
            </a:endParaRPr>
          </a:p>
          <a:p>
            <a:pPr indent="0" lvl="0" marL="0" rtl="0" algn="l">
              <a:spcBef>
                <a:spcPts val="1200"/>
              </a:spcBef>
              <a:spcAft>
                <a:spcPts val="0"/>
              </a:spcAft>
              <a:buNone/>
            </a:pPr>
            <a:r>
              <a:t/>
            </a:r>
            <a:endParaRPr b="1">
              <a:solidFill>
                <a:schemeClr val="dk1"/>
              </a:solidFill>
              <a:latin typeface="EB Garamond"/>
              <a:ea typeface="EB Garamond"/>
              <a:cs typeface="EB Garamond"/>
              <a:sym typeface="EB Garamond"/>
            </a:endParaRPr>
          </a:p>
          <a:p>
            <a:pPr indent="0" lvl="0" marL="0" rtl="0" algn="l">
              <a:spcBef>
                <a:spcPts val="1200"/>
              </a:spcBef>
              <a:spcAft>
                <a:spcPts val="1200"/>
              </a:spcAft>
              <a:buNone/>
            </a:pPr>
            <a:r>
              <a:rPr b="1" lang="es">
                <a:solidFill>
                  <a:schemeClr val="dk1"/>
                </a:solidFill>
                <a:latin typeface="EB Garamond"/>
                <a:ea typeface="EB Garamond"/>
                <a:cs typeface="EB Garamond"/>
                <a:sym typeface="EB Garamond"/>
              </a:rPr>
              <a:t>Variable control</a:t>
            </a:r>
            <a:endParaRPr b="1">
              <a:solidFill>
                <a:schemeClr val="dk1"/>
              </a:solidFill>
              <a:latin typeface="EB Garamond"/>
              <a:ea typeface="EB Garamond"/>
              <a:cs typeface="EB Garamond"/>
              <a:sym typeface="EB Garamo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¿Se puede cambiar el nivel de medición de una variable?</a:t>
            </a:r>
            <a:endParaRPr b="1">
              <a:latin typeface="EB Garamond"/>
              <a:ea typeface="EB Garamond"/>
              <a:cs typeface="EB Garamond"/>
              <a:sym typeface="EB Garamond"/>
            </a:endParaRPr>
          </a:p>
        </p:txBody>
      </p:sp>
      <p:sp>
        <p:nvSpPr>
          <p:cNvPr id="361" name="Google Shape;361;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62" name="Google Shape;362;p46"/>
          <p:cNvPicPr preferRelativeResize="0"/>
          <p:nvPr/>
        </p:nvPicPr>
        <p:blipFill rotWithShape="1">
          <a:blip r:embed="rId3">
            <a:alphaModFix/>
          </a:blip>
          <a:srcRect b="0" l="0" r="0" t="0"/>
          <a:stretch/>
        </p:blipFill>
        <p:spPr>
          <a:xfrm>
            <a:off x="842637" y="1529250"/>
            <a:ext cx="7458725" cy="2085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Ejemplo</a:t>
            </a:r>
            <a:endParaRPr>
              <a:latin typeface="EB Garamond"/>
              <a:ea typeface="EB Garamond"/>
              <a:cs typeface="EB Garamond"/>
              <a:sym typeface="EB Garamond"/>
            </a:endParaRPr>
          </a:p>
        </p:txBody>
      </p:sp>
      <p:sp>
        <p:nvSpPr>
          <p:cNvPr id="368" name="Google Shape;368;p47"/>
          <p:cNvSpPr txBox="1"/>
          <p:nvPr>
            <p:ph idx="1" type="body"/>
          </p:nvPr>
        </p:nvSpPr>
        <p:spPr>
          <a:xfrm>
            <a:off x="311700" y="1152475"/>
            <a:ext cx="3300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solidFill>
                  <a:schemeClr val="lt2"/>
                </a:solidFill>
                <a:highlight>
                  <a:srgbClr val="156C77"/>
                </a:highlight>
                <a:latin typeface="EB Garamond"/>
                <a:ea typeface="EB Garamond"/>
                <a:cs typeface="EB Garamond"/>
                <a:sym typeface="EB Garamond"/>
              </a:rPr>
              <a:t>1. Variable (encuesta)</a:t>
            </a:r>
            <a:endParaRPr sz="1600">
              <a:solidFill>
                <a:schemeClr val="lt2"/>
              </a:solidFill>
              <a:highlight>
                <a:srgbClr val="156C77"/>
              </a:highlight>
              <a:latin typeface="EB Garamond"/>
              <a:ea typeface="EB Garamond"/>
              <a:cs typeface="EB Garamond"/>
              <a:sym typeface="EB Garamond"/>
            </a:endParaRPr>
          </a:p>
          <a:p>
            <a:pPr indent="0" lvl="0" marL="0" rtl="0" algn="l">
              <a:spcBef>
                <a:spcPts val="1200"/>
              </a:spcBef>
              <a:spcAft>
                <a:spcPts val="0"/>
              </a:spcAft>
              <a:buNone/>
            </a:pPr>
            <a:r>
              <a:rPr lang="es" sz="1400">
                <a:latin typeface="EB Garamond"/>
                <a:ea typeface="EB Garamond"/>
                <a:cs typeface="EB Garamond"/>
                <a:sym typeface="EB Garamond"/>
              </a:rPr>
              <a:t>P1. Indique su edad en años cumplidos: ____</a:t>
            </a:r>
            <a:endParaRPr sz="1400">
              <a:latin typeface="EB Garamond"/>
              <a:ea typeface="EB Garamond"/>
              <a:cs typeface="EB Garamond"/>
              <a:sym typeface="EB Garamond"/>
            </a:endParaRPr>
          </a:p>
          <a:p>
            <a:pPr indent="0" lvl="0" marL="0" rtl="0" algn="l">
              <a:spcBef>
                <a:spcPts val="1200"/>
              </a:spcBef>
              <a:spcAft>
                <a:spcPts val="0"/>
              </a:spcAft>
              <a:buNone/>
            </a:pPr>
            <a:r>
              <a:rPr lang="es" sz="1600">
                <a:solidFill>
                  <a:schemeClr val="lt2"/>
                </a:solidFill>
                <a:highlight>
                  <a:srgbClr val="A64D79"/>
                </a:highlight>
                <a:latin typeface="EB Garamond"/>
                <a:ea typeface="EB Garamond"/>
                <a:cs typeface="EB Garamond"/>
                <a:sym typeface="EB Garamond"/>
              </a:rPr>
              <a:t>2. Atributos (matriz datos)</a:t>
            </a:r>
            <a:endParaRPr sz="1600">
              <a:solidFill>
                <a:schemeClr val="lt2"/>
              </a:solidFill>
              <a:highlight>
                <a:srgbClr val="A64D79"/>
              </a:highlight>
              <a:latin typeface="EB Garamond"/>
              <a:ea typeface="EB Garamond"/>
              <a:cs typeface="EB Garamond"/>
              <a:sym typeface="EB Garamond"/>
            </a:endParaRPr>
          </a:p>
          <a:p>
            <a:pPr indent="0" lvl="0" marL="0" rtl="0" algn="l">
              <a:spcBef>
                <a:spcPts val="1200"/>
              </a:spcBef>
              <a:spcAft>
                <a:spcPts val="1200"/>
              </a:spcAft>
              <a:buNone/>
            </a:pPr>
            <a:r>
              <a:t/>
            </a:r>
            <a:endParaRPr>
              <a:solidFill>
                <a:schemeClr val="lt2"/>
              </a:solidFill>
              <a:highlight>
                <a:srgbClr val="A64D79"/>
              </a:highlight>
              <a:latin typeface="EB Garamond"/>
              <a:ea typeface="EB Garamond"/>
              <a:cs typeface="EB Garamond"/>
              <a:sym typeface="EB Garamond"/>
            </a:endParaRPr>
          </a:p>
        </p:txBody>
      </p:sp>
      <p:sp>
        <p:nvSpPr>
          <p:cNvPr id="369" name="Google Shape;369;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70" name="Google Shape;370;p47"/>
          <p:cNvSpPr txBox="1"/>
          <p:nvPr>
            <p:ph idx="2" type="body"/>
          </p:nvPr>
        </p:nvSpPr>
        <p:spPr>
          <a:xfrm>
            <a:off x="4061650" y="1152475"/>
            <a:ext cx="477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highlight>
                  <a:schemeClr val="accent4"/>
                </a:highlight>
                <a:latin typeface="EB Garamond"/>
                <a:ea typeface="EB Garamond"/>
                <a:cs typeface="EB Garamond"/>
                <a:sym typeface="EB Garamond"/>
              </a:rPr>
              <a:t>3. Transformación del nivel de medición (análisis de datos)</a:t>
            </a:r>
            <a:endParaRPr sz="1600">
              <a:highlight>
                <a:schemeClr val="accent4"/>
              </a:highlight>
              <a:latin typeface="EB Garamond"/>
              <a:ea typeface="EB Garamond"/>
              <a:cs typeface="EB Garamond"/>
              <a:sym typeface="EB Garamond"/>
            </a:endParaRPr>
          </a:p>
          <a:p>
            <a:pPr indent="0" lvl="0" marL="0" rtl="0" algn="l">
              <a:lnSpc>
                <a:spcPct val="100000"/>
              </a:lnSpc>
              <a:spcBef>
                <a:spcPts val="1200"/>
              </a:spcBef>
              <a:spcAft>
                <a:spcPts val="0"/>
              </a:spcAft>
              <a:buClr>
                <a:schemeClr val="dk1"/>
              </a:buClr>
              <a:buFont typeface="Arial"/>
              <a:buNone/>
            </a:pPr>
            <a:r>
              <a:rPr lang="es">
                <a:latin typeface="EB Garamond"/>
                <a:ea typeface="EB Garamond"/>
                <a:cs typeface="EB Garamond"/>
                <a:sym typeface="EB Garamond"/>
              </a:rPr>
              <a:t>Tenemos edad como una variable </a:t>
            </a:r>
            <a:r>
              <a:rPr lang="es">
                <a:highlight>
                  <a:srgbClr val="FDBF41"/>
                </a:highlight>
                <a:latin typeface="EB Garamond"/>
                <a:ea typeface="EB Garamond"/>
                <a:cs typeface="EB Garamond"/>
                <a:sym typeface="EB Garamond"/>
              </a:rPr>
              <a:t>escalar de razón</a:t>
            </a:r>
            <a:r>
              <a:rPr b="1" lang="es">
                <a:latin typeface="EB Garamond"/>
                <a:ea typeface="EB Garamond"/>
                <a:cs typeface="EB Garamond"/>
                <a:sym typeface="EB Garamond"/>
              </a:rPr>
              <a:t> </a:t>
            </a:r>
            <a:r>
              <a:rPr lang="es">
                <a:latin typeface="EB Garamond"/>
                <a:ea typeface="EB Garamond"/>
                <a:cs typeface="EB Garamond"/>
                <a:sym typeface="EB Garamond"/>
              </a:rPr>
              <a:t>donde cualquier caso puede tener cualquier número. Nos permite ver la continuidad de los datos:</a:t>
            </a:r>
            <a:endParaRPr sz="1200">
              <a:highlight>
                <a:schemeClr val="accent4"/>
              </a:highlight>
              <a:latin typeface="EB Garamond"/>
              <a:ea typeface="EB Garamond"/>
              <a:cs typeface="EB Garamond"/>
              <a:sym typeface="EB Garamond"/>
            </a:endParaRPr>
          </a:p>
        </p:txBody>
      </p:sp>
      <p:graphicFrame>
        <p:nvGraphicFramePr>
          <p:cNvPr id="371" name="Google Shape;371;p47"/>
          <p:cNvGraphicFramePr/>
          <p:nvPr/>
        </p:nvGraphicFramePr>
        <p:xfrm>
          <a:off x="405976" y="2487950"/>
          <a:ext cx="3000000" cy="3000000"/>
        </p:xfrm>
        <a:graphic>
          <a:graphicData uri="http://schemas.openxmlformats.org/drawingml/2006/table">
            <a:tbl>
              <a:tblPr bandRow="1" firstRow="1">
                <a:noFill/>
                <a:tableStyleId>{741DE032-D7ED-4C3B-852E-99012D6E978F}</a:tableStyleId>
              </a:tblPr>
              <a:tblGrid>
                <a:gridCol w="565400"/>
                <a:gridCol w="565400"/>
              </a:tblGrid>
              <a:tr h="191500">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caso</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edad</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1</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20</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0</a:t>
                      </a:r>
                      <a:endParaRPr sz="1200">
                        <a:solidFill>
                          <a:schemeClr val="dk2"/>
                        </a:solidFill>
                        <a:latin typeface="EB Garamond"/>
                        <a:ea typeface="EB Garamond"/>
                        <a:cs typeface="EB Garamond"/>
                        <a:sym typeface="EB Garamond"/>
                      </a:endParaRPr>
                    </a:p>
                  </a:txBody>
                  <a:tcPr marT="45725" marB="45725" marR="91450" marL="91450"/>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3</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78</a:t>
                      </a:r>
                      <a:endParaRPr sz="1200">
                        <a:solidFill>
                          <a:schemeClr val="dk2"/>
                        </a:solidFill>
                        <a:latin typeface="EB Garamond"/>
                        <a:ea typeface="EB Garamond"/>
                        <a:cs typeface="EB Garamond"/>
                        <a:sym typeface="EB Garamond"/>
                      </a:endParaRPr>
                    </a:p>
                  </a:txBody>
                  <a:tcPr marT="45725" marB="45725" marR="91450" marL="91450"/>
                </a:tc>
              </a:tr>
              <a:tr h="173875">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n</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a:t>
                      </a:r>
                      <a:endParaRPr sz="1200">
                        <a:solidFill>
                          <a:schemeClr val="dk2"/>
                        </a:solidFill>
                        <a:latin typeface="EB Garamond"/>
                        <a:ea typeface="EB Garamond"/>
                        <a:cs typeface="EB Garamond"/>
                        <a:sym typeface="EB Garamond"/>
                      </a:endParaRPr>
                    </a:p>
                  </a:txBody>
                  <a:tcPr marT="45725" marB="45725" marR="91450" marL="91450"/>
                </a:tc>
              </a:tr>
            </a:tbl>
          </a:graphicData>
        </a:graphic>
      </p:graphicFrame>
      <p:sp>
        <p:nvSpPr>
          <p:cNvPr id="372" name="Google Shape;372;p47"/>
          <p:cNvSpPr txBox="1"/>
          <p:nvPr/>
        </p:nvSpPr>
        <p:spPr>
          <a:xfrm>
            <a:off x="4546555" y="2691336"/>
            <a:ext cx="3574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 sz="1600">
                <a:solidFill>
                  <a:schemeClr val="dk2"/>
                </a:solidFill>
                <a:latin typeface="EB Garamond"/>
                <a:ea typeface="EB Garamond"/>
                <a:cs typeface="EB Garamond"/>
                <a:sym typeface="EB Garamond"/>
              </a:rPr>
              <a:t>Pirámide poblacional CENSO (2017)</a:t>
            </a:r>
            <a:endParaRPr>
              <a:solidFill>
                <a:schemeClr val="dk2"/>
              </a:solidFill>
              <a:latin typeface="EB Garamond"/>
              <a:ea typeface="EB Garamond"/>
              <a:cs typeface="EB Garamond"/>
              <a:sym typeface="EB Garamond"/>
            </a:endParaRPr>
          </a:p>
        </p:txBody>
      </p:sp>
      <p:pic>
        <p:nvPicPr>
          <p:cNvPr descr="Imagen que contiene Logotipo&#10;&#10;Descripción generada automáticamente" id="373" name="Google Shape;373;p47"/>
          <p:cNvPicPr preferRelativeResize="0"/>
          <p:nvPr/>
        </p:nvPicPr>
        <p:blipFill rotWithShape="1">
          <a:blip r:embed="rId3">
            <a:alphaModFix/>
          </a:blip>
          <a:srcRect b="0" l="0" r="0" t="0"/>
          <a:stretch/>
        </p:blipFill>
        <p:spPr>
          <a:xfrm>
            <a:off x="4317075" y="3187025"/>
            <a:ext cx="4333225" cy="1381850"/>
          </a:xfrm>
          <a:prstGeom prst="rect">
            <a:avLst/>
          </a:prstGeom>
          <a:noFill/>
          <a:ln>
            <a:noFill/>
          </a:ln>
        </p:spPr>
      </p:pic>
      <p:sp>
        <p:nvSpPr>
          <p:cNvPr id="374" name="Google Shape;374;p47"/>
          <p:cNvSpPr txBox="1"/>
          <p:nvPr/>
        </p:nvSpPr>
        <p:spPr>
          <a:xfrm rot="-5400000">
            <a:off x="3369225" y="3674700"/>
            <a:ext cx="1321200" cy="230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900">
                <a:solidFill>
                  <a:srgbClr val="000000"/>
                </a:solidFill>
                <a:latin typeface="EB Garamond"/>
                <a:ea typeface="EB Garamond"/>
                <a:cs typeface="EB Garamond"/>
                <a:sym typeface="EB Garamond"/>
              </a:rPr>
              <a:t>(-)           EDAD         (+)</a:t>
            </a:r>
            <a:endParaRPr sz="900">
              <a:latin typeface="EB Garamond"/>
              <a:ea typeface="EB Garamond"/>
              <a:cs typeface="EB Garamond"/>
              <a:sym typeface="EB Garamo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¿Se puede cambiar el nivel de medición de una variable?</a:t>
            </a:r>
            <a:endParaRPr b="1">
              <a:latin typeface="EB Garamond"/>
              <a:ea typeface="EB Garamond"/>
              <a:cs typeface="EB Garamond"/>
              <a:sym typeface="EB Garamond"/>
            </a:endParaRPr>
          </a:p>
        </p:txBody>
      </p:sp>
      <p:sp>
        <p:nvSpPr>
          <p:cNvPr id="380" name="Google Shape;380;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81" name="Google Shape;381;p48"/>
          <p:cNvPicPr preferRelativeResize="0"/>
          <p:nvPr/>
        </p:nvPicPr>
        <p:blipFill rotWithShape="1">
          <a:blip r:embed="rId3">
            <a:alphaModFix/>
          </a:blip>
          <a:srcRect b="0" l="0" r="0" t="0"/>
          <a:stretch/>
        </p:blipFill>
        <p:spPr>
          <a:xfrm>
            <a:off x="700213" y="1749150"/>
            <a:ext cx="7772226" cy="2001725"/>
          </a:xfrm>
          <a:prstGeom prst="rect">
            <a:avLst/>
          </a:prstGeom>
          <a:noFill/>
          <a:ln>
            <a:noFill/>
          </a:ln>
        </p:spPr>
      </p:pic>
      <p:sp>
        <p:nvSpPr>
          <p:cNvPr id="382" name="Google Shape;382;p48"/>
          <p:cNvSpPr/>
          <p:nvPr/>
        </p:nvSpPr>
        <p:spPr>
          <a:xfrm>
            <a:off x="6129948" y="3388416"/>
            <a:ext cx="774600" cy="3621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383" name="Google Shape;383;p48"/>
          <p:cNvSpPr/>
          <p:nvPr/>
        </p:nvSpPr>
        <p:spPr>
          <a:xfrm>
            <a:off x="2268097" y="3388416"/>
            <a:ext cx="774600" cy="362100"/>
          </a:xfrm>
          <a:prstGeom prst="donut">
            <a:avLst>
              <a:gd fmla="val 5436" name="adj"/>
            </a:avLst>
          </a:prstGeom>
          <a:solidFill>
            <a:srgbClr val="156C77"/>
          </a:solidFill>
          <a:ln cap="flat" cmpd="sng" w="12700">
            <a:solidFill>
              <a:srgbClr val="156C7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cxnSp>
        <p:nvCxnSpPr>
          <p:cNvPr id="384" name="Google Shape;384;p48"/>
          <p:cNvCxnSpPr>
            <a:stCxn id="383" idx="6"/>
            <a:endCxn id="382" idx="2"/>
          </p:cNvCxnSpPr>
          <p:nvPr/>
        </p:nvCxnSpPr>
        <p:spPr>
          <a:xfrm>
            <a:off x="3042697" y="3569466"/>
            <a:ext cx="3087300" cy="0"/>
          </a:xfrm>
          <a:prstGeom prst="straightConnector1">
            <a:avLst/>
          </a:prstGeom>
          <a:noFill/>
          <a:ln cap="flat" cmpd="sng" w="38100">
            <a:solidFill>
              <a:srgbClr val="FF1D76"/>
            </a:solidFill>
            <a:prstDash val="solid"/>
            <a:miter lim="800000"/>
            <a:headEnd len="sm" w="sm"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Ejemplo</a:t>
            </a:r>
            <a:endParaRPr>
              <a:latin typeface="EB Garamond"/>
              <a:ea typeface="EB Garamond"/>
              <a:cs typeface="EB Garamond"/>
              <a:sym typeface="EB Garamond"/>
            </a:endParaRPr>
          </a:p>
        </p:txBody>
      </p:sp>
      <p:sp>
        <p:nvSpPr>
          <p:cNvPr id="390" name="Google Shape;390;p49"/>
          <p:cNvSpPr txBox="1"/>
          <p:nvPr>
            <p:ph idx="1" type="body"/>
          </p:nvPr>
        </p:nvSpPr>
        <p:spPr>
          <a:xfrm>
            <a:off x="311700" y="1152475"/>
            <a:ext cx="3300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solidFill>
                  <a:schemeClr val="lt2"/>
                </a:solidFill>
                <a:highlight>
                  <a:srgbClr val="156C77"/>
                </a:highlight>
                <a:latin typeface="EB Garamond"/>
                <a:ea typeface="EB Garamond"/>
                <a:cs typeface="EB Garamond"/>
                <a:sym typeface="EB Garamond"/>
              </a:rPr>
              <a:t>1. Variable (encuesta)</a:t>
            </a:r>
            <a:endParaRPr sz="1600">
              <a:solidFill>
                <a:schemeClr val="lt2"/>
              </a:solidFill>
              <a:highlight>
                <a:srgbClr val="156C77"/>
              </a:highlight>
              <a:latin typeface="EB Garamond"/>
              <a:ea typeface="EB Garamond"/>
              <a:cs typeface="EB Garamond"/>
              <a:sym typeface="EB Garamond"/>
            </a:endParaRPr>
          </a:p>
          <a:p>
            <a:pPr indent="0" lvl="0" marL="0" rtl="0" algn="l">
              <a:spcBef>
                <a:spcPts val="1200"/>
              </a:spcBef>
              <a:spcAft>
                <a:spcPts val="0"/>
              </a:spcAft>
              <a:buNone/>
            </a:pPr>
            <a:r>
              <a:rPr lang="es" sz="1400">
                <a:latin typeface="EB Garamond"/>
                <a:ea typeface="EB Garamond"/>
                <a:cs typeface="EB Garamond"/>
                <a:sym typeface="EB Garamond"/>
              </a:rPr>
              <a:t>P1. Indique su edad en años cumplidos: ____</a:t>
            </a:r>
            <a:endParaRPr sz="1400">
              <a:latin typeface="EB Garamond"/>
              <a:ea typeface="EB Garamond"/>
              <a:cs typeface="EB Garamond"/>
              <a:sym typeface="EB Garamond"/>
            </a:endParaRPr>
          </a:p>
          <a:p>
            <a:pPr indent="0" lvl="0" marL="0" rtl="0" algn="l">
              <a:spcBef>
                <a:spcPts val="1200"/>
              </a:spcBef>
              <a:spcAft>
                <a:spcPts val="0"/>
              </a:spcAft>
              <a:buNone/>
            </a:pPr>
            <a:r>
              <a:rPr lang="es" sz="1600">
                <a:solidFill>
                  <a:schemeClr val="lt2"/>
                </a:solidFill>
                <a:highlight>
                  <a:srgbClr val="A64D79"/>
                </a:highlight>
                <a:latin typeface="EB Garamond"/>
                <a:ea typeface="EB Garamond"/>
                <a:cs typeface="EB Garamond"/>
                <a:sym typeface="EB Garamond"/>
              </a:rPr>
              <a:t>2. Atributos (matriz datos)</a:t>
            </a:r>
            <a:endParaRPr sz="1600">
              <a:solidFill>
                <a:schemeClr val="lt2"/>
              </a:solidFill>
              <a:highlight>
                <a:srgbClr val="A64D79"/>
              </a:highlight>
              <a:latin typeface="EB Garamond"/>
              <a:ea typeface="EB Garamond"/>
              <a:cs typeface="EB Garamond"/>
              <a:sym typeface="EB Garamond"/>
            </a:endParaRPr>
          </a:p>
          <a:p>
            <a:pPr indent="0" lvl="0" marL="0" rtl="0" algn="l">
              <a:spcBef>
                <a:spcPts val="1200"/>
              </a:spcBef>
              <a:spcAft>
                <a:spcPts val="1200"/>
              </a:spcAft>
              <a:buNone/>
            </a:pPr>
            <a:r>
              <a:t/>
            </a:r>
            <a:endParaRPr>
              <a:solidFill>
                <a:schemeClr val="lt2"/>
              </a:solidFill>
              <a:highlight>
                <a:srgbClr val="A64D79"/>
              </a:highlight>
              <a:latin typeface="EB Garamond"/>
              <a:ea typeface="EB Garamond"/>
              <a:cs typeface="EB Garamond"/>
              <a:sym typeface="EB Garamond"/>
            </a:endParaRPr>
          </a:p>
        </p:txBody>
      </p:sp>
      <p:sp>
        <p:nvSpPr>
          <p:cNvPr id="391" name="Google Shape;39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92" name="Google Shape;392;p49"/>
          <p:cNvSpPr txBox="1"/>
          <p:nvPr>
            <p:ph idx="2" type="body"/>
          </p:nvPr>
        </p:nvSpPr>
        <p:spPr>
          <a:xfrm>
            <a:off x="4061650" y="1152475"/>
            <a:ext cx="477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highlight>
                  <a:schemeClr val="accent4"/>
                </a:highlight>
                <a:latin typeface="EB Garamond"/>
                <a:ea typeface="EB Garamond"/>
                <a:cs typeface="EB Garamond"/>
                <a:sym typeface="EB Garamond"/>
              </a:rPr>
              <a:t>3. Transformación del nivel de medición (análisis de datos)</a:t>
            </a:r>
            <a:endParaRPr sz="1600">
              <a:highlight>
                <a:schemeClr val="accent4"/>
              </a:highlight>
              <a:latin typeface="EB Garamond"/>
              <a:ea typeface="EB Garamond"/>
              <a:cs typeface="EB Garamond"/>
              <a:sym typeface="EB Garamond"/>
            </a:endParaRPr>
          </a:p>
          <a:p>
            <a:pPr indent="0" lvl="0" marL="0" rtl="0" algn="l">
              <a:lnSpc>
                <a:spcPct val="100000"/>
              </a:lnSpc>
              <a:spcBef>
                <a:spcPts val="1200"/>
              </a:spcBef>
              <a:spcAft>
                <a:spcPts val="0"/>
              </a:spcAft>
              <a:buNone/>
            </a:pPr>
            <a:r>
              <a:rPr lang="es">
                <a:latin typeface="EB Garamond"/>
                <a:ea typeface="EB Garamond"/>
                <a:cs typeface="EB Garamond"/>
                <a:sym typeface="EB Garamond"/>
              </a:rPr>
              <a:t>Tenemos edad como una variable </a:t>
            </a:r>
            <a:r>
              <a:rPr lang="es">
                <a:highlight>
                  <a:srgbClr val="FDBF41"/>
                </a:highlight>
                <a:latin typeface="EB Garamond"/>
                <a:ea typeface="EB Garamond"/>
                <a:cs typeface="EB Garamond"/>
                <a:sym typeface="EB Garamond"/>
              </a:rPr>
              <a:t>escalar de intervalo</a:t>
            </a:r>
            <a:r>
              <a:rPr b="1" lang="es">
                <a:latin typeface="EB Garamond"/>
                <a:ea typeface="EB Garamond"/>
                <a:cs typeface="EB Garamond"/>
                <a:sym typeface="EB Garamond"/>
              </a:rPr>
              <a:t> </a:t>
            </a:r>
            <a:r>
              <a:rPr lang="es">
                <a:latin typeface="EB Garamond"/>
                <a:ea typeface="EB Garamond"/>
                <a:cs typeface="EB Garamond"/>
                <a:sym typeface="EB Garamond"/>
              </a:rPr>
              <a:t>donde cualquier caso puede tener cualquier número (menos el cero). Nos permite ver la continuidad de los datos, sin el cero:</a:t>
            </a:r>
            <a:endParaRPr sz="1200">
              <a:highlight>
                <a:schemeClr val="accent4"/>
              </a:highlight>
              <a:latin typeface="EB Garamond"/>
              <a:ea typeface="EB Garamond"/>
              <a:cs typeface="EB Garamond"/>
              <a:sym typeface="EB Garamond"/>
            </a:endParaRPr>
          </a:p>
        </p:txBody>
      </p:sp>
      <p:graphicFrame>
        <p:nvGraphicFramePr>
          <p:cNvPr id="393" name="Google Shape;393;p49"/>
          <p:cNvGraphicFramePr/>
          <p:nvPr/>
        </p:nvGraphicFramePr>
        <p:xfrm>
          <a:off x="405976" y="2487950"/>
          <a:ext cx="3000000" cy="3000000"/>
        </p:xfrm>
        <a:graphic>
          <a:graphicData uri="http://schemas.openxmlformats.org/drawingml/2006/table">
            <a:tbl>
              <a:tblPr bandRow="1" firstRow="1">
                <a:noFill/>
                <a:tableStyleId>{741DE032-D7ED-4C3B-852E-99012D6E978F}</a:tableStyleId>
              </a:tblPr>
              <a:tblGrid>
                <a:gridCol w="565400"/>
                <a:gridCol w="565400"/>
              </a:tblGrid>
              <a:tr h="191500">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caso</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edad</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1</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20</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highlight>
                            <a:schemeClr val="accent6"/>
                          </a:highlight>
                          <a:latin typeface="EB Garamond"/>
                          <a:ea typeface="EB Garamond"/>
                          <a:cs typeface="EB Garamond"/>
                          <a:sym typeface="EB Garamond"/>
                        </a:rPr>
                        <a:t>1</a:t>
                      </a:r>
                      <a:endParaRPr sz="1200">
                        <a:solidFill>
                          <a:schemeClr val="dk2"/>
                        </a:solidFill>
                        <a:highlight>
                          <a:schemeClr val="accent6"/>
                        </a:highlight>
                        <a:latin typeface="EB Garamond"/>
                        <a:ea typeface="EB Garamond"/>
                        <a:cs typeface="EB Garamond"/>
                        <a:sym typeface="EB Garamond"/>
                      </a:endParaRPr>
                    </a:p>
                  </a:txBody>
                  <a:tcPr marT="45725" marB="45725" marR="91450" marL="91450"/>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3</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78</a:t>
                      </a:r>
                      <a:endParaRPr sz="1200">
                        <a:solidFill>
                          <a:schemeClr val="dk2"/>
                        </a:solidFill>
                        <a:latin typeface="EB Garamond"/>
                        <a:ea typeface="EB Garamond"/>
                        <a:cs typeface="EB Garamond"/>
                        <a:sym typeface="EB Garamond"/>
                      </a:endParaRPr>
                    </a:p>
                  </a:txBody>
                  <a:tcPr marT="45725" marB="45725" marR="91450" marL="91450"/>
                </a:tc>
              </a:tr>
              <a:tr h="173875">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n</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a:t>
                      </a:r>
                      <a:endParaRPr sz="1200">
                        <a:solidFill>
                          <a:schemeClr val="dk2"/>
                        </a:solidFill>
                        <a:latin typeface="EB Garamond"/>
                        <a:ea typeface="EB Garamond"/>
                        <a:cs typeface="EB Garamond"/>
                        <a:sym typeface="EB Garamond"/>
                      </a:endParaRPr>
                    </a:p>
                  </a:txBody>
                  <a:tcPr marT="45725" marB="45725" marR="91450" marL="91450"/>
                </a:tc>
              </a:tr>
            </a:tbl>
          </a:graphicData>
        </a:graphic>
      </p:graphicFrame>
      <p:pic>
        <p:nvPicPr>
          <p:cNvPr descr="Imagen que contiene Logotipo&#10;&#10;Descripción generada automáticamente" id="394" name="Google Shape;394;p49"/>
          <p:cNvPicPr preferRelativeResize="0"/>
          <p:nvPr/>
        </p:nvPicPr>
        <p:blipFill rotWithShape="1">
          <a:blip r:embed="rId3">
            <a:alphaModFix/>
          </a:blip>
          <a:srcRect b="0" l="0" r="0" t="0"/>
          <a:stretch/>
        </p:blipFill>
        <p:spPr>
          <a:xfrm>
            <a:off x="4317075" y="3187025"/>
            <a:ext cx="4333225" cy="1381850"/>
          </a:xfrm>
          <a:prstGeom prst="rect">
            <a:avLst/>
          </a:prstGeom>
          <a:noFill/>
          <a:ln>
            <a:noFill/>
          </a:ln>
        </p:spPr>
      </p:pic>
      <p:sp>
        <p:nvSpPr>
          <p:cNvPr id="395" name="Google Shape;395;p49"/>
          <p:cNvSpPr txBox="1"/>
          <p:nvPr/>
        </p:nvSpPr>
        <p:spPr>
          <a:xfrm>
            <a:off x="4546555" y="2691336"/>
            <a:ext cx="3574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 sz="1600">
                <a:solidFill>
                  <a:schemeClr val="dk2"/>
                </a:solidFill>
                <a:latin typeface="EB Garamond"/>
                <a:ea typeface="EB Garamond"/>
                <a:cs typeface="EB Garamond"/>
                <a:sym typeface="EB Garamond"/>
              </a:rPr>
              <a:t>Pirámide poblacional CENSO (2017)</a:t>
            </a:r>
            <a:endParaRPr>
              <a:solidFill>
                <a:schemeClr val="dk2"/>
              </a:solidFill>
              <a:latin typeface="EB Garamond"/>
              <a:ea typeface="EB Garamond"/>
              <a:cs typeface="EB Garamond"/>
              <a:sym typeface="EB Garamond"/>
            </a:endParaRPr>
          </a:p>
        </p:txBody>
      </p:sp>
      <p:sp>
        <p:nvSpPr>
          <p:cNvPr id="396" name="Google Shape;396;p49"/>
          <p:cNvSpPr txBox="1"/>
          <p:nvPr/>
        </p:nvSpPr>
        <p:spPr>
          <a:xfrm rot="-5400000">
            <a:off x="3369225" y="3674700"/>
            <a:ext cx="1321200" cy="230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900">
                <a:solidFill>
                  <a:srgbClr val="000000"/>
                </a:solidFill>
                <a:latin typeface="EB Garamond"/>
                <a:ea typeface="EB Garamond"/>
                <a:cs typeface="EB Garamond"/>
                <a:sym typeface="EB Garamond"/>
              </a:rPr>
              <a:t>(-)           EDAD         (+)</a:t>
            </a:r>
            <a:endParaRPr sz="900">
              <a:latin typeface="EB Garamond"/>
              <a:ea typeface="EB Garamond"/>
              <a:cs typeface="EB Garamond"/>
              <a:sym typeface="EB Garamo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¿Se puede cambiar el nivel de medición de una variable?</a:t>
            </a:r>
            <a:endParaRPr b="1">
              <a:latin typeface="EB Garamond"/>
              <a:ea typeface="EB Garamond"/>
              <a:cs typeface="EB Garamond"/>
              <a:sym typeface="EB Garamond"/>
            </a:endParaRPr>
          </a:p>
        </p:txBody>
      </p:sp>
      <p:sp>
        <p:nvSpPr>
          <p:cNvPr id="402" name="Google Shape;402;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403" name="Google Shape;403;p50"/>
          <p:cNvPicPr preferRelativeResize="0"/>
          <p:nvPr/>
        </p:nvPicPr>
        <p:blipFill rotWithShape="1">
          <a:blip r:embed="rId3">
            <a:alphaModFix/>
          </a:blip>
          <a:srcRect b="0" l="0" r="0" t="0"/>
          <a:stretch/>
        </p:blipFill>
        <p:spPr>
          <a:xfrm>
            <a:off x="700213" y="1749150"/>
            <a:ext cx="7772226" cy="2001725"/>
          </a:xfrm>
          <a:prstGeom prst="rect">
            <a:avLst/>
          </a:prstGeom>
          <a:noFill/>
          <a:ln>
            <a:noFill/>
          </a:ln>
        </p:spPr>
      </p:pic>
      <p:sp>
        <p:nvSpPr>
          <p:cNvPr id="404" name="Google Shape;404;p50"/>
          <p:cNvSpPr/>
          <p:nvPr/>
        </p:nvSpPr>
        <p:spPr>
          <a:xfrm>
            <a:off x="4844073" y="3388716"/>
            <a:ext cx="774600" cy="3621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405" name="Google Shape;405;p50"/>
          <p:cNvSpPr/>
          <p:nvPr/>
        </p:nvSpPr>
        <p:spPr>
          <a:xfrm>
            <a:off x="2268097" y="3388416"/>
            <a:ext cx="774600" cy="362100"/>
          </a:xfrm>
          <a:prstGeom prst="donut">
            <a:avLst>
              <a:gd fmla="val 5436" name="adj"/>
            </a:avLst>
          </a:prstGeom>
          <a:solidFill>
            <a:srgbClr val="156C77"/>
          </a:solidFill>
          <a:ln cap="flat" cmpd="sng" w="12700">
            <a:solidFill>
              <a:srgbClr val="156C7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cxnSp>
        <p:nvCxnSpPr>
          <p:cNvPr id="406" name="Google Shape;406;p50"/>
          <p:cNvCxnSpPr>
            <a:stCxn id="405" idx="6"/>
            <a:endCxn id="404" idx="2"/>
          </p:cNvCxnSpPr>
          <p:nvPr/>
        </p:nvCxnSpPr>
        <p:spPr>
          <a:xfrm>
            <a:off x="3042697" y="3569466"/>
            <a:ext cx="1801500" cy="300"/>
          </a:xfrm>
          <a:prstGeom prst="straightConnector1">
            <a:avLst/>
          </a:prstGeom>
          <a:noFill/>
          <a:ln cap="flat" cmpd="sng" w="38100">
            <a:solidFill>
              <a:srgbClr val="FF1D76"/>
            </a:solidFill>
            <a:prstDash val="solid"/>
            <a:miter lim="800000"/>
            <a:headEnd len="sm" w="sm"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Ejemplo</a:t>
            </a:r>
            <a:endParaRPr>
              <a:latin typeface="EB Garamond"/>
              <a:ea typeface="EB Garamond"/>
              <a:cs typeface="EB Garamond"/>
              <a:sym typeface="EB Garamond"/>
            </a:endParaRPr>
          </a:p>
        </p:txBody>
      </p:sp>
      <p:sp>
        <p:nvSpPr>
          <p:cNvPr id="412" name="Google Shape;412;p51"/>
          <p:cNvSpPr txBox="1"/>
          <p:nvPr>
            <p:ph idx="1" type="body"/>
          </p:nvPr>
        </p:nvSpPr>
        <p:spPr>
          <a:xfrm>
            <a:off x="311700" y="1152475"/>
            <a:ext cx="3300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solidFill>
                  <a:schemeClr val="lt2"/>
                </a:solidFill>
                <a:highlight>
                  <a:srgbClr val="156C77"/>
                </a:highlight>
                <a:latin typeface="EB Garamond"/>
                <a:ea typeface="EB Garamond"/>
                <a:cs typeface="EB Garamond"/>
                <a:sym typeface="EB Garamond"/>
              </a:rPr>
              <a:t>1. Variable (encuesta)</a:t>
            </a:r>
            <a:endParaRPr sz="1600">
              <a:solidFill>
                <a:schemeClr val="lt2"/>
              </a:solidFill>
              <a:highlight>
                <a:srgbClr val="156C77"/>
              </a:highlight>
              <a:latin typeface="EB Garamond"/>
              <a:ea typeface="EB Garamond"/>
              <a:cs typeface="EB Garamond"/>
              <a:sym typeface="EB Garamond"/>
            </a:endParaRPr>
          </a:p>
          <a:p>
            <a:pPr indent="0" lvl="0" marL="0" rtl="0" algn="l">
              <a:spcBef>
                <a:spcPts val="1200"/>
              </a:spcBef>
              <a:spcAft>
                <a:spcPts val="0"/>
              </a:spcAft>
              <a:buNone/>
            </a:pPr>
            <a:r>
              <a:rPr lang="es" sz="1400">
                <a:latin typeface="EB Garamond"/>
                <a:ea typeface="EB Garamond"/>
                <a:cs typeface="EB Garamond"/>
                <a:sym typeface="EB Garamond"/>
              </a:rPr>
              <a:t>P1. Indique su edad en años cumplidos: ____</a:t>
            </a:r>
            <a:endParaRPr sz="1400">
              <a:latin typeface="EB Garamond"/>
              <a:ea typeface="EB Garamond"/>
              <a:cs typeface="EB Garamond"/>
              <a:sym typeface="EB Garamond"/>
            </a:endParaRPr>
          </a:p>
          <a:p>
            <a:pPr indent="0" lvl="0" marL="0" rtl="0" algn="l">
              <a:spcBef>
                <a:spcPts val="1200"/>
              </a:spcBef>
              <a:spcAft>
                <a:spcPts val="0"/>
              </a:spcAft>
              <a:buNone/>
            </a:pPr>
            <a:r>
              <a:rPr lang="es" sz="1600">
                <a:solidFill>
                  <a:schemeClr val="lt2"/>
                </a:solidFill>
                <a:highlight>
                  <a:srgbClr val="A64D79"/>
                </a:highlight>
                <a:latin typeface="EB Garamond"/>
                <a:ea typeface="EB Garamond"/>
                <a:cs typeface="EB Garamond"/>
                <a:sym typeface="EB Garamond"/>
              </a:rPr>
              <a:t>2. Atributos (matriz datos)</a:t>
            </a:r>
            <a:endParaRPr sz="1600">
              <a:solidFill>
                <a:schemeClr val="lt2"/>
              </a:solidFill>
              <a:highlight>
                <a:srgbClr val="A64D79"/>
              </a:highlight>
              <a:latin typeface="EB Garamond"/>
              <a:ea typeface="EB Garamond"/>
              <a:cs typeface="EB Garamond"/>
              <a:sym typeface="EB Garamond"/>
            </a:endParaRPr>
          </a:p>
          <a:p>
            <a:pPr indent="0" lvl="0" marL="0" rtl="0" algn="l">
              <a:spcBef>
                <a:spcPts val="1200"/>
              </a:spcBef>
              <a:spcAft>
                <a:spcPts val="1200"/>
              </a:spcAft>
              <a:buNone/>
            </a:pPr>
            <a:r>
              <a:t/>
            </a:r>
            <a:endParaRPr>
              <a:solidFill>
                <a:schemeClr val="lt2"/>
              </a:solidFill>
              <a:highlight>
                <a:srgbClr val="A64D79"/>
              </a:highlight>
              <a:latin typeface="EB Garamond"/>
              <a:ea typeface="EB Garamond"/>
              <a:cs typeface="EB Garamond"/>
              <a:sym typeface="EB Garamond"/>
            </a:endParaRPr>
          </a:p>
        </p:txBody>
      </p:sp>
      <p:sp>
        <p:nvSpPr>
          <p:cNvPr id="413" name="Google Shape;413;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14" name="Google Shape;414;p51"/>
          <p:cNvSpPr txBox="1"/>
          <p:nvPr>
            <p:ph idx="2" type="body"/>
          </p:nvPr>
        </p:nvSpPr>
        <p:spPr>
          <a:xfrm>
            <a:off x="4061650" y="1152475"/>
            <a:ext cx="477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highlight>
                  <a:schemeClr val="accent4"/>
                </a:highlight>
                <a:latin typeface="EB Garamond"/>
                <a:ea typeface="EB Garamond"/>
                <a:cs typeface="EB Garamond"/>
                <a:sym typeface="EB Garamond"/>
              </a:rPr>
              <a:t>3. Transformación del nivel de medición (análisis de datos)</a:t>
            </a:r>
            <a:endParaRPr sz="1600">
              <a:highlight>
                <a:schemeClr val="accent4"/>
              </a:highlight>
              <a:latin typeface="EB Garamond"/>
              <a:ea typeface="EB Garamond"/>
              <a:cs typeface="EB Garamond"/>
              <a:sym typeface="EB Garamond"/>
            </a:endParaRPr>
          </a:p>
          <a:p>
            <a:pPr indent="0" lvl="0" marL="0" rtl="0" algn="l">
              <a:lnSpc>
                <a:spcPct val="100000"/>
              </a:lnSpc>
              <a:spcBef>
                <a:spcPts val="1200"/>
              </a:spcBef>
              <a:spcAft>
                <a:spcPts val="0"/>
              </a:spcAft>
              <a:buNone/>
            </a:pPr>
            <a:r>
              <a:rPr lang="es">
                <a:latin typeface="EB Garamond"/>
                <a:ea typeface="EB Garamond"/>
                <a:cs typeface="EB Garamond"/>
                <a:sym typeface="EB Garamond"/>
              </a:rPr>
              <a:t>Tenemos edad como una variable </a:t>
            </a:r>
            <a:r>
              <a:rPr lang="es">
                <a:highlight>
                  <a:srgbClr val="FDBF41"/>
                </a:highlight>
                <a:latin typeface="EB Garamond"/>
                <a:ea typeface="EB Garamond"/>
                <a:cs typeface="EB Garamond"/>
                <a:sym typeface="EB Garamond"/>
              </a:rPr>
              <a:t>ordinal</a:t>
            </a:r>
            <a:r>
              <a:rPr lang="es">
                <a:latin typeface="EB Garamond"/>
                <a:ea typeface="EB Garamond"/>
                <a:cs typeface="EB Garamond"/>
                <a:sym typeface="EB Garamond"/>
              </a:rPr>
              <a:t>:</a:t>
            </a:r>
            <a:endParaRPr sz="1200">
              <a:highlight>
                <a:schemeClr val="accent4"/>
              </a:highlight>
              <a:latin typeface="EB Garamond"/>
              <a:ea typeface="EB Garamond"/>
              <a:cs typeface="EB Garamond"/>
              <a:sym typeface="EB Garamond"/>
            </a:endParaRPr>
          </a:p>
        </p:txBody>
      </p:sp>
      <p:graphicFrame>
        <p:nvGraphicFramePr>
          <p:cNvPr id="415" name="Google Shape;415;p51"/>
          <p:cNvGraphicFramePr/>
          <p:nvPr/>
        </p:nvGraphicFramePr>
        <p:xfrm>
          <a:off x="405976" y="2487950"/>
          <a:ext cx="3000000" cy="3000000"/>
        </p:xfrm>
        <a:graphic>
          <a:graphicData uri="http://schemas.openxmlformats.org/drawingml/2006/table">
            <a:tbl>
              <a:tblPr bandRow="1" firstRow="1">
                <a:noFill/>
                <a:tableStyleId>{741DE032-D7ED-4C3B-852E-99012D6E978F}</a:tableStyleId>
              </a:tblPr>
              <a:tblGrid>
                <a:gridCol w="565400"/>
                <a:gridCol w="565400"/>
              </a:tblGrid>
              <a:tr h="191500">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caso</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edad</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1</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20</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highlight>
                            <a:schemeClr val="accent6"/>
                          </a:highlight>
                          <a:latin typeface="EB Garamond"/>
                          <a:ea typeface="EB Garamond"/>
                          <a:cs typeface="EB Garamond"/>
                          <a:sym typeface="EB Garamond"/>
                        </a:rPr>
                        <a:t>1</a:t>
                      </a:r>
                      <a:endParaRPr sz="1200">
                        <a:solidFill>
                          <a:schemeClr val="dk2"/>
                        </a:solidFill>
                        <a:highlight>
                          <a:schemeClr val="accent6"/>
                        </a:highlight>
                        <a:latin typeface="EB Garamond"/>
                        <a:ea typeface="EB Garamond"/>
                        <a:cs typeface="EB Garamond"/>
                        <a:sym typeface="EB Garamond"/>
                      </a:endParaRPr>
                    </a:p>
                  </a:txBody>
                  <a:tcPr marT="45725" marB="45725" marR="91450" marL="91450"/>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3</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78</a:t>
                      </a:r>
                      <a:endParaRPr sz="1200">
                        <a:solidFill>
                          <a:schemeClr val="dk2"/>
                        </a:solidFill>
                        <a:latin typeface="EB Garamond"/>
                        <a:ea typeface="EB Garamond"/>
                        <a:cs typeface="EB Garamond"/>
                        <a:sym typeface="EB Garamond"/>
                      </a:endParaRPr>
                    </a:p>
                  </a:txBody>
                  <a:tcPr marT="45725" marB="45725" marR="91450" marL="91450"/>
                </a:tc>
              </a:tr>
              <a:tr h="173875">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n</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a:t>
                      </a:r>
                      <a:endParaRPr sz="1200">
                        <a:solidFill>
                          <a:schemeClr val="dk2"/>
                        </a:solidFill>
                        <a:latin typeface="EB Garamond"/>
                        <a:ea typeface="EB Garamond"/>
                        <a:cs typeface="EB Garamond"/>
                        <a:sym typeface="EB Garamond"/>
                      </a:endParaRPr>
                    </a:p>
                  </a:txBody>
                  <a:tcPr marT="45725" marB="45725" marR="91450" marL="91450"/>
                </a:tc>
              </a:tr>
            </a:tbl>
          </a:graphicData>
        </a:graphic>
      </p:graphicFrame>
      <p:sp>
        <p:nvSpPr>
          <p:cNvPr id="416" name="Google Shape;416;p51"/>
          <p:cNvSpPr txBox="1"/>
          <p:nvPr/>
        </p:nvSpPr>
        <p:spPr>
          <a:xfrm>
            <a:off x="4897876" y="2065700"/>
            <a:ext cx="252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 sz="1600">
                <a:solidFill>
                  <a:schemeClr val="dk2"/>
                </a:solidFill>
                <a:latin typeface="EB Garamond"/>
                <a:ea typeface="EB Garamond"/>
                <a:cs typeface="EB Garamond"/>
                <a:sym typeface="EB Garamond"/>
              </a:rPr>
              <a:t>Población CENSO (2017)</a:t>
            </a:r>
            <a:endParaRPr>
              <a:solidFill>
                <a:schemeClr val="dk2"/>
              </a:solidFill>
              <a:latin typeface="EB Garamond"/>
              <a:ea typeface="EB Garamond"/>
              <a:cs typeface="EB Garamond"/>
              <a:sym typeface="EB Garamond"/>
            </a:endParaRPr>
          </a:p>
        </p:txBody>
      </p:sp>
      <p:pic>
        <p:nvPicPr>
          <p:cNvPr descr="Calendario&#10;&#10;Descripción generada automáticamente" id="417" name="Google Shape;417;p51"/>
          <p:cNvPicPr preferRelativeResize="0"/>
          <p:nvPr/>
        </p:nvPicPr>
        <p:blipFill rotWithShape="1">
          <a:blip r:embed="rId3">
            <a:alphaModFix/>
          </a:blip>
          <a:srcRect b="0" l="0" r="0" t="0"/>
          <a:stretch/>
        </p:blipFill>
        <p:spPr>
          <a:xfrm>
            <a:off x="4478300" y="2487950"/>
            <a:ext cx="3499243" cy="23993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¿Se puede cambiar el nivel de medición de una variable?</a:t>
            </a:r>
            <a:endParaRPr b="1">
              <a:latin typeface="EB Garamond"/>
              <a:ea typeface="EB Garamond"/>
              <a:cs typeface="EB Garamond"/>
              <a:sym typeface="EB Garamond"/>
            </a:endParaRPr>
          </a:p>
        </p:txBody>
      </p:sp>
      <p:sp>
        <p:nvSpPr>
          <p:cNvPr id="423" name="Google Shape;423;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424" name="Google Shape;424;p52"/>
          <p:cNvPicPr preferRelativeResize="0"/>
          <p:nvPr/>
        </p:nvPicPr>
        <p:blipFill rotWithShape="1">
          <a:blip r:embed="rId3">
            <a:alphaModFix/>
          </a:blip>
          <a:srcRect b="0" l="0" r="0" t="0"/>
          <a:stretch/>
        </p:blipFill>
        <p:spPr>
          <a:xfrm>
            <a:off x="700213" y="1749150"/>
            <a:ext cx="7772226" cy="2001725"/>
          </a:xfrm>
          <a:prstGeom prst="rect">
            <a:avLst/>
          </a:prstGeom>
          <a:noFill/>
          <a:ln>
            <a:noFill/>
          </a:ln>
        </p:spPr>
      </p:pic>
      <p:sp>
        <p:nvSpPr>
          <p:cNvPr id="425" name="Google Shape;425;p52"/>
          <p:cNvSpPr/>
          <p:nvPr/>
        </p:nvSpPr>
        <p:spPr>
          <a:xfrm>
            <a:off x="3647798" y="3388416"/>
            <a:ext cx="774600" cy="3621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52"/>
          <p:cNvSpPr/>
          <p:nvPr/>
        </p:nvSpPr>
        <p:spPr>
          <a:xfrm>
            <a:off x="2268097" y="3388416"/>
            <a:ext cx="774600" cy="362100"/>
          </a:xfrm>
          <a:prstGeom prst="donut">
            <a:avLst>
              <a:gd fmla="val 5436" name="adj"/>
            </a:avLst>
          </a:prstGeom>
          <a:solidFill>
            <a:srgbClr val="156C77"/>
          </a:solidFill>
          <a:ln cap="flat" cmpd="sng" w="12700">
            <a:solidFill>
              <a:srgbClr val="156C7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cxnSp>
        <p:nvCxnSpPr>
          <p:cNvPr id="427" name="Google Shape;427;p52"/>
          <p:cNvCxnSpPr>
            <a:stCxn id="426" idx="6"/>
          </p:cNvCxnSpPr>
          <p:nvPr/>
        </p:nvCxnSpPr>
        <p:spPr>
          <a:xfrm>
            <a:off x="3042697" y="3569466"/>
            <a:ext cx="605100" cy="18000"/>
          </a:xfrm>
          <a:prstGeom prst="straightConnector1">
            <a:avLst/>
          </a:prstGeom>
          <a:noFill/>
          <a:ln cap="flat" cmpd="sng" w="38100">
            <a:solidFill>
              <a:srgbClr val="FF1D76"/>
            </a:solidFill>
            <a:prstDash val="solid"/>
            <a:miter lim="800000"/>
            <a:headEnd len="sm" w="sm" type="none"/>
            <a:tailEnd len="med" w="med" type="triangl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Ejemplo</a:t>
            </a:r>
            <a:endParaRPr>
              <a:latin typeface="EB Garamond"/>
              <a:ea typeface="EB Garamond"/>
              <a:cs typeface="EB Garamond"/>
              <a:sym typeface="EB Garamond"/>
            </a:endParaRPr>
          </a:p>
        </p:txBody>
      </p:sp>
      <p:sp>
        <p:nvSpPr>
          <p:cNvPr id="433" name="Google Shape;433;p53"/>
          <p:cNvSpPr txBox="1"/>
          <p:nvPr>
            <p:ph idx="1" type="body"/>
          </p:nvPr>
        </p:nvSpPr>
        <p:spPr>
          <a:xfrm>
            <a:off x="311700" y="1152475"/>
            <a:ext cx="3300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solidFill>
                  <a:schemeClr val="lt2"/>
                </a:solidFill>
                <a:highlight>
                  <a:srgbClr val="156C77"/>
                </a:highlight>
                <a:latin typeface="EB Garamond"/>
                <a:ea typeface="EB Garamond"/>
                <a:cs typeface="EB Garamond"/>
                <a:sym typeface="EB Garamond"/>
              </a:rPr>
              <a:t>1. Variable (encuesta)</a:t>
            </a:r>
            <a:endParaRPr sz="1600">
              <a:solidFill>
                <a:schemeClr val="lt2"/>
              </a:solidFill>
              <a:highlight>
                <a:srgbClr val="156C77"/>
              </a:highlight>
              <a:latin typeface="EB Garamond"/>
              <a:ea typeface="EB Garamond"/>
              <a:cs typeface="EB Garamond"/>
              <a:sym typeface="EB Garamond"/>
            </a:endParaRPr>
          </a:p>
          <a:p>
            <a:pPr indent="0" lvl="0" marL="0" rtl="0" algn="l">
              <a:spcBef>
                <a:spcPts val="1200"/>
              </a:spcBef>
              <a:spcAft>
                <a:spcPts val="0"/>
              </a:spcAft>
              <a:buNone/>
            </a:pPr>
            <a:r>
              <a:rPr lang="es" sz="1400">
                <a:latin typeface="EB Garamond"/>
                <a:ea typeface="EB Garamond"/>
                <a:cs typeface="EB Garamond"/>
                <a:sym typeface="EB Garamond"/>
              </a:rPr>
              <a:t>P1. Indique su edad en años cumplidos: ____</a:t>
            </a:r>
            <a:endParaRPr sz="1400">
              <a:latin typeface="EB Garamond"/>
              <a:ea typeface="EB Garamond"/>
              <a:cs typeface="EB Garamond"/>
              <a:sym typeface="EB Garamond"/>
            </a:endParaRPr>
          </a:p>
          <a:p>
            <a:pPr indent="0" lvl="0" marL="0" rtl="0" algn="l">
              <a:spcBef>
                <a:spcPts val="1200"/>
              </a:spcBef>
              <a:spcAft>
                <a:spcPts val="0"/>
              </a:spcAft>
              <a:buNone/>
            </a:pPr>
            <a:r>
              <a:rPr lang="es" sz="1600">
                <a:solidFill>
                  <a:schemeClr val="lt2"/>
                </a:solidFill>
                <a:highlight>
                  <a:srgbClr val="A64D79"/>
                </a:highlight>
                <a:latin typeface="EB Garamond"/>
                <a:ea typeface="EB Garamond"/>
                <a:cs typeface="EB Garamond"/>
                <a:sym typeface="EB Garamond"/>
              </a:rPr>
              <a:t>2. Atributos (matriz datos)</a:t>
            </a:r>
            <a:endParaRPr sz="1600">
              <a:solidFill>
                <a:schemeClr val="lt2"/>
              </a:solidFill>
              <a:highlight>
                <a:srgbClr val="A64D79"/>
              </a:highlight>
              <a:latin typeface="EB Garamond"/>
              <a:ea typeface="EB Garamond"/>
              <a:cs typeface="EB Garamond"/>
              <a:sym typeface="EB Garamond"/>
            </a:endParaRPr>
          </a:p>
          <a:p>
            <a:pPr indent="0" lvl="0" marL="0" rtl="0" algn="l">
              <a:spcBef>
                <a:spcPts val="1200"/>
              </a:spcBef>
              <a:spcAft>
                <a:spcPts val="1200"/>
              </a:spcAft>
              <a:buNone/>
            </a:pPr>
            <a:r>
              <a:t/>
            </a:r>
            <a:endParaRPr>
              <a:solidFill>
                <a:schemeClr val="lt2"/>
              </a:solidFill>
              <a:highlight>
                <a:srgbClr val="A64D79"/>
              </a:highlight>
              <a:latin typeface="EB Garamond"/>
              <a:ea typeface="EB Garamond"/>
              <a:cs typeface="EB Garamond"/>
              <a:sym typeface="EB Garamond"/>
            </a:endParaRPr>
          </a:p>
        </p:txBody>
      </p:sp>
      <p:sp>
        <p:nvSpPr>
          <p:cNvPr id="434" name="Google Shape;434;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35" name="Google Shape;435;p53"/>
          <p:cNvSpPr txBox="1"/>
          <p:nvPr>
            <p:ph idx="2" type="body"/>
          </p:nvPr>
        </p:nvSpPr>
        <p:spPr>
          <a:xfrm>
            <a:off x="4061650" y="1152475"/>
            <a:ext cx="477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highlight>
                  <a:schemeClr val="accent4"/>
                </a:highlight>
                <a:latin typeface="EB Garamond"/>
                <a:ea typeface="EB Garamond"/>
                <a:cs typeface="EB Garamond"/>
                <a:sym typeface="EB Garamond"/>
              </a:rPr>
              <a:t>3. Transformación del nivel de medición (análisis de datos)</a:t>
            </a:r>
            <a:endParaRPr sz="1600">
              <a:highlight>
                <a:schemeClr val="accent4"/>
              </a:highlight>
              <a:latin typeface="EB Garamond"/>
              <a:ea typeface="EB Garamond"/>
              <a:cs typeface="EB Garamond"/>
              <a:sym typeface="EB Garamond"/>
            </a:endParaRPr>
          </a:p>
          <a:p>
            <a:pPr indent="0" lvl="0" marL="0" rtl="0" algn="l">
              <a:lnSpc>
                <a:spcPct val="100000"/>
              </a:lnSpc>
              <a:spcBef>
                <a:spcPts val="1200"/>
              </a:spcBef>
              <a:spcAft>
                <a:spcPts val="0"/>
              </a:spcAft>
              <a:buNone/>
            </a:pPr>
            <a:r>
              <a:rPr lang="es">
                <a:latin typeface="EB Garamond"/>
                <a:ea typeface="EB Garamond"/>
                <a:cs typeface="EB Garamond"/>
                <a:sym typeface="EB Garamond"/>
              </a:rPr>
              <a:t>Tenemos edad como una variable </a:t>
            </a:r>
            <a:r>
              <a:rPr lang="es">
                <a:highlight>
                  <a:srgbClr val="FDBF41"/>
                </a:highlight>
                <a:latin typeface="EB Garamond"/>
                <a:ea typeface="EB Garamond"/>
                <a:cs typeface="EB Garamond"/>
                <a:sym typeface="EB Garamond"/>
              </a:rPr>
              <a:t>nominal</a:t>
            </a:r>
            <a:r>
              <a:rPr lang="es">
                <a:latin typeface="EB Garamond"/>
                <a:ea typeface="EB Garamond"/>
                <a:cs typeface="EB Garamond"/>
                <a:sym typeface="EB Garamond"/>
              </a:rPr>
              <a:t>:</a:t>
            </a:r>
            <a:endParaRPr sz="1200">
              <a:highlight>
                <a:schemeClr val="accent4"/>
              </a:highlight>
              <a:latin typeface="EB Garamond"/>
              <a:ea typeface="EB Garamond"/>
              <a:cs typeface="EB Garamond"/>
              <a:sym typeface="EB Garamond"/>
            </a:endParaRPr>
          </a:p>
        </p:txBody>
      </p:sp>
      <p:graphicFrame>
        <p:nvGraphicFramePr>
          <p:cNvPr id="436" name="Google Shape;436;p53"/>
          <p:cNvGraphicFramePr/>
          <p:nvPr/>
        </p:nvGraphicFramePr>
        <p:xfrm>
          <a:off x="405976" y="2487950"/>
          <a:ext cx="3000000" cy="3000000"/>
        </p:xfrm>
        <a:graphic>
          <a:graphicData uri="http://schemas.openxmlformats.org/drawingml/2006/table">
            <a:tbl>
              <a:tblPr bandRow="1" firstRow="1">
                <a:noFill/>
                <a:tableStyleId>{741DE032-D7ED-4C3B-852E-99012D6E978F}</a:tableStyleId>
              </a:tblPr>
              <a:tblGrid>
                <a:gridCol w="565400"/>
                <a:gridCol w="565400"/>
              </a:tblGrid>
              <a:tr h="191500">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caso</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edad</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1</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20</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highlight>
                            <a:schemeClr val="accent6"/>
                          </a:highlight>
                          <a:latin typeface="EB Garamond"/>
                          <a:ea typeface="EB Garamond"/>
                          <a:cs typeface="EB Garamond"/>
                          <a:sym typeface="EB Garamond"/>
                        </a:rPr>
                        <a:t>1</a:t>
                      </a:r>
                      <a:endParaRPr sz="1200">
                        <a:solidFill>
                          <a:schemeClr val="dk2"/>
                        </a:solidFill>
                        <a:highlight>
                          <a:schemeClr val="accent6"/>
                        </a:highlight>
                        <a:latin typeface="EB Garamond"/>
                        <a:ea typeface="EB Garamond"/>
                        <a:cs typeface="EB Garamond"/>
                        <a:sym typeface="EB Garamond"/>
                      </a:endParaRPr>
                    </a:p>
                  </a:txBody>
                  <a:tcPr marT="45725" marB="45725" marR="91450" marL="91450"/>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3</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78</a:t>
                      </a:r>
                      <a:endParaRPr sz="1200">
                        <a:solidFill>
                          <a:schemeClr val="dk2"/>
                        </a:solidFill>
                        <a:latin typeface="EB Garamond"/>
                        <a:ea typeface="EB Garamond"/>
                        <a:cs typeface="EB Garamond"/>
                        <a:sym typeface="EB Garamond"/>
                      </a:endParaRPr>
                    </a:p>
                  </a:txBody>
                  <a:tcPr marT="45725" marB="45725" marR="91450" marL="91450"/>
                </a:tc>
              </a:tr>
              <a:tr h="173875">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n</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a:t>
                      </a:r>
                      <a:endParaRPr sz="1200">
                        <a:solidFill>
                          <a:schemeClr val="dk2"/>
                        </a:solidFill>
                        <a:latin typeface="EB Garamond"/>
                        <a:ea typeface="EB Garamond"/>
                        <a:cs typeface="EB Garamond"/>
                        <a:sym typeface="EB Garamond"/>
                      </a:endParaRPr>
                    </a:p>
                  </a:txBody>
                  <a:tcPr marT="45725" marB="45725" marR="91450" marL="91450"/>
                </a:tc>
              </a:tr>
            </a:tbl>
          </a:graphicData>
        </a:graphic>
      </p:graphicFrame>
      <p:sp>
        <p:nvSpPr>
          <p:cNvPr id="437" name="Google Shape;437;p53"/>
          <p:cNvSpPr txBox="1"/>
          <p:nvPr/>
        </p:nvSpPr>
        <p:spPr>
          <a:xfrm>
            <a:off x="4237825" y="2312300"/>
            <a:ext cx="43050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s">
                <a:solidFill>
                  <a:schemeClr val="dk2"/>
                </a:solidFill>
                <a:latin typeface="EB Garamond"/>
                <a:ea typeface="EB Garamond"/>
                <a:cs typeface="EB Garamond"/>
                <a:sym typeface="EB Garamond"/>
              </a:rPr>
              <a:t>El CENSO 2017 revela que cada 100 personas en Chile:</a:t>
            </a:r>
            <a:endParaRPr sz="1200">
              <a:solidFill>
                <a:schemeClr val="dk2"/>
              </a:solidFill>
              <a:latin typeface="EB Garamond"/>
              <a:ea typeface="EB Garamond"/>
              <a:cs typeface="EB Garamond"/>
              <a:sym typeface="EB Garamond"/>
            </a:endParaRPr>
          </a:p>
        </p:txBody>
      </p:sp>
      <p:pic>
        <p:nvPicPr>
          <p:cNvPr descr="Diagrama&#10;&#10;Descripción generada automáticamente" id="438" name="Google Shape;438;p53"/>
          <p:cNvPicPr preferRelativeResize="0"/>
          <p:nvPr/>
        </p:nvPicPr>
        <p:blipFill rotWithShape="1">
          <a:blip r:embed="rId3">
            <a:alphaModFix/>
          </a:blip>
          <a:srcRect b="0" l="0" r="0" t="0"/>
          <a:stretch/>
        </p:blipFill>
        <p:spPr>
          <a:xfrm>
            <a:off x="4845525" y="2685275"/>
            <a:ext cx="3331245" cy="19202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¿Se puede cambiar el nivel de medición de una variable?</a:t>
            </a:r>
            <a:endParaRPr b="1">
              <a:latin typeface="EB Garamond"/>
              <a:ea typeface="EB Garamond"/>
              <a:cs typeface="EB Garamond"/>
              <a:sym typeface="EB Garamond"/>
            </a:endParaRPr>
          </a:p>
        </p:txBody>
      </p:sp>
      <p:sp>
        <p:nvSpPr>
          <p:cNvPr id="444" name="Google Shape;444;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445" name="Google Shape;445;p54"/>
          <p:cNvPicPr preferRelativeResize="0"/>
          <p:nvPr/>
        </p:nvPicPr>
        <p:blipFill rotWithShape="1">
          <a:blip r:embed="rId3">
            <a:alphaModFix/>
          </a:blip>
          <a:srcRect b="0" l="0" r="0" t="0"/>
          <a:stretch/>
        </p:blipFill>
        <p:spPr>
          <a:xfrm>
            <a:off x="793425" y="1423250"/>
            <a:ext cx="7557150" cy="2050486"/>
          </a:xfrm>
          <a:prstGeom prst="rect">
            <a:avLst/>
          </a:prstGeom>
          <a:noFill/>
          <a:ln>
            <a:noFill/>
          </a:ln>
        </p:spPr>
      </p:pic>
      <p:sp>
        <p:nvSpPr>
          <p:cNvPr id="446" name="Google Shape;446;p54"/>
          <p:cNvSpPr/>
          <p:nvPr/>
        </p:nvSpPr>
        <p:spPr>
          <a:xfrm>
            <a:off x="7362878" y="3102447"/>
            <a:ext cx="753000" cy="3708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447" name="Google Shape;447;p54"/>
          <p:cNvSpPr/>
          <p:nvPr/>
        </p:nvSpPr>
        <p:spPr>
          <a:xfrm>
            <a:off x="2317922" y="3102448"/>
            <a:ext cx="753000" cy="370800"/>
          </a:xfrm>
          <a:prstGeom prst="donut">
            <a:avLst>
              <a:gd fmla="val 5436" name="adj"/>
            </a:avLst>
          </a:prstGeom>
          <a:solidFill>
            <a:srgbClr val="156C77"/>
          </a:solidFill>
          <a:ln cap="flat" cmpd="sng" w="12700">
            <a:solidFill>
              <a:srgbClr val="156C7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448" name="Google Shape;448;p54"/>
          <p:cNvSpPr/>
          <p:nvPr/>
        </p:nvSpPr>
        <p:spPr>
          <a:xfrm>
            <a:off x="6072905" y="3093737"/>
            <a:ext cx="753000" cy="3708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449" name="Google Shape;449;p54"/>
          <p:cNvSpPr/>
          <p:nvPr/>
        </p:nvSpPr>
        <p:spPr>
          <a:xfrm>
            <a:off x="4818413" y="3093736"/>
            <a:ext cx="753000" cy="3708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450" name="Google Shape;450;p54"/>
          <p:cNvSpPr/>
          <p:nvPr/>
        </p:nvSpPr>
        <p:spPr>
          <a:xfrm>
            <a:off x="3569364" y="3093736"/>
            <a:ext cx="753000" cy="3708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451" name="Google Shape;451;p54"/>
          <p:cNvSpPr/>
          <p:nvPr/>
        </p:nvSpPr>
        <p:spPr>
          <a:xfrm rot="-5400000">
            <a:off x="5303546" y="1454775"/>
            <a:ext cx="129300" cy="4594200"/>
          </a:xfrm>
          <a:prstGeom prst="downArrow">
            <a:avLst>
              <a:gd fmla="val 50000" name="adj1"/>
              <a:gd fmla="val 50000" name="adj2"/>
            </a:avLst>
          </a:prstGeom>
          <a:solidFill>
            <a:srgbClr val="FF1D76"/>
          </a:solidFill>
          <a:ln cap="flat" cmpd="sng" w="12700">
            <a:solidFill>
              <a:srgbClr val="FF1D7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5818E"/>
        </a:solidFill>
      </p:bgPr>
    </p:bg>
    <p:spTree>
      <p:nvGrpSpPr>
        <p:cNvPr id="455" name="Shape 455"/>
        <p:cNvGrpSpPr/>
        <p:nvPr/>
      </p:nvGrpSpPr>
      <p:grpSpPr>
        <a:xfrm>
          <a:off x="0" y="0"/>
          <a:ext cx="0" cy="0"/>
          <a:chOff x="0" y="0"/>
          <a:chExt cx="0" cy="0"/>
        </a:xfrm>
      </p:grpSpPr>
      <p:sp>
        <p:nvSpPr>
          <p:cNvPr id="456" name="Google Shape;456;p55"/>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457200" rtl="0" algn="ctr">
              <a:spcBef>
                <a:spcPts val="0"/>
              </a:spcBef>
              <a:spcAft>
                <a:spcPts val="0"/>
              </a:spcAft>
              <a:buNone/>
            </a:pPr>
            <a:r>
              <a:rPr lang="es">
                <a:solidFill>
                  <a:schemeClr val="lt2"/>
                </a:solidFill>
                <a:latin typeface="EB Garamond SemiBold"/>
                <a:ea typeface="EB Garamond SemiBold"/>
                <a:cs typeface="EB Garamond SemiBold"/>
                <a:sym typeface="EB Garamond SemiBold"/>
              </a:rPr>
              <a:t>2.3. Tipos de análisis estadístico univariado</a:t>
            </a:r>
            <a:endParaRPr>
              <a:solidFill>
                <a:schemeClr val="lt2"/>
              </a:solidFill>
              <a:latin typeface="EB Garamond SemiBold"/>
              <a:ea typeface="EB Garamond SemiBold"/>
              <a:cs typeface="EB Garamond SemiBold"/>
              <a:sym typeface="EB Garamond SemiBo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Análisis univariado</a:t>
            </a:r>
            <a:endParaRPr b="1">
              <a:latin typeface="EB Garamond"/>
              <a:ea typeface="EB Garamond"/>
              <a:cs typeface="EB Garamond"/>
              <a:sym typeface="EB Garamond"/>
            </a:endParaRPr>
          </a:p>
          <a:p>
            <a:pPr indent="0" lvl="0" marL="0" rtl="0" algn="l">
              <a:spcBef>
                <a:spcPts val="0"/>
              </a:spcBef>
              <a:spcAft>
                <a:spcPts val="0"/>
              </a:spcAft>
              <a:buNone/>
            </a:pPr>
            <a:r>
              <a:t/>
            </a:r>
            <a:endParaRPr b="1">
              <a:latin typeface="EB Garamond"/>
              <a:ea typeface="EB Garamond"/>
              <a:cs typeface="EB Garamond"/>
              <a:sym typeface="EB Garamond"/>
            </a:endParaRPr>
          </a:p>
        </p:txBody>
      </p:sp>
      <p:sp>
        <p:nvSpPr>
          <p:cNvPr id="462" name="Google Shape;462;p56"/>
          <p:cNvSpPr txBox="1"/>
          <p:nvPr>
            <p:ph idx="1" type="body"/>
          </p:nvPr>
        </p:nvSpPr>
        <p:spPr>
          <a:xfrm>
            <a:off x="311700" y="1152475"/>
            <a:ext cx="8452200" cy="356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a:solidFill>
                <a:schemeClr val="dk1"/>
              </a:solidFill>
              <a:latin typeface="EB Garamond ExtraBold"/>
              <a:ea typeface="EB Garamond ExtraBold"/>
              <a:cs typeface="EB Garamond ExtraBold"/>
              <a:sym typeface="EB Garamond ExtraBol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Estudia </a:t>
            </a:r>
            <a:r>
              <a:rPr b="1" lang="es">
                <a:solidFill>
                  <a:schemeClr val="dk1"/>
                </a:solidFill>
                <a:highlight>
                  <a:srgbClr val="A2C4C9"/>
                </a:highlight>
                <a:latin typeface="EB Garamond"/>
                <a:ea typeface="EB Garamond"/>
                <a:cs typeface="EB Garamond"/>
                <a:sym typeface="EB Garamond"/>
              </a:rPr>
              <a:t>una sola variable a la vez</a:t>
            </a:r>
            <a:endParaRPr b="1">
              <a:solidFill>
                <a:schemeClr val="dk1"/>
              </a:solidFill>
              <a:highlight>
                <a:srgbClr val="A2C4C9"/>
              </a:highlight>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Preguntas típicas: ¿Cómo se distribuye la confianza en instituciones en América Latina?</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Herramientas: </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tablas de frecuencia</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medidas de tendencia central </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medidas de dispersión</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medidas de posición</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medidas de forma</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gráficos de barras</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histogramas</a:t>
            </a:r>
            <a:endParaRPr>
              <a:solidFill>
                <a:schemeClr val="dk1"/>
              </a:solidFill>
              <a:latin typeface="EB Garamond"/>
              <a:ea typeface="EB Garamond"/>
              <a:cs typeface="EB Garamond"/>
              <a:sym typeface="EB Garamon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5818E"/>
        </a:solidFill>
      </p:bgPr>
    </p:bg>
    <p:spTree>
      <p:nvGrpSpPr>
        <p:cNvPr id="466" name="Shape 466"/>
        <p:cNvGrpSpPr/>
        <p:nvPr/>
      </p:nvGrpSpPr>
      <p:grpSpPr>
        <a:xfrm>
          <a:off x="0" y="0"/>
          <a:ext cx="0" cy="0"/>
          <a:chOff x="0" y="0"/>
          <a:chExt cx="0" cy="0"/>
        </a:xfrm>
      </p:grpSpPr>
      <p:sp>
        <p:nvSpPr>
          <p:cNvPr id="467" name="Google Shape;467;p5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457200" rtl="0" algn="ctr">
              <a:spcBef>
                <a:spcPts val="0"/>
              </a:spcBef>
              <a:spcAft>
                <a:spcPts val="0"/>
              </a:spcAft>
              <a:buNone/>
            </a:pPr>
            <a:r>
              <a:rPr lang="es">
                <a:solidFill>
                  <a:schemeClr val="lt2"/>
                </a:solidFill>
                <a:latin typeface="EB Garamond SemiBold"/>
                <a:ea typeface="EB Garamond SemiBold"/>
                <a:cs typeface="EB Garamond SemiBold"/>
                <a:sym typeface="EB Garamond SemiBold"/>
              </a:rPr>
              <a:t>2.4. Tipos de análisis estadístico bivariado</a:t>
            </a:r>
            <a:endParaRPr>
              <a:solidFill>
                <a:schemeClr val="lt2"/>
              </a:solidFill>
              <a:latin typeface="EB Garamond SemiBold"/>
              <a:ea typeface="EB Garamond SemiBold"/>
              <a:cs typeface="EB Garamond SemiBold"/>
              <a:sym typeface="EB Garamond SemiBo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Análisis bivariado</a:t>
            </a:r>
            <a:endParaRPr b="1">
              <a:latin typeface="EB Garamond"/>
              <a:ea typeface="EB Garamond"/>
              <a:cs typeface="EB Garamond"/>
              <a:sym typeface="EB Garamond"/>
            </a:endParaRPr>
          </a:p>
          <a:p>
            <a:pPr indent="0" lvl="0" marL="0" rtl="0" algn="l">
              <a:spcBef>
                <a:spcPts val="0"/>
              </a:spcBef>
              <a:spcAft>
                <a:spcPts val="0"/>
              </a:spcAft>
              <a:buNone/>
            </a:pPr>
            <a:r>
              <a:t/>
            </a:r>
            <a:endParaRPr b="1">
              <a:latin typeface="EB Garamond"/>
              <a:ea typeface="EB Garamond"/>
              <a:cs typeface="EB Garamond"/>
              <a:sym typeface="EB Garamond"/>
            </a:endParaRPr>
          </a:p>
        </p:txBody>
      </p:sp>
      <p:sp>
        <p:nvSpPr>
          <p:cNvPr id="473" name="Google Shape;473;p58"/>
          <p:cNvSpPr txBox="1"/>
          <p:nvPr>
            <p:ph idx="1" type="body"/>
          </p:nvPr>
        </p:nvSpPr>
        <p:spPr>
          <a:xfrm>
            <a:off x="311700" y="1152475"/>
            <a:ext cx="8452200" cy="356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a:solidFill>
                <a:schemeClr val="dk1"/>
              </a:solidFill>
              <a:latin typeface="EB Garamond ExtraBold"/>
              <a:ea typeface="EB Garamond ExtraBold"/>
              <a:cs typeface="EB Garamond ExtraBold"/>
              <a:sym typeface="EB Garamond ExtraBol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Estudia la </a:t>
            </a:r>
            <a:r>
              <a:rPr b="1" lang="es">
                <a:solidFill>
                  <a:schemeClr val="dk1"/>
                </a:solidFill>
                <a:highlight>
                  <a:srgbClr val="A2C4C9"/>
                </a:highlight>
                <a:latin typeface="EB Garamond"/>
                <a:ea typeface="EB Garamond"/>
                <a:cs typeface="EB Garamond"/>
                <a:sym typeface="EB Garamond"/>
              </a:rPr>
              <a:t>relación entre dos variables</a:t>
            </a:r>
            <a:endParaRPr b="1">
              <a:solidFill>
                <a:schemeClr val="dk1"/>
              </a:solidFill>
              <a:highlight>
                <a:srgbClr val="A2C4C9"/>
              </a:highlight>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Preguntas típicas: ¿Varía la confianza en el gobierno según nivel educativo?</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Herramientas: </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tablas de contingencia</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correlación</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gráficos de dispersión</a:t>
            </a:r>
            <a:endParaRPr>
              <a:solidFill>
                <a:schemeClr val="dk1"/>
              </a:solidFill>
              <a:latin typeface="EB Garamond"/>
              <a:ea typeface="EB Garamond"/>
              <a:cs typeface="EB Garamond"/>
              <a:sym typeface="EB Garamond"/>
            </a:endParaRPr>
          </a:p>
          <a:p>
            <a:pPr indent="-317500" lvl="1" marL="914400" rtl="0" algn="just">
              <a:spcBef>
                <a:spcPts val="0"/>
              </a:spcBef>
              <a:spcAft>
                <a:spcPts val="0"/>
              </a:spcAft>
              <a:buClr>
                <a:schemeClr val="dk1"/>
              </a:buClr>
              <a:buSzPts val="1400"/>
              <a:buFont typeface="EB Garamond"/>
              <a:buChar char="○"/>
            </a:pPr>
            <a:r>
              <a:rPr lang="es">
                <a:solidFill>
                  <a:schemeClr val="dk1"/>
                </a:solidFill>
                <a:latin typeface="EB Garamond"/>
                <a:ea typeface="EB Garamond"/>
                <a:cs typeface="EB Garamond"/>
                <a:sym typeface="EB Garamond"/>
              </a:rPr>
              <a:t>boxplot comparativo</a:t>
            </a:r>
            <a:endParaRPr>
              <a:solidFill>
                <a:schemeClr val="dk1"/>
              </a:solidFill>
              <a:latin typeface="EB Garamond"/>
              <a:ea typeface="EB Garamond"/>
              <a:cs typeface="EB Garamond"/>
              <a:sym typeface="EB Garamon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5818E"/>
        </a:solidFill>
      </p:bgPr>
    </p:bg>
    <p:spTree>
      <p:nvGrpSpPr>
        <p:cNvPr id="477" name="Shape 477"/>
        <p:cNvGrpSpPr/>
        <p:nvPr/>
      </p:nvGrpSpPr>
      <p:grpSpPr>
        <a:xfrm>
          <a:off x="0" y="0"/>
          <a:ext cx="0" cy="0"/>
          <a:chOff x="0" y="0"/>
          <a:chExt cx="0" cy="0"/>
        </a:xfrm>
      </p:grpSpPr>
      <p:sp>
        <p:nvSpPr>
          <p:cNvPr id="478" name="Google Shape;478;p5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457200" rtl="0" algn="ctr">
              <a:spcBef>
                <a:spcPts val="0"/>
              </a:spcBef>
              <a:spcAft>
                <a:spcPts val="0"/>
              </a:spcAft>
              <a:buNone/>
            </a:pPr>
            <a:r>
              <a:rPr lang="es">
                <a:solidFill>
                  <a:schemeClr val="lt2"/>
                </a:solidFill>
                <a:latin typeface="EB Garamond SemiBold"/>
                <a:ea typeface="EB Garamond SemiBold"/>
                <a:cs typeface="EB Garamond SemiBold"/>
                <a:sym typeface="EB Garamond SemiBold"/>
              </a:rPr>
              <a:t>2.5. Tipos de gráficos y formas de visualización</a:t>
            </a:r>
            <a:endParaRPr>
              <a:solidFill>
                <a:schemeClr val="lt2"/>
              </a:solidFill>
              <a:latin typeface="EB Garamond SemiBold"/>
              <a:ea typeface="EB Garamond SemiBold"/>
              <a:cs typeface="EB Garamond SemiBold"/>
              <a:sym typeface="EB Garamond SemiBo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Tipos de gráficos según variables</a:t>
            </a:r>
            <a:endParaRPr b="1">
              <a:latin typeface="EB Garamond"/>
              <a:ea typeface="EB Garamond"/>
              <a:cs typeface="EB Garamond"/>
              <a:sym typeface="EB Garamond"/>
            </a:endParaRPr>
          </a:p>
          <a:p>
            <a:pPr indent="0" lvl="0" marL="0" rtl="0" algn="l">
              <a:spcBef>
                <a:spcPts val="0"/>
              </a:spcBef>
              <a:spcAft>
                <a:spcPts val="0"/>
              </a:spcAft>
              <a:buNone/>
            </a:pPr>
            <a:r>
              <a:t/>
            </a:r>
            <a:endParaRPr b="1">
              <a:latin typeface="EB Garamond"/>
              <a:ea typeface="EB Garamond"/>
              <a:cs typeface="EB Garamond"/>
              <a:sym typeface="EB Garamond"/>
            </a:endParaRPr>
          </a:p>
        </p:txBody>
      </p:sp>
      <p:graphicFrame>
        <p:nvGraphicFramePr>
          <p:cNvPr id="484" name="Google Shape;484;p60"/>
          <p:cNvGraphicFramePr/>
          <p:nvPr/>
        </p:nvGraphicFramePr>
        <p:xfrm>
          <a:off x="1278225" y="1724750"/>
          <a:ext cx="3000000" cy="3000000"/>
        </p:xfrm>
        <a:graphic>
          <a:graphicData uri="http://schemas.openxmlformats.org/drawingml/2006/table">
            <a:tbl>
              <a:tblPr>
                <a:noFill/>
                <a:tableStyleId>{2682F134-3321-401F-9E9D-DD9B7BCCC576}</a:tableStyleId>
              </a:tblPr>
              <a:tblGrid>
                <a:gridCol w="3289375"/>
                <a:gridCol w="2432350"/>
              </a:tblGrid>
              <a:tr h="381000">
                <a:tc>
                  <a:txBody>
                    <a:bodyPr/>
                    <a:lstStyle/>
                    <a:p>
                      <a:pPr indent="0" lvl="0" marL="0" rtl="0" algn="l">
                        <a:spcBef>
                          <a:spcPts val="0"/>
                        </a:spcBef>
                        <a:spcAft>
                          <a:spcPts val="0"/>
                        </a:spcAft>
                        <a:buNone/>
                      </a:pPr>
                      <a:r>
                        <a:rPr b="1" lang="es">
                          <a:latin typeface="EB Garamond"/>
                          <a:ea typeface="EB Garamond"/>
                          <a:cs typeface="EB Garamond"/>
                          <a:sym typeface="EB Garamond"/>
                        </a:rPr>
                        <a:t>Tipos de variables</a:t>
                      </a:r>
                      <a:endParaRPr b="1">
                        <a:latin typeface="EB Garamond"/>
                        <a:ea typeface="EB Garamond"/>
                        <a:cs typeface="EB Garamond"/>
                        <a:sym typeface="EB Garamond"/>
                      </a:endParaRPr>
                    </a:p>
                  </a:txBody>
                  <a:tcPr marT="91425" marB="91425" marR="91425" marL="91425">
                    <a:solidFill>
                      <a:srgbClr val="A2C4C9"/>
                    </a:solidFill>
                  </a:tcPr>
                </a:tc>
                <a:tc>
                  <a:txBody>
                    <a:bodyPr/>
                    <a:lstStyle/>
                    <a:p>
                      <a:pPr indent="0" lvl="0" marL="0" rtl="0" algn="l">
                        <a:spcBef>
                          <a:spcPts val="0"/>
                        </a:spcBef>
                        <a:spcAft>
                          <a:spcPts val="0"/>
                        </a:spcAft>
                        <a:buNone/>
                      </a:pPr>
                      <a:r>
                        <a:rPr b="1" lang="es">
                          <a:solidFill>
                            <a:schemeClr val="dk1"/>
                          </a:solidFill>
                          <a:latin typeface="EB Garamond"/>
                          <a:ea typeface="EB Garamond"/>
                          <a:cs typeface="EB Garamond"/>
                          <a:sym typeface="EB Garamond"/>
                        </a:rPr>
                        <a:t>Gráfico recomendado</a:t>
                      </a:r>
                      <a:endParaRPr b="1">
                        <a:latin typeface="EB Garamond"/>
                        <a:ea typeface="EB Garamond"/>
                        <a:cs typeface="EB Garamond"/>
                        <a:sym typeface="EB Garamond"/>
                      </a:endParaRPr>
                    </a:p>
                  </a:txBody>
                  <a:tcPr marT="91425" marB="91425" marR="91425" marL="91425">
                    <a:solidFill>
                      <a:srgbClr val="A2C4C9"/>
                    </a:solidFill>
                  </a:tcPr>
                </a:tc>
              </a:tr>
              <a:tr h="381000">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1 variable n</a:t>
                      </a:r>
                      <a:r>
                        <a:rPr lang="es">
                          <a:solidFill>
                            <a:schemeClr val="dk1"/>
                          </a:solidFill>
                          <a:latin typeface="EB Garamond"/>
                          <a:ea typeface="EB Garamond"/>
                          <a:cs typeface="EB Garamond"/>
                          <a:sym typeface="EB Garamond"/>
                        </a:rPr>
                        <a:t>ominal u ordinal</a:t>
                      </a:r>
                      <a:endParaRPr>
                        <a:latin typeface="EB Garamond"/>
                        <a:ea typeface="EB Garamond"/>
                        <a:cs typeface="EB Garamond"/>
                        <a:sym typeface="EB Garamond"/>
                      </a:endParaRPr>
                    </a:p>
                  </a:txBody>
                  <a:tcPr marT="91425" marB="91425" marR="91425" marL="91425"/>
                </a:tc>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Barras</a:t>
                      </a:r>
                      <a:endParaRPr>
                        <a:latin typeface="EB Garamond"/>
                        <a:ea typeface="EB Garamond"/>
                        <a:cs typeface="EB Garamond"/>
                        <a:sym typeface="EB Garamond"/>
                      </a:endParaRPr>
                    </a:p>
                  </a:txBody>
                  <a:tcPr marT="91425" marB="91425" marR="91425" marL="91425"/>
                </a:tc>
              </a:tr>
              <a:tr h="381000">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1 variable intervalar o de razón</a:t>
                      </a:r>
                      <a:endParaRPr>
                        <a:latin typeface="EB Garamond"/>
                        <a:ea typeface="EB Garamond"/>
                        <a:cs typeface="EB Garamond"/>
                        <a:sym typeface="EB Garamond"/>
                      </a:endParaRPr>
                    </a:p>
                  </a:txBody>
                  <a:tcPr marT="91425" marB="91425" marR="91425" marL="91425"/>
                </a:tc>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Histograma, boxplot</a:t>
                      </a:r>
                      <a:endParaRPr>
                        <a:latin typeface="EB Garamond"/>
                        <a:ea typeface="EB Garamond"/>
                        <a:cs typeface="EB Garamond"/>
                        <a:sym typeface="EB Garamond"/>
                      </a:endParaRPr>
                    </a:p>
                  </a:txBody>
                  <a:tcPr marT="91425" marB="91425" marR="91425" marL="91425"/>
                </a:tc>
              </a:tr>
              <a:tr h="419550">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2 variables categóricas</a:t>
                      </a:r>
                      <a:endParaRPr>
                        <a:solidFill>
                          <a:schemeClr val="dk1"/>
                        </a:solidFill>
                        <a:latin typeface="EB Garamond"/>
                        <a:ea typeface="EB Garamond"/>
                        <a:cs typeface="EB Garamond"/>
                        <a:sym typeface="EB Garamond"/>
                      </a:endParaRPr>
                    </a:p>
                  </a:txBody>
                  <a:tcPr marT="91425" marB="91425" marR="91425" marL="91425"/>
                </a:tc>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Barras agrupadas o apiladas</a:t>
                      </a:r>
                      <a:endParaRPr>
                        <a:solidFill>
                          <a:schemeClr val="dk1"/>
                        </a:solidFill>
                        <a:latin typeface="EB Garamond"/>
                        <a:ea typeface="EB Garamond"/>
                        <a:cs typeface="EB Garamond"/>
                        <a:sym typeface="EB Garamond"/>
                      </a:endParaRPr>
                    </a:p>
                  </a:txBody>
                  <a:tcPr marT="91425" marB="91425" marR="91425" marL="91425"/>
                </a:tc>
              </a:tr>
              <a:tr h="381000">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1 categórica y 1 numérica</a:t>
                      </a:r>
                      <a:endParaRPr>
                        <a:solidFill>
                          <a:schemeClr val="dk1"/>
                        </a:solidFill>
                        <a:latin typeface="EB Garamond"/>
                        <a:ea typeface="EB Garamond"/>
                        <a:cs typeface="EB Garamond"/>
                        <a:sym typeface="EB Garamond"/>
                      </a:endParaRPr>
                    </a:p>
                  </a:txBody>
                  <a:tcPr marT="91425" marB="91425" marR="91425" marL="91425"/>
                </a:tc>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Boxplot por grupo</a:t>
                      </a:r>
                      <a:endParaRPr>
                        <a:solidFill>
                          <a:schemeClr val="dk1"/>
                        </a:solidFill>
                        <a:latin typeface="EB Garamond"/>
                        <a:ea typeface="EB Garamond"/>
                        <a:cs typeface="EB Garamond"/>
                        <a:sym typeface="EB Garamond"/>
                      </a:endParaRPr>
                    </a:p>
                  </a:txBody>
                  <a:tcPr marT="91425" marB="91425" marR="91425" marL="91425"/>
                </a:tc>
              </a:tr>
              <a:tr h="381000">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2 variables numéricas</a:t>
                      </a:r>
                      <a:endParaRPr>
                        <a:solidFill>
                          <a:schemeClr val="dk1"/>
                        </a:solidFill>
                        <a:latin typeface="EB Garamond"/>
                        <a:ea typeface="EB Garamond"/>
                        <a:cs typeface="EB Garamond"/>
                        <a:sym typeface="EB Garamond"/>
                      </a:endParaRPr>
                    </a:p>
                  </a:txBody>
                  <a:tcPr marT="91425" marB="91425" marR="91425" marL="91425"/>
                </a:tc>
                <a:tc>
                  <a:txBody>
                    <a:bodyPr/>
                    <a:lstStyle/>
                    <a:p>
                      <a:pPr indent="0" lvl="0" marL="0" rtl="0" algn="l">
                        <a:spcBef>
                          <a:spcPts val="0"/>
                        </a:spcBef>
                        <a:spcAft>
                          <a:spcPts val="0"/>
                        </a:spcAft>
                        <a:buNone/>
                      </a:pPr>
                      <a:r>
                        <a:rPr lang="es">
                          <a:solidFill>
                            <a:schemeClr val="dk1"/>
                          </a:solidFill>
                          <a:latin typeface="EB Garamond"/>
                          <a:ea typeface="EB Garamond"/>
                          <a:cs typeface="EB Garamond"/>
                          <a:sym typeface="EB Garamond"/>
                        </a:rPr>
                        <a:t>Dispersión</a:t>
                      </a:r>
                      <a:endParaRPr>
                        <a:solidFill>
                          <a:schemeClr val="dk1"/>
                        </a:solidFill>
                        <a:latin typeface="EB Garamond"/>
                        <a:ea typeface="EB Garamond"/>
                        <a:cs typeface="EB Garamond"/>
                        <a:sym typeface="EB Garamond"/>
                      </a:endParaRPr>
                    </a:p>
                  </a:txBody>
                  <a:tcPr marT="91425" marB="91425" marR="91425" marL="91425"/>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Síntesis</a:t>
            </a:r>
            <a:endParaRPr b="1">
              <a:latin typeface="EB Garamond"/>
              <a:ea typeface="EB Garamond"/>
              <a:cs typeface="EB Garamond"/>
              <a:sym typeface="EB Garamond"/>
            </a:endParaRPr>
          </a:p>
          <a:p>
            <a:pPr indent="0" lvl="0" marL="0" rtl="0" algn="l">
              <a:spcBef>
                <a:spcPts val="0"/>
              </a:spcBef>
              <a:spcAft>
                <a:spcPts val="0"/>
              </a:spcAft>
              <a:buNone/>
            </a:pPr>
            <a:r>
              <a:t/>
            </a:r>
            <a:endParaRPr b="1">
              <a:latin typeface="EB Garamond"/>
              <a:ea typeface="EB Garamond"/>
              <a:cs typeface="EB Garamond"/>
              <a:sym typeface="EB Garamond"/>
            </a:endParaRPr>
          </a:p>
        </p:txBody>
      </p:sp>
      <p:sp>
        <p:nvSpPr>
          <p:cNvPr id="490" name="Google Shape;490;p61"/>
          <p:cNvSpPr txBox="1"/>
          <p:nvPr>
            <p:ph idx="1" type="body"/>
          </p:nvPr>
        </p:nvSpPr>
        <p:spPr>
          <a:xfrm>
            <a:off x="311700" y="1152475"/>
            <a:ext cx="8452200" cy="356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a:solidFill>
                <a:schemeClr val="dk1"/>
              </a:solidFill>
              <a:latin typeface="EB Garamond ExtraBold"/>
              <a:ea typeface="EB Garamond ExtraBold"/>
              <a:cs typeface="EB Garamond ExtraBold"/>
              <a:sym typeface="EB Garamond ExtraBol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La distribución es el punto de partida de todo análisis</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El tipo de variable define las herramientas que se puede utilizar</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Univariado = describir</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Bivariado = comparar/relacionar</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La visualización no es decoración, es análisis</a:t>
            </a:r>
            <a:endParaRPr>
              <a:solidFill>
                <a:schemeClr val="dk1"/>
              </a:solidFill>
              <a:latin typeface="EB Garamond"/>
              <a:ea typeface="EB Garamond"/>
              <a:cs typeface="EB Garamond"/>
              <a:sym typeface="EB Garamon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Próxima clase</a:t>
            </a:r>
            <a:endParaRPr b="1">
              <a:latin typeface="EB Garamond"/>
              <a:ea typeface="EB Garamond"/>
              <a:cs typeface="EB Garamond"/>
              <a:sym typeface="EB Garamond"/>
            </a:endParaRPr>
          </a:p>
          <a:p>
            <a:pPr indent="0" lvl="0" marL="0" rtl="0" algn="l">
              <a:spcBef>
                <a:spcPts val="0"/>
              </a:spcBef>
              <a:spcAft>
                <a:spcPts val="0"/>
              </a:spcAft>
              <a:buNone/>
            </a:pPr>
            <a:r>
              <a:t/>
            </a:r>
            <a:endParaRPr b="1">
              <a:latin typeface="EB Garamond"/>
              <a:ea typeface="EB Garamond"/>
              <a:cs typeface="EB Garamond"/>
              <a:sym typeface="EB Garamond"/>
            </a:endParaRPr>
          </a:p>
        </p:txBody>
      </p:sp>
      <p:sp>
        <p:nvSpPr>
          <p:cNvPr id="496" name="Google Shape;496;p62"/>
          <p:cNvSpPr txBox="1"/>
          <p:nvPr>
            <p:ph idx="1" type="body"/>
          </p:nvPr>
        </p:nvSpPr>
        <p:spPr>
          <a:xfrm>
            <a:off x="311700" y="1152475"/>
            <a:ext cx="8452200" cy="356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a:solidFill>
                <a:schemeClr val="dk1"/>
              </a:solidFill>
              <a:latin typeface="EB Garamond ExtraBold"/>
              <a:ea typeface="EB Garamond ExtraBold"/>
              <a:cs typeface="EB Garamond ExtraBold"/>
              <a:sym typeface="EB Garamond ExtraBol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Se profundiza en medidas de tendencia central, dispersión y posición</a:t>
            </a:r>
            <a:endParaRPr>
              <a:solidFill>
                <a:schemeClr val="dk1"/>
              </a:solidFill>
              <a:latin typeface="EB Garamond"/>
              <a:ea typeface="EB Garamond"/>
              <a:cs typeface="EB Garamond"/>
              <a:sym typeface="EB Garamond"/>
            </a:endParaRPr>
          </a:p>
          <a:p>
            <a:pPr indent="-342900" lvl="0" marL="457200" rtl="0" algn="just">
              <a:spcBef>
                <a:spcPts val="0"/>
              </a:spcBef>
              <a:spcAft>
                <a:spcPts val="0"/>
              </a:spcAft>
              <a:buClr>
                <a:schemeClr val="dk1"/>
              </a:buClr>
              <a:buSzPts val="1800"/>
              <a:buFont typeface="EB Garamond"/>
              <a:buChar char="●"/>
            </a:pPr>
            <a:r>
              <a:rPr lang="es">
                <a:solidFill>
                  <a:schemeClr val="dk1"/>
                </a:solidFill>
                <a:latin typeface="EB Garamond"/>
                <a:ea typeface="EB Garamond"/>
                <a:cs typeface="EB Garamond"/>
                <a:sym typeface="EB Garamond"/>
              </a:rPr>
              <a:t>Leer: Ritchey caps. 3, 4 y 5; Agresti cap. 2</a:t>
            </a:r>
            <a:endParaRPr>
              <a:solidFill>
                <a:schemeClr val="dk1"/>
              </a:solidFill>
              <a:latin typeface="EB Garamond"/>
              <a:ea typeface="EB Garamond"/>
              <a:cs typeface="EB Garamond"/>
              <a:sym typeface="EB Garamond"/>
            </a:endParaRPr>
          </a:p>
          <a:p>
            <a:pPr indent="0" lvl="0" marL="0" rtl="0" algn="just">
              <a:spcBef>
                <a:spcPts val="0"/>
              </a:spcBef>
              <a:spcAft>
                <a:spcPts val="0"/>
              </a:spcAft>
              <a:buNone/>
            </a:pPr>
            <a:r>
              <a:t/>
            </a:r>
            <a:endParaRPr>
              <a:solidFill>
                <a:schemeClr val="dk1"/>
              </a:solidFill>
              <a:latin typeface="EB Garamond"/>
              <a:ea typeface="EB Garamond"/>
              <a:cs typeface="EB Garamond"/>
              <a:sym typeface="EB Garamon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6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sz="3000">
                <a:latin typeface="EB Garamond"/>
                <a:ea typeface="EB Garamond"/>
                <a:cs typeface="EB Garamond"/>
                <a:sym typeface="EB Garamond"/>
              </a:rPr>
              <a:t>PROCESAMIENTO Y </a:t>
            </a:r>
            <a:endParaRPr sz="3000">
              <a:latin typeface="EB Garamond"/>
              <a:ea typeface="EB Garamond"/>
              <a:cs typeface="EB Garamond"/>
              <a:sym typeface="EB Garamond"/>
            </a:endParaRPr>
          </a:p>
          <a:p>
            <a:pPr indent="0" lvl="0" marL="0" rtl="0" algn="ctr">
              <a:spcBef>
                <a:spcPts val="0"/>
              </a:spcBef>
              <a:spcAft>
                <a:spcPts val="0"/>
              </a:spcAft>
              <a:buNone/>
            </a:pPr>
            <a:r>
              <a:rPr lang="es" sz="3000">
                <a:latin typeface="EB Garamond"/>
                <a:ea typeface="EB Garamond"/>
                <a:cs typeface="EB Garamond"/>
                <a:sym typeface="EB Garamond"/>
              </a:rPr>
              <a:t>VISUALIZACIÓN DE DATOS EN R</a:t>
            </a:r>
            <a:endParaRPr sz="3000">
              <a:latin typeface="EB Garamond"/>
              <a:ea typeface="EB Garamond"/>
              <a:cs typeface="EB Garamond"/>
              <a:sym typeface="EB Garamond"/>
            </a:endParaRPr>
          </a:p>
        </p:txBody>
      </p:sp>
      <p:sp>
        <p:nvSpPr>
          <p:cNvPr id="502" name="Google Shape;502;p6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sz="2400">
                <a:latin typeface="EB Garamond"/>
                <a:ea typeface="EB Garamond"/>
                <a:cs typeface="EB Garamond"/>
                <a:sym typeface="EB Garamond"/>
              </a:rPr>
              <a:t>Clase 03 | Unidad 2. Introducción a la Estadística</a:t>
            </a:r>
            <a:endParaRPr sz="2400">
              <a:latin typeface="EB Garamond"/>
              <a:ea typeface="EB Garamond"/>
              <a:cs typeface="EB Garamond"/>
              <a:sym typeface="EB Garamond"/>
            </a:endParaRPr>
          </a:p>
        </p:txBody>
      </p:sp>
      <p:sp>
        <p:nvSpPr>
          <p:cNvPr id="503" name="Google Shape;503;p63"/>
          <p:cNvSpPr txBox="1"/>
          <p:nvPr>
            <p:ph idx="1" type="subTitle"/>
          </p:nvPr>
        </p:nvSpPr>
        <p:spPr>
          <a:xfrm>
            <a:off x="311700" y="384875"/>
            <a:ext cx="8520600" cy="7926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lang="es" sz="1400">
                <a:solidFill>
                  <a:schemeClr val="dk2"/>
                </a:solidFill>
                <a:latin typeface="EB Garamond"/>
                <a:ea typeface="EB Garamond"/>
                <a:cs typeface="EB Garamond"/>
                <a:sym typeface="EB Garamond"/>
              </a:rPr>
              <a:t>Universidad </a:t>
            </a:r>
            <a:r>
              <a:rPr lang="es" sz="1400">
                <a:latin typeface="EB Garamond"/>
                <a:ea typeface="EB Garamond"/>
                <a:cs typeface="EB Garamond"/>
                <a:sym typeface="EB Garamond"/>
              </a:rPr>
              <a:t>Diego Portales</a:t>
            </a:r>
            <a:endParaRPr sz="1400">
              <a:latin typeface="EB Garamond"/>
              <a:ea typeface="EB Garamond"/>
              <a:cs typeface="EB Garamond"/>
              <a:sym typeface="EB Garamond"/>
            </a:endParaRPr>
          </a:p>
          <a:p>
            <a:pPr indent="0" lvl="0" marL="0" rtl="0" algn="l">
              <a:lnSpc>
                <a:spcPct val="80000"/>
              </a:lnSpc>
              <a:spcBef>
                <a:spcPts val="0"/>
              </a:spcBef>
              <a:spcAft>
                <a:spcPts val="0"/>
              </a:spcAft>
              <a:buNone/>
            </a:pPr>
            <a:r>
              <a:rPr lang="es" sz="1400">
                <a:latin typeface="EB Garamond"/>
                <a:ea typeface="EB Garamond"/>
                <a:cs typeface="EB Garamond"/>
                <a:sym typeface="EB Garamond"/>
              </a:rPr>
              <a:t>Facultad de Ciencias Sociales e Historia</a:t>
            </a:r>
            <a:endParaRPr sz="1400">
              <a:latin typeface="EB Garamond"/>
              <a:ea typeface="EB Garamond"/>
              <a:cs typeface="EB Garamond"/>
              <a:sym typeface="EB Garamond"/>
            </a:endParaRPr>
          </a:p>
          <a:p>
            <a:pPr indent="0" lvl="0" marL="0" rtl="0" algn="l">
              <a:lnSpc>
                <a:spcPct val="80000"/>
              </a:lnSpc>
              <a:spcBef>
                <a:spcPts val="0"/>
              </a:spcBef>
              <a:spcAft>
                <a:spcPts val="0"/>
              </a:spcAft>
              <a:buClr>
                <a:schemeClr val="dk1"/>
              </a:buClr>
              <a:buSzPts val="1100"/>
              <a:buFont typeface="Arial"/>
              <a:buNone/>
            </a:pPr>
            <a:r>
              <a:rPr lang="es" sz="1400">
                <a:latin typeface="EB Garamond"/>
                <a:ea typeface="EB Garamond"/>
                <a:cs typeface="EB Garamond"/>
                <a:sym typeface="EB Garamond"/>
              </a:rPr>
              <a:t>Magíster en Métodos para la Investigación Social</a:t>
            </a:r>
            <a:endParaRPr sz="1400">
              <a:latin typeface="EB Garamond"/>
              <a:ea typeface="EB Garamond"/>
              <a:cs typeface="EB Garamond"/>
              <a:sym typeface="EB Garamond"/>
            </a:endParaRPr>
          </a:p>
        </p:txBody>
      </p:sp>
      <p:sp>
        <p:nvSpPr>
          <p:cNvPr id="504" name="Google Shape;504;p63"/>
          <p:cNvSpPr txBox="1"/>
          <p:nvPr>
            <p:ph idx="1" type="subTitle"/>
          </p:nvPr>
        </p:nvSpPr>
        <p:spPr>
          <a:xfrm>
            <a:off x="311700" y="4033150"/>
            <a:ext cx="8520600" cy="792600"/>
          </a:xfrm>
          <a:prstGeom prst="rect">
            <a:avLst/>
          </a:prstGeom>
        </p:spPr>
        <p:txBody>
          <a:bodyPr anchorCtr="0" anchor="t" bIns="91425" lIns="91425" spcFirstLastPara="1" rIns="91425" wrap="square" tIns="91425">
            <a:normAutofit/>
          </a:bodyPr>
          <a:lstStyle/>
          <a:p>
            <a:pPr indent="0" lvl="0" marL="0" rtl="0" algn="r">
              <a:lnSpc>
                <a:spcPct val="80000"/>
              </a:lnSpc>
              <a:spcBef>
                <a:spcPts val="0"/>
              </a:spcBef>
              <a:spcAft>
                <a:spcPts val="0"/>
              </a:spcAft>
              <a:buSzPts val="1018"/>
              <a:buNone/>
            </a:pPr>
            <a:r>
              <a:rPr lang="es" sz="1405">
                <a:solidFill>
                  <a:schemeClr val="dk2"/>
                </a:solidFill>
                <a:latin typeface="EB Garamond"/>
                <a:ea typeface="EB Garamond"/>
                <a:cs typeface="EB Garamond"/>
                <a:sym typeface="EB Garamond"/>
              </a:rPr>
              <a:t>Profesora: Daniela Olivares Collío</a:t>
            </a:r>
            <a:endParaRPr sz="1405">
              <a:solidFill>
                <a:schemeClr val="dk2"/>
              </a:solidFill>
              <a:latin typeface="EB Garamond"/>
              <a:ea typeface="EB Garamond"/>
              <a:cs typeface="EB Garamond"/>
              <a:sym typeface="EB Garamond"/>
            </a:endParaRPr>
          </a:p>
          <a:p>
            <a:pPr indent="0" lvl="0" marL="0" rtl="0" algn="r">
              <a:lnSpc>
                <a:spcPct val="80000"/>
              </a:lnSpc>
              <a:spcBef>
                <a:spcPts val="0"/>
              </a:spcBef>
              <a:spcAft>
                <a:spcPts val="0"/>
              </a:spcAft>
              <a:buSzPts val="1018"/>
              <a:buNone/>
            </a:pPr>
            <a:r>
              <a:rPr lang="es" sz="1405">
                <a:solidFill>
                  <a:schemeClr val="dk2"/>
                </a:solidFill>
                <a:latin typeface="EB Garamond"/>
                <a:ea typeface="EB Garamond"/>
                <a:cs typeface="EB Garamond"/>
                <a:sym typeface="EB Garamond"/>
              </a:rPr>
              <a:t>Ayudante: Katherine Aravena Herrera</a:t>
            </a:r>
            <a:endParaRPr sz="1405">
              <a:solidFill>
                <a:schemeClr val="dk2"/>
              </a:solidFill>
              <a:latin typeface="EB Garamond"/>
              <a:ea typeface="EB Garamond"/>
              <a:cs typeface="EB Garamond"/>
              <a:sym typeface="EB Garamond"/>
            </a:endParaRPr>
          </a:p>
          <a:p>
            <a:pPr indent="0" lvl="0" marL="0" rtl="0" algn="r">
              <a:lnSpc>
                <a:spcPct val="80000"/>
              </a:lnSpc>
              <a:spcBef>
                <a:spcPts val="0"/>
              </a:spcBef>
              <a:spcAft>
                <a:spcPts val="0"/>
              </a:spcAft>
              <a:buSzPts val="1018"/>
              <a:buNone/>
            </a:pPr>
            <a:r>
              <a:rPr lang="es" sz="1405">
                <a:solidFill>
                  <a:schemeClr val="dk2"/>
                </a:solidFill>
                <a:latin typeface="EB Garamond"/>
                <a:ea typeface="EB Garamond"/>
                <a:cs typeface="EB Garamond"/>
                <a:sym typeface="EB Garamond"/>
              </a:rPr>
              <a:t>1er semestre 2026</a:t>
            </a:r>
            <a:endParaRPr sz="1405">
              <a:solidFill>
                <a:schemeClr val="dk2"/>
              </a:solidFill>
              <a:latin typeface="EB Garamond"/>
              <a:ea typeface="EB Garamond"/>
              <a:cs typeface="EB Garamond"/>
              <a:sym typeface="EB Garamond"/>
            </a:endParaRPr>
          </a:p>
        </p:txBody>
      </p:sp>
      <p:pic>
        <p:nvPicPr>
          <p:cNvPr id="505" name="Google Shape;505;p63" title="Logo_Universidad_Diego_Portales.png"/>
          <p:cNvPicPr preferRelativeResize="0"/>
          <p:nvPr/>
        </p:nvPicPr>
        <p:blipFill>
          <a:blip r:embed="rId3">
            <a:alphaModFix/>
          </a:blip>
          <a:stretch>
            <a:fillRect/>
          </a:stretch>
        </p:blipFill>
        <p:spPr>
          <a:xfrm>
            <a:off x="5889675" y="384875"/>
            <a:ext cx="2942624" cy="716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