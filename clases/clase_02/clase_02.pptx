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59" r:id="rId1"/>
  </p:sldMasterIdLst>
  <p:notesMasterIdLst>
    <p:notesMasterId r:id="rId3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embeddedFontLst>
    <p:embeddedFont>
      <p:font typeface="EB Garamond" pitchFamily="2" charset="0"/>
      <p:regular r:id="rId34"/>
      <p:bold r:id="rId35"/>
      <p:italic r:id="rId36"/>
      <p:boldItalic r:id="rId3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56CF66F-1F46-4ACB-8706-68A7E53BE109}">
  <a:tblStyle styleId="{C56CF66F-1F46-4ACB-8706-68A7E53BE109}"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3" d="100"/>
          <a:sy n="103" d="100"/>
        </p:scale>
        <p:origin x="874" y="77"/>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font" Target="fonts/font1.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4.fntdata"/><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3.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2.fnt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g37b2820121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37b2820121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37c2ec762c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 name="Google Shape;61;g37c2ec762c2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g2be0ec9c984_0_4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 name="Google Shape;67;g2be0ec9c984_0_4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
        <p:cNvGrpSpPr/>
        <p:nvPr/>
      </p:nvGrpSpPr>
      <p:grpSpPr>
        <a:xfrm>
          <a:off x="0" y="0"/>
          <a:ext cx="0" cy="0"/>
          <a:chOff x="0" y="0"/>
          <a:chExt cx="0" cy="0"/>
        </a:xfrm>
      </p:grpSpPr>
      <p:sp>
        <p:nvSpPr>
          <p:cNvPr id="74" name="Google Shape;74;g2be0ec9c984_0_54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 name="Google Shape;75;g2be0ec9c984_0_5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2c811221d5c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2c811221d5c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g2c811221d5c_0_3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 name="Google Shape;96;g2c811221d5c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2c811221d5c_0_7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g2c811221d5c_0_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
        <p:cNvGrpSpPr/>
        <p:nvPr/>
      </p:nvGrpSpPr>
      <p:grpSpPr>
        <a:xfrm>
          <a:off x="0" y="0"/>
          <a:ext cx="0" cy="0"/>
          <a:chOff x="0" y="0"/>
          <a:chExt cx="0" cy="0"/>
        </a:xfrm>
      </p:grpSpPr>
      <p:sp>
        <p:nvSpPr>
          <p:cNvPr id="153" name="Google Shape;153;g37c2ec762c2_0_5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4" name="Google Shape;154;g37c2ec762c2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g37c2ec762c2_0_9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0" name="Google Shape;160;g37c2ec762c2_0_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
        <p:cNvGrpSpPr/>
        <p:nvPr/>
      </p:nvGrpSpPr>
      <p:grpSpPr>
        <a:xfrm>
          <a:off x="0" y="0"/>
          <a:ext cx="0" cy="0"/>
          <a:chOff x="0" y="0"/>
          <a:chExt cx="0" cy="0"/>
        </a:xfrm>
      </p:grpSpPr>
      <p:sp>
        <p:nvSpPr>
          <p:cNvPr id="166" name="Google Shape;166;g37c2ec762c2_0_9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7" name="Google Shape;167;g37c2ec762c2_0_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
        <p:cNvGrpSpPr/>
        <p:nvPr/>
      </p:nvGrpSpPr>
      <p:grpSpPr>
        <a:xfrm>
          <a:off x="0" y="0"/>
          <a:ext cx="0" cy="0"/>
          <a:chOff x="0" y="0"/>
          <a:chExt cx="0" cy="0"/>
        </a:xfrm>
      </p:grpSpPr>
      <p:sp>
        <p:nvSpPr>
          <p:cNvPr id="173" name="Google Shape;173;g37c2ec762c2_0_7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4" name="Google Shape;174;g37c2ec762c2_0_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
        <p:cNvGrpSpPr/>
        <p:nvPr/>
      </p:nvGrpSpPr>
      <p:grpSpPr>
        <a:xfrm>
          <a:off x="0" y="0"/>
          <a:ext cx="0" cy="0"/>
          <a:chOff x="0" y="0"/>
          <a:chExt cx="0" cy="0"/>
        </a:xfrm>
      </p:grpSpPr>
      <p:sp>
        <p:nvSpPr>
          <p:cNvPr id="179" name="Google Shape;179;g37c2ec762c2_0_7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0" name="Google Shape;180;g37c2ec762c2_0_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g37c2ec762c2_0_8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6" name="Google Shape;186;g37c2ec762c2_0_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g37c2ec762c2_0_10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2" name="Google Shape;192;g37c2ec762c2_0_1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p:cNvGrpSpPr/>
        <p:nvPr/>
      </p:nvGrpSpPr>
      <p:grpSpPr>
        <a:xfrm>
          <a:off x="0" y="0"/>
          <a:ext cx="0" cy="0"/>
          <a:chOff x="0" y="0"/>
          <a:chExt cx="0" cy="0"/>
        </a:xfrm>
      </p:grpSpPr>
      <p:sp>
        <p:nvSpPr>
          <p:cNvPr id="198" name="Google Shape;198;g37c2ec762c2_0_11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9" name="Google Shape;199;g37c2ec762c2_0_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
        <p:cNvGrpSpPr/>
        <p:nvPr/>
      </p:nvGrpSpPr>
      <p:grpSpPr>
        <a:xfrm>
          <a:off x="0" y="0"/>
          <a:ext cx="0" cy="0"/>
          <a:chOff x="0" y="0"/>
          <a:chExt cx="0" cy="0"/>
        </a:xfrm>
      </p:grpSpPr>
      <p:sp>
        <p:nvSpPr>
          <p:cNvPr id="205" name="Google Shape;205;g37c2ec762c2_0_12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6" name="Google Shape;206;g37c2ec762c2_0_1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5"/>
        <p:cNvGrpSpPr/>
        <p:nvPr/>
      </p:nvGrpSpPr>
      <p:grpSpPr>
        <a:xfrm>
          <a:off x="0" y="0"/>
          <a:ext cx="0" cy="0"/>
          <a:chOff x="0" y="0"/>
          <a:chExt cx="0" cy="0"/>
        </a:xfrm>
      </p:grpSpPr>
      <p:sp>
        <p:nvSpPr>
          <p:cNvPr id="226" name="Google Shape;226;g37c2ec762c2_0_14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7" name="Google Shape;227;g37c2ec762c2_0_1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p:cNvGrpSpPr/>
        <p:nvPr/>
      </p:nvGrpSpPr>
      <p:grpSpPr>
        <a:xfrm>
          <a:off x="0" y="0"/>
          <a:ext cx="0" cy="0"/>
          <a:chOff x="0" y="0"/>
          <a:chExt cx="0" cy="0"/>
        </a:xfrm>
      </p:grpSpPr>
      <p:sp>
        <p:nvSpPr>
          <p:cNvPr id="259" name="Google Shape;259;g37c2ec762c2_0_17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0" name="Google Shape;260;g37c2ec762c2_0_1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2"/>
        <p:cNvGrpSpPr/>
        <p:nvPr/>
      </p:nvGrpSpPr>
      <p:grpSpPr>
        <a:xfrm>
          <a:off x="0" y="0"/>
          <a:ext cx="0" cy="0"/>
          <a:chOff x="0" y="0"/>
          <a:chExt cx="0" cy="0"/>
        </a:xfrm>
      </p:grpSpPr>
      <p:sp>
        <p:nvSpPr>
          <p:cNvPr id="303" name="Google Shape;303;g37c2ec762c2_0_2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4" name="Google Shape;304;g37c2ec762c2_0_2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0"/>
        <p:cNvGrpSpPr/>
        <p:nvPr/>
      </p:nvGrpSpPr>
      <p:grpSpPr>
        <a:xfrm>
          <a:off x="0" y="0"/>
          <a:ext cx="0" cy="0"/>
          <a:chOff x="0" y="0"/>
          <a:chExt cx="0" cy="0"/>
        </a:xfrm>
      </p:grpSpPr>
      <p:sp>
        <p:nvSpPr>
          <p:cNvPr id="311" name="Google Shape;311;g37c2ec762c2_0_2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2" name="Google Shape;312;g37c2ec762c2_0_2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g37c2ec762c2_0_22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37c2ec762c2_0_2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37c2ec762c2_0_23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7" name="Google Shape;327;g37c2ec762c2_0_2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2"/>
        <p:cNvGrpSpPr/>
        <p:nvPr/>
      </p:nvGrpSpPr>
      <p:grpSpPr>
        <a:xfrm>
          <a:off x="0" y="0"/>
          <a:ext cx="0" cy="0"/>
          <a:chOff x="0" y="0"/>
          <a:chExt cx="0" cy="0"/>
        </a:xfrm>
      </p:grpSpPr>
      <p:sp>
        <p:nvSpPr>
          <p:cNvPr id="333" name="Google Shape;333;g37c2ec762c2_0_24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4" name="Google Shape;334;g37c2ec762c2_0_2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g37c2ec762c2_0_24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2" name="Google Shape;342;g37c2ec762c2_0_2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7"/>
        <p:cNvGrpSpPr/>
        <p:nvPr/>
      </p:nvGrpSpPr>
      <p:grpSpPr>
        <a:xfrm>
          <a:off x="0" y="0"/>
          <a:ext cx="0" cy="0"/>
          <a:chOff x="0" y="0"/>
          <a:chExt cx="0" cy="0"/>
        </a:xfrm>
      </p:grpSpPr>
      <p:sp>
        <p:nvSpPr>
          <p:cNvPr id="348" name="Google Shape;348;g37c2ec762c2_0_2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9" name="Google Shape;349;g37c2ec762c2_0_2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5"/>
        <p:cNvGrpSpPr/>
        <p:nvPr/>
      </p:nvGrpSpPr>
      <p:grpSpPr>
        <a:xfrm>
          <a:off x="0" y="0"/>
          <a:ext cx="0" cy="0"/>
          <a:chOff x="0" y="0"/>
          <a:chExt cx="0" cy="0"/>
        </a:xfrm>
      </p:grpSpPr>
      <p:sp>
        <p:nvSpPr>
          <p:cNvPr id="356" name="Google Shape;356;g37c2ec762c2_0_2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7" name="Google Shape;357;g37c2ec762c2_0_2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p:cNvGrpSpPr/>
        <p:nvPr/>
      </p:nvGrpSpPr>
      <p:grpSpPr>
        <a:xfrm>
          <a:off x="0" y="0"/>
          <a:ext cx="0" cy="0"/>
          <a:chOff x="0" y="0"/>
          <a:chExt cx="0" cy="0"/>
        </a:xfrm>
      </p:grpSpPr>
      <p:sp>
        <p:nvSpPr>
          <p:cNvPr id="370" name="Google Shape;370;g37c2ec762c2_0_2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1" name="Google Shape;371;g37c2ec762c2_0_2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6"/>
        <p:cNvGrpSpPr/>
        <p:nvPr/>
      </p:nvGrpSpPr>
      <p:grpSpPr>
        <a:xfrm>
          <a:off x="0" y="0"/>
          <a:ext cx="0" cy="0"/>
          <a:chOff x="0" y="0"/>
          <a:chExt cx="0" cy="0"/>
        </a:xfrm>
      </p:grpSpPr>
      <p:sp>
        <p:nvSpPr>
          <p:cNvPr id="377" name="Google Shape;377;g37c2ec762c2_0_28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8" name="Google Shape;378;g37c2ec762c2_0_2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2"/>
        <p:cNvGrpSpPr/>
        <p:nvPr/>
      </p:nvGrpSpPr>
      <p:grpSpPr>
        <a:xfrm>
          <a:off x="0" y="0"/>
          <a:ext cx="0" cy="0"/>
          <a:chOff x="0" y="0"/>
          <a:chExt cx="0" cy="0"/>
        </a:xfrm>
      </p:grpSpPr>
      <p:sp>
        <p:nvSpPr>
          <p:cNvPr id="383" name="Google Shape;383;g37c2ec762c2_0_28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4" name="Google Shape;384;g37c2ec762c2_0_2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37c2ec762c2_0_29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37c2ec762c2_0_2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6"/>
        <p:cNvGrpSpPr/>
        <p:nvPr/>
      </p:nvGrpSpPr>
      <p:grpSpPr>
        <a:xfrm>
          <a:off x="0" y="0"/>
          <a:ext cx="0" cy="0"/>
          <a:chOff x="0" y="0"/>
          <a:chExt cx="0" cy="0"/>
        </a:xfrm>
      </p:grpSpPr>
      <p:sp>
        <p:nvSpPr>
          <p:cNvPr id="397" name="Google Shape;397;g37b28201211_0_5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8" name="Google Shape;398;g37b28201211_0_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s"/>
              <a:t>‹Nº›</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mailto:daniela.olivares2@mail.udp.cl"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r>
              <a:rPr lang="es">
                <a:latin typeface="EB Garamond"/>
                <a:ea typeface="EB Garamond"/>
                <a:cs typeface="EB Garamond"/>
                <a:sym typeface="EB Garamond"/>
              </a:rPr>
              <a:t>Métodos Cuantitativos</a:t>
            </a:r>
            <a:endParaRPr>
              <a:latin typeface="EB Garamond"/>
              <a:ea typeface="EB Garamond"/>
              <a:cs typeface="EB Garamond"/>
              <a:sym typeface="EB Garamond"/>
            </a:endParaRPr>
          </a:p>
        </p:txBody>
      </p:sp>
      <p:sp>
        <p:nvSpPr>
          <p:cNvPr id="55" name="Google Shape;55;p13"/>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fontScale="92500"/>
          </a:bodyPr>
          <a:lstStyle/>
          <a:p>
            <a:pPr marL="0" lvl="0" indent="0" algn="ctr" rtl="0">
              <a:spcBef>
                <a:spcPts val="0"/>
              </a:spcBef>
              <a:spcAft>
                <a:spcPts val="0"/>
              </a:spcAft>
              <a:buNone/>
            </a:pPr>
            <a:r>
              <a:rPr lang="es" sz="2600">
                <a:latin typeface="EB Garamond"/>
                <a:ea typeface="EB Garamond"/>
                <a:cs typeface="EB Garamond"/>
                <a:sym typeface="EB Garamond"/>
              </a:rPr>
              <a:t>Clase 02: Unidad I. Introducción a la investigación social cuantitativa</a:t>
            </a:r>
            <a:endParaRPr sz="2600">
              <a:latin typeface="EB Garamond"/>
              <a:ea typeface="EB Garamond"/>
              <a:cs typeface="EB Garamond"/>
              <a:sym typeface="EB Garamond"/>
            </a:endParaRPr>
          </a:p>
        </p:txBody>
      </p:sp>
      <p:sp>
        <p:nvSpPr>
          <p:cNvPr id="56" name="Google Shape;56;p13"/>
          <p:cNvSpPr txBox="1">
            <a:spLocks noGrp="1"/>
          </p:cNvSpPr>
          <p:nvPr>
            <p:ph type="subTitle" idx="1"/>
          </p:nvPr>
        </p:nvSpPr>
        <p:spPr>
          <a:xfrm>
            <a:off x="311700" y="384875"/>
            <a:ext cx="8520600" cy="792600"/>
          </a:xfrm>
          <a:prstGeom prst="rect">
            <a:avLst/>
          </a:prstGeom>
        </p:spPr>
        <p:txBody>
          <a:bodyPr spcFirstLastPara="1" wrap="square" lIns="91425" tIns="91425" rIns="91425" bIns="91425" anchor="t" anchorCtr="0">
            <a:normAutofit/>
          </a:bodyPr>
          <a:lstStyle/>
          <a:p>
            <a:pPr marL="0" lvl="0" indent="0" algn="l" rtl="0">
              <a:lnSpc>
                <a:spcPct val="80000"/>
              </a:lnSpc>
              <a:spcBef>
                <a:spcPts val="0"/>
              </a:spcBef>
              <a:spcAft>
                <a:spcPts val="0"/>
              </a:spcAft>
              <a:buNone/>
            </a:pPr>
            <a:r>
              <a:rPr lang="es" sz="1400">
                <a:latin typeface="EB Garamond"/>
                <a:ea typeface="EB Garamond"/>
                <a:cs typeface="EB Garamond"/>
                <a:sym typeface="EB Garamond"/>
              </a:rPr>
              <a:t>Universidad Diego Portales</a:t>
            </a:r>
            <a:endParaRPr sz="1400">
              <a:latin typeface="EB Garamond"/>
              <a:ea typeface="EB Garamond"/>
              <a:cs typeface="EB Garamond"/>
              <a:sym typeface="EB Garamond"/>
            </a:endParaRPr>
          </a:p>
          <a:p>
            <a:pPr marL="0" lvl="0" indent="0" algn="l" rtl="0">
              <a:lnSpc>
                <a:spcPct val="80000"/>
              </a:lnSpc>
              <a:spcBef>
                <a:spcPts val="0"/>
              </a:spcBef>
              <a:spcAft>
                <a:spcPts val="0"/>
              </a:spcAft>
              <a:buNone/>
            </a:pPr>
            <a:r>
              <a:rPr lang="es" sz="1400">
                <a:latin typeface="EB Garamond"/>
                <a:ea typeface="EB Garamond"/>
                <a:cs typeface="EB Garamond"/>
                <a:sym typeface="EB Garamond"/>
              </a:rPr>
              <a:t>Facultad de Ciencias Sociales e Historia</a:t>
            </a:r>
            <a:endParaRPr sz="1400">
              <a:latin typeface="EB Garamond"/>
              <a:ea typeface="EB Garamond"/>
              <a:cs typeface="EB Garamond"/>
              <a:sym typeface="EB Garamond"/>
            </a:endParaRPr>
          </a:p>
          <a:p>
            <a:pPr marL="0" lvl="0" indent="0" algn="l" rtl="0">
              <a:lnSpc>
                <a:spcPct val="80000"/>
              </a:lnSpc>
              <a:spcBef>
                <a:spcPts val="0"/>
              </a:spcBef>
              <a:spcAft>
                <a:spcPts val="0"/>
              </a:spcAft>
              <a:buClr>
                <a:schemeClr val="dk1"/>
              </a:buClr>
              <a:buSzPts val="1100"/>
              <a:buFont typeface="Arial"/>
              <a:buNone/>
            </a:pPr>
            <a:r>
              <a:rPr lang="es" sz="1400">
                <a:latin typeface="EB Garamond"/>
                <a:ea typeface="EB Garamond"/>
                <a:cs typeface="EB Garamond"/>
                <a:sym typeface="EB Garamond"/>
              </a:rPr>
              <a:t>Antropología</a:t>
            </a:r>
            <a:endParaRPr sz="1400">
              <a:latin typeface="EB Garamond"/>
              <a:ea typeface="EB Garamond"/>
              <a:cs typeface="EB Garamond"/>
              <a:sym typeface="EB Garamond"/>
            </a:endParaRPr>
          </a:p>
        </p:txBody>
      </p:sp>
      <p:sp>
        <p:nvSpPr>
          <p:cNvPr id="57" name="Google Shape;57;p13"/>
          <p:cNvSpPr txBox="1">
            <a:spLocks noGrp="1"/>
          </p:cNvSpPr>
          <p:nvPr>
            <p:ph type="subTitle" idx="1"/>
          </p:nvPr>
        </p:nvSpPr>
        <p:spPr>
          <a:xfrm>
            <a:off x="311700" y="4033150"/>
            <a:ext cx="8520600" cy="792600"/>
          </a:xfrm>
          <a:prstGeom prst="rect">
            <a:avLst/>
          </a:prstGeom>
        </p:spPr>
        <p:txBody>
          <a:bodyPr spcFirstLastPara="1" wrap="square" lIns="91425" tIns="91425" rIns="91425" bIns="91425" anchor="t" anchorCtr="0">
            <a:normAutofit/>
          </a:bodyPr>
          <a:lstStyle/>
          <a:p>
            <a:pPr marL="0" lvl="0" indent="0" algn="r" rtl="0">
              <a:lnSpc>
                <a:spcPct val="80000"/>
              </a:lnSpc>
              <a:spcBef>
                <a:spcPts val="0"/>
              </a:spcBef>
              <a:spcAft>
                <a:spcPts val="0"/>
              </a:spcAft>
              <a:buClr>
                <a:schemeClr val="dk1"/>
              </a:buClr>
              <a:buSzPts val="1018"/>
              <a:buFont typeface="Arial"/>
              <a:buNone/>
            </a:pPr>
            <a:r>
              <a:rPr lang="es" sz="1405" dirty="0">
                <a:latin typeface="EB Garamond"/>
                <a:ea typeface="EB Garamond"/>
                <a:cs typeface="EB Garamond"/>
                <a:sym typeface="EB Garamond"/>
              </a:rPr>
              <a:t>Profesora: Daniela Olivares Collío</a:t>
            </a:r>
            <a:endParaRPr sz="1405" dirty="0">
              <a:latin typeface="EB Garamond"/>
              <a:ea typeface="EB Garamond"/>
              <a:cs typeface="EB Garamond"/>
              <a:sym typeface="EB Garamond"/>
            </a:endParaRPr>
          </a:p>
          <a:p>
            <a:pPr marL="0" lvl="0" indent="0" algn="r" rtl="0">
              <a:lnSpc>
                <a:spcPct val="80000"/>
              </a:lnSpc>
              <a:spcBef>
                <a:spcPts val="0"/>
              </a:spcBef>
              <a:spcAft>
                <a:spcPts val="0"/>
              </a:spcAft>
              <a:buClr>
                <a:schemeClr val="dk1"/>
              </a:buClr>
              <a:buSzPts val="1018"/>
              <a:buFont typeface="Arial"/>
              <a:buNone/>
            </a:pPr>
            <a:r>
              <a:rPr lang="es" sz="1405" dirty="0">
                <a:latin typeface="EB Garamond"/>
                <a:ea typeface="EB Garamond"/>
                <a:cs typeface="EB Garamond"/>
                <a:sym typeface="EB Garamond"/>
              </a:rPr>
              <a:t>Ayudante: Katherine Aravena Herrera</a:t>
            </a:r>
            <a:endParaRPr sz="1405" dirty="0">
              <a:latin typeface="EB Garamond"/>
              <a:ea typeface="EB Garamond"/>
              <a:cs typeface="EB Garamond"/>
              <a:sym typeface="EB Garamond"/>
            </a:endParaRPr>
          </a:p>
          <a:p>
            <a:pPr marL="0" lvl="0" indent="0" algn="r" rtl="0">
              <a:lnSpc>
                <a:spcPct val="80000"/>
              </a:lnSpc>
              <a:spcBef>
                <a:spcPts val="0"/>
              </a:spcBef>
              <a:spcAft>
                <a:spcPts val="0"/>
              </a:spcAft>
              <a:buClr>
                <a:schemeClr val="dk1"/>
              </a:buClr>
              <a:buSzPts val="1018"/>
              <a:buFont typeface="Arial"/>
              <a:buNone/>
            </a:pPr>
            <a:r>
              <a:rPr lang="es" sz="1405" dirty="0">
                <a:latin typeface="EB Garamond"/>
                <a:ea typeface="EB Garamond"/>
                <a:cs typeface="EB Garamond"/>
                <a:sym typeface="EB Garamond"/>
              </a:rPr>
              <a:t>2do semestre 2026</a:t>
            </a:r>
            <a:endParaRPr sz="1405" dirty="0">
              <a:latin typeface="EB Garamond"/>
              <a:ea typeface="EB Garamond"/>
              <a:cs typeface="EB Garamond"/>
              <a:sym typeface="EB Garamond"/>
            </a:endParaRPr>
          </a:p>
        </p:txBody>
      </p:sp>
      <p:pic>
        <p:nvPicPr>
          <p:cNvPr id="58" name="Google Shape;58;p13" title="UDP_LogoRGB_2lineas_Color_SinFondo.png"/>
          <p:cNvPicPr preferRelativeResize="0"/>
          <p:nvPr/>
        </p:nvPicPr>
        <p:blipFill>
          <a:blip r:embed="rId3">
            <a:alphaModFix/>
          </a:blip>
          <a:stretch>
            <a:fillRect/>
          </a:stretch>
        </p:blipFill>
        <p:spPr>
          <a:xfrm>
            <a:off x="6169400" y="132725"/>
            <a:ext cx="2662900" cy="6482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14"/>
          <p:cNvSpPr txBox="1">
            <a:spLocks noGrp="1"/>
          </p:cNvSpPr>
          <p:nvPr>
            <p:ph type="title"/>
          </p:nvPr>
        </p:nvSpPr>
        <p:spPr>
          <a:xfrm>
            <a:off x="311700" y="1090500"/>
            <a:ext cx="8520600" cy="2571900"/>
          </a:xfrm>
          <a:prstGeom prst="rect">
            <a:avLst/>
          </a:prstGeom>
        </p:spPr>
        <p:txBody>
          <a:bodyPr spcFirstLastPara="1" wrap="square" lIns="91425" tIns="91425" rIns="91425" bIns="91425" anchor="ctr" anchorCtr="0">
            <a:normAutofit fontScale="90000"/>
          </a:bodyPr>
          <a:lstStyle/>
          <a:p>
            <a:pPr marL="0" lvl="0" indent="0" algn="ctr" rtl="0">
              <a:spcBef>
                <a:spcPts val="0"/>
              </a:spcBef>
              <a:spcAft>
                <a:spcPts val="0"/>
              </a:spcAft>
              <a:buNone/>
            </a:pPr>
            <a:r>
              <a:rPr lang="es" dirty="0">
                <a:latin typeface="EB Garamond"/>
                <a:ea typeface="EB Garamond"/>
                <a:cs typeface="EB Garamond"/>
                <a:sym typeface="EB Garamond"/>
              </a:rPr>
              <a:t>Profesora: Daniela Olivares Collío</a:t>
            </a:r>
            <a:endParaRPr dirty="0">
              <a:latin typeface="EB Garamond"/>
              <a:ea typeface="EB Garamond"/>
              <a:cs typeface="EB Garamond"/>
              <a:sym typeface="EB Garamond"/>
            </a:endParaRPr>
          </a:p>
          <a:p>
            <a:pPr marL="0" lvl="0" indent="0" algn="ctr" rtl="0">
              <a:spcBef>
                <a:spcPts val="0"/>
              </a:spcBef>
              <a:spcAft>
                <a:spcPts val="0"/>
              </a:spcAft>
              <a:buNone/>
            </a:pPr>
            <a:r>
              <a:rPr lang="es" u="sng" dirty="0">
                <a:solidFill>
                  <a:schemeClr val="hlink"/>
                </a:solidFill>
                <a:latin typeface="EB Garamond"/>
                <a:ea typeface="EB Garamond"/>
                <a:cs typeface="EB Garamond"/>
                <a:sym typeface="EB Garamond"/>
                <a:hlinkClick r:id="rId3"/>
              </a:rPr>
              <a:t>daniela.olivares2@mail.udp.cl</a:t>
            </a:r>
            <a:endParaRPr dirty="0">
              <a:latin typeface="EB Garamond"/>
              <a:ea typeface="EB Garamond"/>
              <a:cs typeface="EB Garamond"/>
              <a:sym typeface="EB Garamond"/>
            </a:endParaRPr>
          </a:p>
          <a:p>
            <a:pPr marL="0" lvl="0" indent="0" algn="ctr" rtl="0">
              <a:spcBef>
                <a:spcPts val="0"/>
              </a:spcBef>
              <a:spcAft>
                <a:spcPts val="0"/>
              </a:spcAft>
              <a:buNone/>
            </a:pPr>
            <a:endParaRPr dirty="0">
              <a:latin typeface="EB Garamond"/>
              <a:ea typeface="EB Garamond"/>
              <a:cs typeface="EB Garamond"/>
              <a:sym typeface="EB Garamond"/>
            </a:endParaRPr>
          </a:p>
          <a:p>
            <a:pPr lvl="0"/>
            <a:r>
              <a:rPr lang="es" dirty="0">
                <a:latin typeface="EB Garamond"/>
                <a:ea typeface="EB Garamond"/>
                <a:cs typeface="EB Garamond"/>
                <a:sym typeface="EB Garamond"/>
              </a:rPr>
              <a:t>Ayudante: Katherine Aravena Herrera</a:t>
            </a:r>
            <a:endParaRPr dirty="0">
              <a:latin typeface="EB Garamond"/>
              <a:ea typeface="EB Garamond"/>
              <a:cs typeface="EB Garamond"/>
              <a:sym typeface="EB Garamond"/>
            </a:endParaRPr>
          </a:p>
          <a:p>
            <a:pPr marL="0" lvl="0" indent="0" algn="ctr" rtl="0">
              <a:spcBef>
                <a:spcPts val="0"/>
              </a:spcBef>
              <a:spcAft>
                <a:spcPts val="0"/>
              </a:spcAft>
              <a:buNone/>
            </a:pPr>
            <a:r>
              <a:rPr lang="es-CL" u="sng" dirty="0">
                <a:solidFill>
                  <a:schemeClr val="hlink"/>
                </a:solidFill>
                <a:latin typeface="EB Garamond"/>
                <a:ea typeface="EB Garamond"/>
                <a:cs typeface="EB Garamond"/>
                <a:sym typeface="EB Garamond"/>
              </a:rPr>
              <a:t>k</a:t>
            </a:r>
            <a:r>
              <a:rPr lang="es" u="sng">
                <a:solidFill>
                  <a:schemeClr val="hlink"/>
                </a:solidFill>
                <a:latin typeface="EB Garamond"/>
                <a:ea typeface="EB Garamond"/>
                <a:cs typeface="EB Garamond"/>
                <a:sym typeface="EB Garamond"/>
              </a:rPr>
              <a:t>atherine.aravena@ug.uchile.cl</a:t>
            </a:r>
            <a:endParaRPr dirty="0">
              <a:latin typeface="EB Garamond"/>
              <a:ea typeface="EB Garamond"/>
              <a:cs typeface="EB Garamond"/>
              <a:sym typeface="EB Garamond"/>
            </a:endParaRPr>
          </a:p>
        </p:txBody>
      </p:sp>
      <p:sp>
        <p:nvSpPr>
          <p:cNvPr id="64" name="Google Shape;64;p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s"/>
              <a:t>2</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8"/>
        <p:cNvGrpSpPr/>
        <p:nvPr/>
      </p:nvGrpSpPr>
      <p:grpSpPr>
        <a:xfrm>
          <a:off x="0" y="0"/>
          <a:ext cx="0" cy="0"/>
          <a:chOff x="0" y="0"/>
          <a:chExt cx="0" cy="0"/>
        </a:xfrm>
      </p:grpSpPr>
      <p:sp>
        <p:nvSpPr>
          <p:cNvPr id="69" name="Google Shape;69;p15"/>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r>
              <a:rPr lang="es">
                <a:latin typeface="EB Garamond"/>
                <a:ea typeface="EB Garamond"/>
                <a:cs typeface="EB Garamond"/>
                <a:sym typeface="EB Garamond"/>
              </a:rPr>
              <a:t>Objetivos</a:t>
            </a:r>
            <a:endParaRPr>
              <a:latin typeface="EB Garamond"/>
              <a:ea typeface="EB Garamond"/>
              <a:cs typeface="EB Garamond"/>
              <a:sym typeface="EB Garamond"/>
            </a:endParaRPr>
          </a:p>
        </p:txBody>
      </p:sp>
      <p:sp>
        <p:nvSpPr>
          <p:cNvPr id="70" name="Google Shape;70;p15"/>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fontScale="77500" lnSpcReduction="20000"/>
          </a:bodyPr>
          <a:lstStyle/>
          <a:p>
            <a:pPr marL="0" lvl="0" indent="0" algn="l" rtl="0">
              <a:spcBef>
                <a:spcPts val="0"/>
              </a:spcBef>
              <a:spcAft>
                <a:spcPts val="0"/>
              </a:spcAft>
              <a:buNone/>
            </a:pPr>
            <a:r>
              <a:rPr lang="es" b="1">
                <a:latin typeface="EB Garamond"/>
                <a:ea typeface="EB Garamond"/>
                <a:cs typeface="EB Garamond"/>
                <a:sym typeface="EB Garamond"/>
              </a:rPr>
              <a:t>Unidad I. Introducción a la investigación social cuantitativa</a:t>
            </a:r>
            <a:endParaRPr b="1">
              <a:latin typeface="EB Garamond"/>
              <a:ea typeface="EB Garamond"/>
              <a:cs typeface="EB Garamond"/>
              <a:sym typeface="EB Garamond"/>
            </a:endParaRPr>
          </a:p>
          <a:p>
            <a:pPr marL="0" lvl="0" indent="0" algn="l" rtl="0">
              <a:spcBef>
                <a:spcPts val="1200"/>
              </a:spcBef>
              <a:spcAft>
                <a:spcPts val="0"/>
              </a:spcAft>
              <a:buClr>
                <a:schemeClr val="dk1"/>
              </a:buClr>
              <a:buSzPct val="61111"/>
              <a:buFont typeface="Arial"/>
              <a:buNone/>
            </a:pPr>
            <a:r>
              <a:rPr lang="es">
                <a:latin typeface="EB Garamond"/>
                <a:ea typeface="EB Garamond"/>
                <a:cs typeface="EB Garamond"/>
                <a:sym typeface="EB Garamond"/>
              </a:rPr>
              <a:t>I.2. Características de la Investigación Cuantitativa</a:t>
            </a:r>
            <a:endParaRPr>
              <a:latin typeface="EB Garamond"/>
              <a:ea typeface="EB Garamond"/>
              <a:cs typeface="EB Garamond"/>
              <a:sym typeface="EB Garamond"/>
            </a:endParaRPr>
          </a:p>
          <a:p>
            <a:pPr marL="457200" lvl="0" indent="0" algn="l" rtl="0">
              <a:spcBef>
                <a:spcPts val="1200"/>
              </a:spcBef>
              <a:spcAft>
                <a:spcPts val="0"/>
              </a:spcAft>
              <a:buClr>
                <a:schemeClr val="dk1"/>
              </a:buClr>
              <a:buSzPct val="68750"/>
              <a:buFont typeface="Arial"/>
              <a:buNone/>
            </a:pPr>
            <a:r>
              <a:rPr lang="es" sz="1600">
                <a:latin typeface="EB Garamond"/>
                <a:ea typeface="EB Garamond"/>
                <a:cs typeface="EB Garamond"/>
                <a:sym typeface="EB Garamond"/>
              </a:rPr>
              <a:t>I.2.2. Tipos de investigación social cuantitativa</a:t>
            </a:r>
            <a:endParaRPr sz="1600">
              <a:latin typeface="EB Garamond"/>
              <a:ea typeface="EB Garamond"/>
              <a:cs typeface="EB Garamond"/>
              <a:sym typeface="EB Garamond"/>
            </a:endParaRPr>
          </a:p>
          <a:p>
            <a:pPr marL="0" lvl="0" indent="0" algn="l" rtl="0">
              <a:spcBef>
                <a:spcPts val="1200"/>
              </a:spcBef>
              <a:spcAft>
                <a:spcPts val="0"/>
              </a:spcAft>
              <a:buClr>
                <a:schemeClr val="dk1"/>
              </a:buClr>
              <a:buSzPct val="68750"/>
              <a:buFont typeface="Arial"/>
              <a:buNone/>
            </a:pPr>
            <a:r>
              <a:rPr lang="es">
                <a:latin typeface="EB Garamond"/>
                <a:ea typeface="EB Garamond"/>
                <a:cs typeface="EB Garamond"/>
                <a:sym typeface="EB Garamond"/>
              </a:rPr>
              <a:t>I.3. Construcción de un problema de Investigación Cuantitativa</a:t>
            </a:r>
            <a:endParaRPr sz="1600">
              <a:latin typeface="EB Garamond"/>
              <a:ea typeface="EB Garamond"/>
              <a:cs typeface="EB Garamond"/>
              <a:sym typeface="EB Garamond"/>
            </a:endParaRPr>
          </a:p>
          <a:p>
            <a:pPr marL="0" lvl="0" indent="0" algn="l" rtl="0">
              <a:spcBef>
                <a:spcPts val="1200"/>
              </a:spcBef>
              <a:spcAft>
                <a:spcPts val="0"/>
              </a:spcAft>
              <a:buClr>
                <a:schemeClr val="dk1"/>
              </a:buClr>
              <a:buSzPct val="68750"/>
              <a:buFont typeface="Arial"/>
              <a:buNone/>
            </a:pPr>
            <a:r>
              <a:rPr lang="es" sz="1600">
                <a:latin typeface="EB Garamond"/>
                <a:ea typeface="EB Garamond"/>
                <a:cs typeface="EB Garamond"/>
                <a:sym typeface="EB Garamond"/>
              </a:rPr>
              <a:t>	I.3.1. Problematización</a:t>
            </a:r>
            <a:endParaRPr sz="1600">
              <a:latin typeface="EB Garamond"/>
              <a:ea typeface="EB Garamond"/>
              <a:cs typeface="EB Garamond"/>
              <a:sym typeface="EB Garamond"/>
            </a:endParaRPr>
          </a:p>
          <a:p>
            <a:pPr marL="0" lvl="0" indent="0" algn="l" rtl="0">
              <a:spcBef>
                <a:spcPts val="1200"/>
              </a:spcBef>
              <a:spcAft>
                <a:spcPts val="0"/>
              </a:spcAft>
              <a:buClr>
                <a:schemeClr val="dk1"/>
              </a:buClr>
              <a:buSzPct val="68750"/>
              <a:buFont typeface="Arial"/>
              <a:buNone/>
            </a:pPr>
            <a:r>
              <a:rPr lang="es" sz="1600">
                <a:latin typeface="EB Garamond"/>
                <a:ea typeface="EB Garamond"/>
                <a:cs typeface="EB Garamond"/>
                <a:sym typeface="EB Garamond"/>
              </a:rPr>
              <a:t>	I.3.2. Pregunta de Investigación</a:t>
            </a:r>
            <a:endParaRPr sz="1600">
              <a:latin typeface="EB Garamond"/>
              <a:ea typeface="EB Garamond"/>
              <a:cs typeface="EB Garamond"/>
              <a:sym typeface="EB Garamond"/>
            </a:endParaRPr>
          </a:p>
          <a:p>
            <a:pPr marL="0" lvl="0" indent="0" algn="l" rtl="0">
              <a:spcBef>
                <a:spcPts val="1200"/>
              </a:spcBef>
              <a:spcAft>
                <a:spcPts val="0"/>
              </a:spcAft>
              <a:buClr>
                <a:schemeClr val="dk1"/>
              </a:buClr>
              <a:buSzPct val="68750"/>
              <a:buFont typeface="Arial"/>
              <a:buNone/>
            </a:pPr>
            <a:r>
              <a:rPr lang="es" sz="1600">
                <a:latin typeface="EB Garamond"/>
                <a:ea typeface="EB Garamond"/>
                <a:cs typeface="EB Garamond"/>
                <a:sym typeface="EB Garamond"/>
              </a:rPr>
              <a:t>	I.3.3. Objetivos de Investigación</a:t>
            </a:r>
            <a:endParaRPr sz="1600">
              <a:latin typeface="EB Garamond"/>
              <a:ea typeface="EB Garamond"/>
              <a:cs typeface="EB Garamond"/>
              <a:sym typeface="EB Garamond"/>
            </a:endParaRPr>
          </a:p>
          <a:p>
            <a:pPr marL="0" lvl="0" indent="0" algn="l" rtl="0">
              <a:spcBef>
                <a:spcPts val="1200"/>
              </a:spcBef>
              <a:spcAft>
                <a:spcPts val="1200"/>
              </a:spcAft>
              <a:buClr>
                <a:schemeClr val="dk1"/>
              </a:buClr>
              <a:buSzPct val="68750"/>
              <a:buFont typeface="Arial"/>
              <a:buNone/>
            </a:pPr>
            <a:r>
              <a:rPr lang="es" sz="1600">
                <a:latin typeface="EB Garamond"/>
                <a:ea typeface="EB Garamond"/>
                <a:cs typeface="EB Garamond"/>
                <a:sym typeface="EB Garamond"/>
              </a:rPr>
              <a:t>	I.3.4. Formulación de hipótesis de investigación</a:t>
            </a:r>
            <a:endParaRPr sz="1600">
              <a:latin typeface="EB Garamond"/>
              <a:ea typeface="EB Garamond"/>
              <a:cs typeface="EB Garamond"/>
              <a:sym typeface="EB Garamond"/>
            </a:endParaRPr>
          </a:p>
        </p:txBody>
      </p:sp>
      <p:sp>
        <p:nvSpPr>
          <p:cNvPr id="71" name="Google Shape;71;p15"/>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r>
              <a:rPr lang="es">
                <a:latin typeface="EB Garamond"/>
                <a:ea typeface="EB Garamond"/>
                <a:cs typeface="EB Garamond"/>
                <a:sym typeface="EB Garamond"/>
              </a:rPr>
              <a:t>Clase 02</a:t>
            </a:r>
            <a:endParaRPr>
              <a:latin typeface="EB Garamond"/>
              <a:ea typeface="EB Garamond"/>
              <a:cs typeface="EB Garamond"/>
              <a:sym typeface="EB Garamond"/>
            </a:endParaRPr>
          </a:p>
        </p:txBody>
      </p:sp>
      <p:sp>
        <p:nvSpPr>
          <p:cNvPr id="72" name="Google Shape;72;p1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s"/>
              <a:t>3</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accent5"/>
        </a:solidFill>
        <a:effectLst/>
      </p:bgPr>
    </p:bg>
    <p:spTree>
      <p:nvGrpSpPr>
        <p:cNvPr id="1" name="Shape 76"/>
        <p:cNvGrpSpPr/>
        <p:nvPr/>
      </p:nvGrpSpPr>
      <p:grpSpPr>
        <a:xfrm>
          <a:off x="0" y="0"/>
          <a:ext cx="0" cy="0"/>
          <a:chOff x="0" y="0"/>
          <a:chExt cx="0" cy="0"/>
        </a:xfrm>
      </p:grpSpPr>
      <p:sp>
        <p:nvSpPr>
          <p:cNvPr id="77" name="Google Shape;77;p16"/>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fontScale="90000"/>
          </a:bodyPr>
          <a:lstStyle/>
          <a:p>
            <a:pPr marL="457200" lvl="0" indent="0" algn="ctr" rtl="0">
              <a:spcBef>
                <a:spcPts val="0"/>
              </a:spcBef>
              <a:spcAft>
                <a:spcPts val="0"/>
              </a:spcAft>
              <a:buNone/>
            </a:pPr>
            <a:r>
              <a:rPr lang="es">
                <a:solidFill>
                  <a:schemeClr val="lt2"/>
                </a:solidFill>
                <a:latin typeface="EB Garamond"/>
                <a:ea typeface="EB Garamond"/>
                <a:cs typeface="EB Garamond"/>
                <a:sym typeface="EB Garamond"/>
              </a:rPr>
              <a:t>I.2. Características de la Investigación Cuantitativa</a:t>
            </a:r>
            <a:endParaRPr>
              <a:solidFill>
                <a:schemeClr val="lt2"/>
              </a:solidFill>
              <a:latin typeface="EB Garamond"/>
              <a:ea typeface="EB Garamond"/>
              <a:cs typeface="EB Garamond"/>
              <a:sym typeface="EB Garamond"/>
            </a:endParaRPr>
          </a:p>
          <a:p>
            <a:pPr marL="457200" lvl="0" indent="0" algn="ctr" rtl="0">
              <a:spcBef>
                <a:spcPts val="0"/>
              </a:spcBef>
              <a:spcAft>
                <a:spcPts val="0"/>
              </a:spcAft>
              <a:buClr>
                <a:schemeClr val="dk1"/>
              </a:buClr>
              <a:buSzPct val="30555"/>
              <a:buFont typeface="Arial"/>
              <a:buNone/>
            </a:pPr>
            <a:endParaRPr>
              <a:solidFill>
                <a:schemeClr val="lt2"/>
              </a:solidFill>
              <a:latin typeface="EB Garamond"/>
              <a:ea typeface="EB Garamond"/>
              <a:cs typeface="EB Garamond"/>
              <a:sym typeface="EB Garamond"/>
            </a:endParaRPr>
          </a:p>
          <a:p>
            <a:pPr marL="457200" lvl="0" indent="0" algn="ctr" rtl="0">
              <a:spcBef>
                <a:spcPts val="0"/>
              </a:spcBef>
              <a:spcAft>
                <a:spcPts val="0"/>
              </a:spcAft>
              <a:buNone/>
            </a:pPr>
            <a:r>
              <a:rPr lang="es" sz="3266">
                <a:solidFill>
                  <a:schemeClr val="lt2"/>
                </a:solidFill>
                <a:latin typeface="EB Garamond"/>
                <a:ea typeface="EB Garamond"/>
                <a:cs typeface="EB Garamond"/>
                <a:sym typeface="EB Garamond"/>
              </a:rPr>
              <a:t>I.2.2. Tipos de investigación social cuantitativa</a:t>
            </a:r>
            <a:endParaRPr sz="3266">
              <a:solidFill>
                <a:schemeClr val="lt2"/>
              </a:solidFill>
              <a:latin typeface="EB Garamond"/>
              <a:ea typeface="EB Garamond"/>
              <a:cs typeface="EB Garamond"/>
              <a:sym typeface="EB Garamond"/>
            </a:endParaRPr>
          </a:p>
        </p:txBody>
      </p:sp>
      <p:sp>
        <p:nvSpPr>
          <p:cNvPr id="78" name="Google Shape;78;p1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s"/>
              <a:t>4</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b="1">
                <a:latin typeface="EB Garamond"/>
                <a:ea typeface="EB Garamond"/>
                <a:cs typeface="EB Garamond"/>
                <a:sym typeface="EB Garamond"/>
              </a:rPr>
              <a:t>Investigación social cuantitativa</a:t>
            </a:r>
            <a:endParaRPr b="1">
              <a:latin typeface="EB Garamond"/>
              <a:ea typeface="EB Garamond"/>
              <a:cs typeface="EB Garamond"/>
              <a:sym typeface="EB Garamond"/>
            </a:endParaRPr>
          </a:p>
        </p:txBody>
      </p:sp>
      <p:sp>
        <p:nvSpPr>
          <p:cNvPr id="84" name="Google Shape;84;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s"/>
              <a:t>5</a:t>
            </a:fld>
            <a:endParaRPr/>
          </a:p>
        </p:txBody>
      </p:sp>
      <p:grpSp>
        <p:nvGrpSpPr>
          <p:cNvPr id="85" name="Google Shape;85;p17"/>
          <p:cNvGrpSpPr/>
          <p:nvPr/>
        </p:nvGrpSpPr>
        <p:grpSpPr>
          <a:xfrm>
            <a:off x="2595190" y="1394555"/>
            <a:ext cx="3953551" cy="2164767"/>
            <a:chOff x="953" y="195146"/>
            <a:chExt cx="3953551" cy="2164767"/>
          </a:xfrm>
        </p:grpSpPr>
        <p:sp>
          <p:nvSpPr>
            <p:cNvPr id="86" name="Google Shape;86;p17"/>
            <p:cNvSpPr/>
            <p:nvPr/>
          </p:nvSpPr>
          <p:spPr>
            <a:xfrm>
              <a:off x="1977762" y="1089629"/>
              <a:ext cx="187800" cy="822900"/>
            </a:xfrm>
            <a:custGeom>
              <a:avLst/>
              <a:gdLst/>
              <a:ahLst/>
              <a:cxnLst/>
              <a:rect l="l" t="t" r="r" b="b"/>
              <a:pathLst>
                <a:path w="120000" h="120000" extrusionOk="0">
                  <a:moveTo>
                    <a:pt x="0" y="0"/>
                  </a:moveTo>
                  <a:lnTo>
                    <a:pt x="0" y="120000"/>
                  </a:lnTo>
                  <a:lnTo>
                    <a:pt x="120000" y="120000"/>
                  </a:lnTo>
                </a:path>
              </a:pathLst>
            </a:custGeom>
            <a:noFill/>
            <a:ln w="12700" cap="flat" cmpd="sng">
              <a:solidFill>
                <a:srgbClr val="345A99"/>
              </a:solidFill>
              <a:prstDash val="solid"/>
              <a:miter lim="800000"/>
              <a:headEnd type="none" w="sm" len="sm"/>
              <a:tailEnd type="none" w="sm" len="sm"/>
            </a:ln>
          </p:spPr>
          <p:txBody>
            <a:bodyPr/>
            <a:lstStyle/>
            <a:p>
              <a:endParaRPr lang="es-CL"/>
            </a:p>
          </p:txBody>
        </p:sp>
        <p:sp>
          <p:nvSpPr>
            <p:cNvPr id="87" name="Google Shape;87;p17"/>
            <p:cNvSpPr/>
            <p:nvPr/>
          </p:nvSpPr>
          <p:spPr>
            <a:xfrm>
              <a:off x="1789920" y="1089629"/>
              <a:ext cx="187800" cy="822900"/>
            </a:xfrm>
            <a:custGeom>
              <a:avLst/>
              <a:gdLst/>
              <a:ahLst/>
              <a:cxnLst/>
              <a:rect l="l" t="t" r="r" b="b"/>
              <a:pathLst>
                <a:path w="120000" h="120000" extrusionOk="0">
                  <a:moveTo>
                    <a:pt x="120000" y="0"/>
                  </a:moveTo>
                  <a:lnTo>
                    <a:pt x="120000" y="120000"/>
                  </a:lnTo>
                  <a:lnTo>
                    <a:pt x="0" y="120000"/>
                  </a:lnTo>
                </a:path>
              </a:pathLst>
            </a:custGeom>
            <a:noFill/>
            <a:ln w="12700" cap="flat" cmpd="sng">
              <a:solidFill>
                <a:srgbClr val="345A99"/>
              </a:solidFill>
              <a:prstDash val="solid"/>
              <a:miter lim="800000"/>
              <a:headEnd type="none" w="sm" len="sm"/>
              <a:tailEnd type="none" w="sm" len="sm"/>
            </a:ln>
          </p:spPr>
          <p:txBody>
            <a:bodyPr/>
            <a:lstStyle/>
            <a:p>
              <a:endParaRPr lang="es-CL"/>
            </a:p>
          </p:txBody>
        </p:sp>
        <p:sp>
          <p:nvSpPr>
            <p:cNvPr id="88" name="Google Shape;88;p17"/>
            <p:cNvSpPr/>
            <p:nvPr/>
          </p:nvSpPr>
          <p:spPr>
            <a:xfrm>
              <a:off x="1083278" y="195146"/>
              <a:ext cx="1788900" cy="894600"/>
            </a:xfrm>
            <a:prstGeom prst="rect">
              <a:avLst/>
            </a:prstGeom>
            <a:solidFill>
              <a:srgbClr val="BBD6EE"/>
            </a:solidFill>
            <a:ln w="12700" cap="flat" cmpd="sng">
              <a:solidFill>
                <a:srgbClr val="FFFFFF"/>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17"/>
            <p:cNvSpPr txBox="1"/>
            <p:nvPr/>
          </p:nvSpPr>
          <p:spPr>
            <a:xfrm>
              <a:off x="1083278" y="195146"/>
              <a:ext cx="1788900" cy="894600"/>
            </a:xfrm>
            <a:prstGeom prst="rect">
              <a:avLst/>
            </a:prstGeom>
            <a:solidFill>
              <a:schemeClr val="accent3"/>
            </a:solidFill>
            <a:ln>
              <a:noFill/>
            </a:ln>
          </p:spPr>
          <p:txBody>
            <a:bodyPr spcFirstLastPara="1" wrap="square" lIns="10150" tIns="10150" rIns="10150" bIns="10150" anchor="ctr" anchorCtr="0">
              <a:noAutofit/>
            </a:bodyPr>
            <a:lstStyle/>
            <a:p>
              <a:pPr marL="0" marR="0" lvl="0" indent="0" algn="ctr" rtl="0">
                <a:lnSpc>
                  <a:spcPct val="90000"/>
                </a:lnSpc>
                <a:spcBef>
                  <a:spcPts val="0"/>
                </a:spcBef>
                <a:spcAft>
                  <a:spcPts val="0"/>
                </a:spcAft>
                <a:buNone/>
              </a:pPr>
              <a:r>
                <a:rPr lang="es" sz="1600">
                  <a:solidFill>
                    <a:schemeClr val="lt2"/>
                  </a:solidFill>
                  <a:latin typeface="EB Garamond"/>
                  <a:ea typeface="EB Garamond"/>
                  <a:cs typeface="EB Garamond"/>
                  <a:sym typeface="EB Garamond"/>
                </a:rPr>
                <a:t>Investigación cuantitativa</a:t>
              </a:r>
              <a:endParaRPr>
                <a:solidFill>
                  <a:schemeClr val="lt2"/>
                </a:solidFill>
                <a:latin typeface="EB Garamond"/>
                <a:ea typeface="EB Garamond"/>
                <a:cs typeface="EB Garamond"/>
                <a:sym typeface="EB Garamond"/>
              </a:endParaRPr>
            </a:p>
          </p:txBody>
        </p:sp>
        <p:sp>
          <p:nvSpPr>
            <p:cNvPr id="90" name="Google Shape;90;p17"/>
            <p:cNvSpPr/>
            <p:nvPr/>
          </p:nvSpPr>
          <p:spPr>
            <a:xfrm>
              <a:off x="953" y="1465313"/>
              <a:ext cx="1788900" cy="894600"/>
            </a:xfrm>
            <a:prstGeom prst="rect">
              <a:avLst/>
            </a:prstGeom>
            <a:solidFill>
              <a:srgbClr val="156C77"/>
            </a:solidFill>
            <a:ln w="12700" cap="flat" cmpd="sng">
              <a:solidFill>
                <a:srgbClr val="FFFFFF"/>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p17"/>
            <p:cNvSpPr txBox="1"/>
            <p:nvPr/>
          </p:nvSpPr>
          <p:spPr>
            <a:xfrm>
              <a:off x="953" y="1465313"/>
              <a:ext cx="1788900" cy="894600"/>
            </a:xfrm>
            <a:prstGeom prst="rect">
              <a:avLst/>
            </a:prstGeom>
            <a:noFill/>
            <a:ln>
              <a:noFill/>
            </a:ln>
          </p:spPr>
          <p:txBody>
            <a:bodyPr spcFirstLastPara="1" wrap="square" lIns="6975" tIns="6975" rIns="6975" bIns="6975" anchor="ctr" anchorCtr="0">
              <a:noAutofit/>
            </a:bodyPr>
            <a:lstStyle/>
            <a:p>
              <a:pPr marL="0" marR="0" lvl="0" indent="0" algn="ctr" rtl="0">
                <a:lnSpc>
                  <a:spcPct val="90000"/>
                </a:lnSpc>
                <a:spcBef>
                  <a:spcPts val="0"/>
                </a:spcBef>
                <a:spcAft>
                  <a:spcPts val="0"/>
                </a:spcAft>
                <a:buNone/>
              </a:pPr>
              <a:r>
                <a:rPr lang="es" sz="1200">
                  <a:solidFill>
                    <a:srgbClr val="FFFFFF"/>
                  </a:solidFill>
                  <a:latin typeface="EB Garamond"/>
                  <a:ea typeface="EB Garamond"/>
                  <a:cs typeface="EB Garamond"/>
                  <a:sym typeface="EB Garamond"/>
                </a:rPr>
                <a:t>Según la revisión de literatura</a:t>
              </a:r>
              <a:endParaRPr sz="1200">
                <a:latin typeface="EB Garamond"/>
                <a:ea typeface="EB Garamond"/>
                <a:cs typeface="EB Garamond"/>
                <a:sym typeface="EB Garamond"/>
              </a:endParaRPr>
            </a:p>
          </p:txBody>
        </p:sp>
        <p:sp>
          <p:nvSpPr>
            <p:cNvPr id="92" name="Google Shape;92;p17"/>
            <p:cNvSpPr/>
            <p:nvPr/>
          </p:nvSpPr>
          <p:spPr>
            <a:xfrm>
              <a:off x="2165604" y="1465313"/>
              <a:ext cx="1788900" cy="894600"/>
            </a:xfrm>
            <a:prstGeom prst="rect">
              <a:avLst/>
            </a:prstGeom>
            <a:solidFill>
              <a:srgbClr val="156C77"/>
            </a:solidFill>
            <a:ln w="12700" cap="flat" cmpd="sng">
              <a:solidFill>
                <a:srgbClr val="FFFFFF"/>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93;p17"/>
            <p:cNvSpPr txBox="1"/>
            <p:nvPr/>
          </p:nvSpPr>
          <p:spPr>
            <a:xfrm>
              <a:off x="2165604" y="1465313"/>
              <a:ext cx="1788900" cy="894600"/>
            </a:xfrm>
            <a:prstGeom prst="rect">
              <a:avLst/>
            </a:prstGeom>
            <a:noFill/>
            <a:ln>
              <a:noFill/>
            </a:ln>
          </p:spPr>
          <p:txBody>
            <a:bodyPr spcFirstLastPara="1" wrap="square" lIns="6975" tIns="6975" rIns="6975" bIns="6975" anchor="ctr" anchorCtr="0">
              <a:noAutofit/>
            </a:bodyPr>
            <a:lstStyle/>
            <a:p>
              <a:pPr marL="0" marR="0" lvl="0" indent="0" algn="ctr" rtl="0">
                <a:lnSpc>
                  <a:spcPct val="90000"/>
                </a:lnSpc>
                <a:spcBef>
                  <a:spcPts val="0"/>
                </a:spcBef>
                <a:spcAft>
                  <a:spcPts val="0"/>
                </a:spcAft>
                <a:buNone/>
              </a:pPr>
              <a:r>
                <a:rPr lang="es" sz="1200">
                  <a:solidFill>
                    <a:srgbClr val="FFFFFF"/>
                  </a:solidFill>
                  <a:latin typeface="EB Garamond"/>
                  <a:ea typeface="EB Garamond"/>
                  <a:cs typeface="EB Garamond"/>
                  <a:sym typeface="EB Garamond"/>
                </a:rPr>
                <a:t>Según los objetivos de investigación</a:t>
              </a:r>
              <a:endParaRPr sz="1200">
                <a:latin typeface="EB Garamond"/>
                <a:ea typeface="EB Garamond"/>
                <a:cs typeface="EB Garamond"/>
                <a:sym typeface="EB Garamond"/>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
        <p:nvSpPr>
          <p:cNvPr id="98" name="Google Shape;98;p1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b="1">
                <a:latin typeface="EB Garamond"/>
                <a:ea typeface="EB Garamond"/>
                <a:cs typeface="EB Garamond"/>
                <a:sym typeface="EB Garamond"/>
              </a:rPr>
              <a:t>Investigación social cuantitativa</a:t>
            </a:r>
            <a:endParaRPr b="1">
              <a:latin typeface="EB Garamond"/>
              <a:ea typeface="EB Garamond"/>
              <a:cs typeface="EB Garamond"/>
              <a:sym typeface="EB Garamond"/>
            </a:endParaRPr>
          </a:p>
        </p:txBody>
      </p:sp>
      <p:sp>
        <p:nvSpPr>
          <p:cNvPr id="99" name="Google Shape;99;p1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s"/>
              <a:t>6</a:t>
            </a:fld>
            <a:endParaRPr/>
          </a:p>
        </p:txBody>
      </p:sp>
      <p:grpSp>
        <p:nvGrpSpPr>
          <p:cNvPr id="100" name="Google Shape;100;p18"/>
          <p:cNvGrpSpPr/>
          <p:nvPr/>
        </p:nvGrpSpPr>
        <p:grpSpPr>
          <a:xfrm>
            <a:off x="1527153" y="1309092"/>
            <a:ext cx="6089625" cy="2525281"/>
            <a:chOff x="3153" y="769342"/>
            <a:chExt cx="6089625" cy="2525281"/>
          </a:xfrm>
        </p:grpSpPr>
        <p:sp>
          <p:nvSpPr>
            <p:cNvPr id="101" name="Google Shape;101;p18"/>
            <p:cNvSpPr/>
            <p:nvPr/>
          </p:nvSpPr>
          <p:spPr>
            <a:xfrm>
              <a:off x="3048000" y="1426976"/>
              <a:ext cx="138000" cy="605100"/>
            </a:xfrm>
            <a:custGeom>
              <a:avLst/>
              <a:gdLst/>
              <a:ahLst/>
              <a:cxnLst/>
              <a:rect l="l" t="t" r="r" b="b"/>
              <a:pathLst>
                <a:path w="120000" h="120000" extrusionOk="0">
                  <a:moveTo>
                    <a:pt x="0" y="0"/>
                  </a:moveTo>
                  <a:lnTo>
                    <a:pt x="0" y="120000"/>
                  </a:lnTo>
                  <a:lnTo>
                    <a:pt x="120000" y="120000"/>
                  </a:lnTo>
                </a:path>
              </a:pathLst>
            </a:custGeom>
            <a:noFill/>
            <a:ln w="12700" cap="flat" cmpd="sng">
              <a:solidFill>
                <a:srgbClr val="345A99"/>
              </a:solidFill>
              <a:prstDash val="solid"/>
              <a:miter lim="800000"/>
              <a:headEnd type="none" w="sm" len="sm"/>
              <a:tailEnd type="none" w="sm" len="sm"/>
            </a:ln>
          </p:spPr>
          <p:txBody>
            <a:bodyPr/>
            <a:lstStyle/>
            <a:p>
              <a:endParaRPr lang="es-CL"/>
            </a:p>
          </p:txBody>
        </p:sp>
        <p:sp>
          <p:nvSpPr>
            <p:cNvPr id="102" name="Google Shape;102;p18"/>
            <p:cNvSpPr/>
            <p:nvPr/>
          </p:nvSpPr>
          <p:spPr>
            <a:xfrm>
              <a:off x="2909896" y="1426976"/>
              <a:ext cx="138000" cy="605100"/>
            </a:xfrm>
            <a:custGeom>
              <a:avLst/>
              <a:gdLst/>
              <a:ahLst/>
              <a:cxnLst/>
              <a:rect l="l" t="t" r="r" b="b"/>
              <a:pathLst>
                <a:path w="120000" h="120000" extrusionOk="0">
                  <a:moveTo>
                    <a:pt x="120000" y="0"/>
                  </a:moveTo>
                  <a:lnTo>
                    <a:pt x="120000" y="120000"/>
                  </a:lnTo>
                  <a:lnTo>
                    <a:pt x="0" y="120000"/>
                  </a:lnTo>
                </a:path>
              </a:pathLst>
            </a:custGeom>
            <a:noFill/>
            <a:ln w="12700" cap="flat" cmpd="sng">
              <a:solidFill>
                <a:srgbClr val="345A99"/>
              </a:solidFill>
              <a:prstDash val="solid"/>
              <a:miter lim="800000"/>
              <a:headEnd type="none" w="sm" len="sm"/>
              <a:tailEnd type="none" w="sm" len="sm"/>
            </a:ln>
          </p:spPr>
          <p:txBody>
            <a:bodyPr/>
            <a:lstStyle/>
            <a:p>
              <a:endParaRPr lang="es-CL"/>
            </a:p>
          </p:txBody>
        </p:sp>
        <p:sp>
          <p:nvSpPr>
            <p:cNvPr id="103" name="Google Shape;103;p18"/>
            <p:cNvSpPr/>
            <p:nvPr/>
          </p:nvSpPr>
          <p:spPr>
            <a:xfrm>
              <a:off x="3048000" y="1426976"/>
              <a:ext cx="2387100" cy="1209900"/>
            </a:xfrm>
            <a:custGeom>
              <a:avLst/>
              <a:gdLst/>
              <a:ahLst/>
              <a:cxnLst/>
              <a:rect l="l" t="t" r="r" b="b"/>
              <a:pathLst>
                <a:path w="120000" h="120000" extrusionOk="0">
                  <a:moveTo>
                    <a:pt x="0" y="0"/>
                  </a:moveTo>
                  <a:lnTo>
                    <a:pt x="0" y="106304"/>
                  </a:lnTo>
                  <a:lnTo>
                    <a:pt x="120000" y="106304"/>
                  </a:lnTo>
                  <a:lnTo>
                    <a:pt x="120000" y="120000"/>
                  </a:lnTo>
                </a:path>
              </a:pathLst>
            </a:custGeom>
            <a:noFill/>
            <a:ln w="12700" cap="flat" cmpd="sng">
              <a:solidFill>
                <a:srgbClr val="345A99"/>
              </a:solidFill>
              <a:prstDash val="solid"/>
              <a:miter lim="800000"/>
              <a:headEnd type="none" w="sm" len="sm"/>
              <a:tailEnd type="none" w="sm" len="sm"/>
            </a:ln>
          </p:spPr>
          <p:txBody>
            <a:bodyPr/>
            <a:lstStyle/>
            <a:p>
              <a:endParaRPr lang="es-CL"/>
            </a:p>
          </p:txBody>
        </p:sp>
        <p:sp>
          <p:nvSpPr>
            <p:cNvPr id="104" name="Google Shape;104;p18"/>
            <p:cNvSpPr/>
            <p:nvPr/>
          </p:nvSpPr>
          <p:spPr>
            <a:xfrm>
              <a:off x="3048000" y="1426976"/>
              <a:ext cx="795600" cy="1209900"/>
            </a:xfrm>
            <a:custGeom>
              <a:avLst/>
              <a:gdLst/>
              <a:ahLst/>
              <a:cxnLst/>
              <a:rect l="l" t="t" r="r" b="b"/>
              <a:pathLst>
                <a:path w="120000" h="120000" extrusionOk="0">
                  <a:moveTo>
                    <a:pt x="0" y="0"/>
                  </a:moveTo>
                  <a:lnTo>
                    <a:pt x="0" y="106304"/>
                  </a:lnTo>
                  <a:lnTo>
                    <a:pt x="120000" y="106304"/>
                  </a:lnTo>
                  <a:lnTo>
                    <a:pt x="120000" y="120000"/>
                  </a:lnTo>
                </a:path>
              </a:pathLst>
            </a:custGeom>
            <a:noFill/>
            <a:ln w="12700" cap="flat" cmpd="sng">
              <a:solidFill>
                <a:srgbClr val="345A99"/>
              </a:solidFill>
              <a:prstDash val="solid"/>
              <a:miter lim="800000"/>
              <a:headEnd type="none" w="sm" len="sm"/>
              <a:tailEnd type="none" w="sm" len="sm"/>
            </a:ln>
          </p:spPr>
          <p:txBody>
            <a:bodyPr/>
            <a:lstStyle/>
            <a:p>
              <a:endParaRPr lang="es-CL"/>
            </a:p>
          </p:txBody>
        </p:sp>
        <p:sp>
          <p:nvSpPr>
            <p:cNvPr id="105" name="Google Shape;105;p18"/>
            <p:cNvSpPr/>
            <p:nvPr/>
          </p:nvSpPr>
          <p:spPr>
            <a:xfrm>
              <a:off x="2252262" y="1426976"/>
              <a:ext cx="795600" cy="1209900"/>
            </a:xfrm>
            <a:custGeom>
              <a:avLst/>
              <a:gdLst/>
              <a:ahLst/>
              <a:cxnLst/>
              <a:rect l="l" t="t" r="r" b="b"/>
              <a:pathLst>
                <a:path w="120000" h="120000" extrusionOk="0">
                  <a:moveTo>
                    <a:pt x="120000" y="0"/>
                  </a:moveTo>
                  <a:lnTo>
                    <a:pt x="120000" y="106304"/>
                  </a:lnTo>
                  <a:lnTo>
                    <a:pt x="0" y="106304"/>
                  </a:lnTo>
                  <a:lnTo>
                    <a:pt x="0" y="120000"/>
                  </a:lnTo>
                </a:path>
              </a:pathLst>
            </a:custGeom>
            <a:noFill/>
            <a:ln w="12700" cap="flat" cmpd="sng">
              <a:solidFill>
                <a:srgbClr val="345A99"/>
              </a:solidFill>
              <a:prstDash val="solid"/>
              <a:miter lim="800000"/>
              <a:headEnd type="none" w="sm" len="sm"/>
              <a:tailEnd type="none" w="sm" len="sm"/>
            </a:ln>
          </p:spPr>
          <p:txBody>
            <a:bodyPr/>
            <a:lstStyle/>
            <a:p>
              <a:endParaRPr lang="es-CL"/>
            </a:p>
          </p:txBody>
        </p:sp>
        <p:sp>
          <p:nvSpPr>
            <p:cNvPr id="106" name="Google Shape;106;p18"/>
            <p:cNvSpPr/>
            <p:nvPr/>
          </p:nvSpPr>
          <p:spPr>
            <a:xfrm>
              <a:off x="660787" y="1426976"/>
              <a:ext cx="2387100" cy="1209900"/>
            </a:xfrm>
            <a:custGeom>
              <a:avLst/>
              <a:gdLst/>
              <a:ahLst/>
              <a:cxnLst/>
              <a:rect l="l" t="t" r="r" b="b"/>
              <a:pathLst>
                <a:path w="120000" h="120000" extrusionOk="0">
                  <a:moveTo>
                    <a:pt x="120000" y="0"/>
                  </a:moveTo>
                  <a:lnTo>
                    <a:pt x="120000" y="106304"/>
                  </a:lnTo>
                  <a:lnTo>
                    <a:pt x="0" y="106304"/>
                  </a:lnTo>
                  <a:lnTo>
                    <a:pt x="0" y="120000"/>
                  </a:lnTo>
                </a:path>
              </a:pathLst>
            </a:custGeom>
            <a:noFill/>
            <a:ln w="12700" cap="flat" cmpd="sng">
              <a:solidFill>
                <a:srgbClr val="345A99"/>
              </a:solidFill>
              <a:prstDash val="solid"/>
              <a:miter lim="800000"/>
              <a:headEnd type="none" w="sm" len="sm"/>
              <a:tailEnd type="none" w="sm" len="sm"/>
            </a:ln>
          </p:spPr>
          <p:txBody>
            <a:bodyPr/>
            <a:lstStyle/>
            <a:p>
              <a:endParaRPr lang="es-CL"/>
            </a:p>
          </p:txBody>
        </p:sp>
        <p:sp>
          <p:nvSpPr>
            <p:cNvPr id="107" name="Google Shape;107;p18"/>
            <p:cNvSpPr/>
            <p:nvPr/>
          </p:nvSpPr>
          <p:spPr>
            <a:xfrm>
              <a:off x="2390365" y="769342"/>
              <a:ext cx="1315200" cy="657600"/>
            </a:xfrm>
            <a:prstGeom prst="rect">
              <a:avLst/>
            </a:prstGeom>
            <a:solidFill>
              <a:srgbClr val="BBD6EE"/>
            </a:solidFill>
            <a:ln w="12700" cap="flat" cmpd="sng">
              <a:solidFill>
                <a:srgbClr val="FFFFFF"/>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18"/>
            <p:cNvSpPr txBox="1"/>
            <p:nvPr/>
          </p:nvSpPr>
          <p:spPr>
            <a:xfrm>
              <a:off x="2390365" y="769342"/>
              <a:ext cx="1315200" cy="657600"/>
            </a:xfrm>
            <a:prstGeom prst="rect">
              <a:avLst/>
            </a:prstGeom>
            <a:solidFill>
              <a:schemeClr val="accent3"/>
            </a:solidFill>
            <a:ln>
              <a:noFill/>
            </a:ln>
          </p:spPr>
          <p:txBody>
            <a:bodyPr spcFirstLastPara="1" wrap="square" lIns="10150" tIns="10150" rIns="10150" bIns="10150" anchor="ctr" anchorCtr="0">
              <a:noAutofit/>
            </a:bodyPr>
            <a:lstStyle/>
            <a:p>
              <a:pPr marL="0" marR="0" lvl="0" indent="0" algn="ctr" rtl="0">
                <a:lnSpc>
                  <a:spcPct val="90000"/>
                </a:lnSpc>
                <a:spcBef>
                  <a:spcPts val="0"/>
                </a:spcBef>
                <a:spcAft>
                  <a:spcPts val="0"/>
                </a:spcAft>
                <a:buNone/>
              </a:pPr>
              <a:r>
                <a:rPr lang="es" sz="1600">
                  <a:solidFill>
                    <a:schemeClr val="lt2"/>
                  </a:solidFill>
                  <a:latin typeface="EB Garamond"/>
                  <a:ea typeface="EB Garamond"/>
                  <a:cs typeface="EB Garamond"/>
                  <a:sym typeface="EB Garamond"/>
                </a:rPr>
                <a:t>Investigación cuantitativa</a:t>
              </a:r>
              <a:endParaRPr>
                <a:solidFill>
                  <a:schemeClr val="lt2"/>
                </a:solidFill>
                <a:latin typeface="EB Garamond"/>
                <a:ea typeface="EB Garamond"/>
                <a:cs typeface="EB Garamond"/>
                <a:sym typeface="EB Garamond"/>
              </a:endParaRPr>
            </a:p>
          </p:txBody>
        </p:sp>
        <p:sp>
          <p:nvSpPr>
            <p:cNvPr id="109" name="Google Shape;109;p18"/>
            <p:cNvSpPr/>
            <p:nvPr/>
          </p:nvSpPr>
          <p:spPr>
            <a:xfrm>
              <a:off x="3153" y="2637023"/>
              <a:ext cx="1315200" cy="657600"/>
            </a:xfrm>
            <a:prstGeom prst="rect">
              <a:avLst/>
            </a:prstGeom>
            <a:solidFill>
              <a:srgbClr val="FFC000"/>
            </a:solidFill>
            <a:ln w="12700" cap="flat" cmpd="sng">
              <a:solidFill>
                <a:srgbClr val="FFFFFF"/>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18"/>
            <p:cNvSpPr txBox="1"/>
            <p:nvPr/>
          </p:nvSpPr>
          <p:spPr>
            <a:xfrm>
              <a:off x="3153" y="2637023"/>
              <a:ext cx="1315200" cy="657600"/>
            </a:xfrm>
            <a:prstGeom prst="rect">
              <a:avLst/>
            </a:prstGeom>
            <a:noFill/>
            <a:ln>
              <a:noFill/>
            </a:ln>
          </p:spPr>
          <p:txBody>
            <a:bodyPr spcFirstLastPara="1" wrap="square" lIns="10775" tIns="10775" rIns="10775" bIns="10775" anchor="ctr" anchorCtr="0">
              <a:noAutofit/>
            </a:bodyPr>
            <a:lstStyle/>
            <a:p>
              <a:pPr marL="0" marR="0" lvl="0" indent="0" algn="ctr" rtl="0">
                <a:lnSpc>
                  <a:spcPct val="90000"/>
                </a:lnSpc>
                <a:spcBef>
                  <a:spcPts val="0"/>
                </a:spcBef>
                <a:spcAft>
                  <a:spcPts val="0"/>
                </a:spcAft>
                <a:buNone/>
              </a:pPr>
              <a:r>
                <a:rPr lang="es" sz="1700">
                  <a:solidFill>
                    <a:schemeClr val="dk2"/>
                  </a:solidFill>
                  <a:latin typeface="EB Garamond"/>
                  <a:ea typeface="EB Garamond"/>
                  <a:cs typeface="EB Garamond"/>
                  <a:sym typeface="EB Garamond"/>
                </a:rPr>
                <a:t>Exploratoria</a:t>
              </a:r>
              <a:endParaRPr>
                <a:solidFill>
                  <a:schemeClr val="dk2"/>
                </a:solidFill>
                <a:latin typeface="EB Garamond"/>
                <a:ea typeface="EB Garamond"/>
                <a:cs typeface="EB Garamond"/>
                <a:sym typeface="EB Garamond"/>
              </a:endParaRPr>
            </a:p>
          </p:txBody>
        </p:sp>
        <p:sp>
          <p:nvSpPr>
            <p:cNvPr id="111" name="Google Shape;111;p18"/>
            <p:cNvSpPr/>
            <p:nvPr/>
          </p:nvSpPr>
          <p:spPr>
            <a:xfrm>
              <a:off x="1594628" y="2637023"/>
              <a:ext cx="1315200" cy="657600"/>
            </a:xfrm>
            <a:prstGeom prst="rect">
              <a:avLst/>
            </a:prstGeom>
            <a:solidFill>
              <a:srgbClr val="FFC000"/>
            </a:solidFill>
            <a:ln w="12700" cap="flat" cmpd="sng">
              <a:solidFill>
                <a:srgbClr val="FFFFFF"/>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112;p18"/>
            <p:cNvSpPr txBox="1"/>
            <p:nvPr/>
          </p:nvSpPr>
          <p:spPr>
            <a:xfrm>
              <a:off x="1594628" y="2637023"/>
              <a:ext cx="1315200" cy="657600"/>
            </a:xfrm>
            <a:prstGeom prst="rect">
              <a:avLst/>
            </a:prstGeom>
            <a:noFill/>
            <a:ln>
              <a:noFill/>
            </a:ln>
          </p:spPr>
          <p:txBody>
            <a:bodyPr spcFirstLastPara="1" wrap="square" lIns="10775" tIns="10775" rIns="10775" bIns="10775" anchor="ctr" anchorCtr="0">
              <a:noAutofit/>
            </a:bodyPr>
            <a:lstStyle/>
            <a:p>
              <a:pPr marL="0" marR="0" lvl="0" indent="0" algn="ctr" rtl="0">
                <a:lnSpc>
                  <a:spcPct val="90000"/>
                </a:lnSpc>
                <a:spcBef>
                  <a:spcPts val="0"/>
                </a:spcBef>
                <a:spcAft>
                  <a:spcPts val="0"/>
                </a:spcAft>
                <a:buNone/>
              </a:pPr>
              <a:r>
                <a:rPr lang="es" sz="1700">
                  <a:solidFill>
                    <a:schemeClr val="dk2"/>
                  </a:solidFill>
                  <a:latin typeface="EB Garamond"/>
                  <a:ea typeface="EB Garamond"/>
                  <a:cs typeface="EB Garamond"/>
                  <a:sym typeface="EB Garamond"/>
                </a:rPr>
                <a:t>Descriptiva</a:t>
              </a:r>
              <a:endParaRPr>
                <a:solidFill>
                  <a:schemeClr val="dk2"/>
                </a:solidFill>
                <a:latin typeface="EB Garamond"/>
                <a:ea typeface="EB Garamond"/>
                <a:cs typeface="EB Garamond"/>
                <a:sym typeface="EB Garamond"/>
              </a:endParaRPr>
            </a:p>
          </p:txBody>
        </p:sp>
        <p:sp>
          <p:nvSpPr>
            <p:cNvPr id="113" name="Google Shape;113;p18"/>
            <p:cNvSpPr/>
            <p:nvPr/>
          </p:nvSpPr>
          <p:spPr>
            <a:xfrm>
              <a:off x="3186103" y="2637023"/>
              <a:ext cx="1315200" cy="657600"/>
            </a:xfrm>
            <a:prstGeom prst="rect">
              <a:avLst/>
            </a:prstGeom>
            <a:solidFill>
              <a:srgbClr val="FFC000"/>
            </a:solidFill>
            <a:ln w="12700" cap="flat" cmpd="sng">
              <a:solidFill>
                <a:srgbClr val="FFFFFF"/>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18"/>
            <p:cNvSpPr txBox="1"/>
            <p:nvPr/>
          </p:nvSpPr>
          <p:spPr>
            <a:xfrm>
              <a:off x="3186103" y="2637023"/>
              <a:ext cx="1315200" cy="657600"/>
            </a:xfrm>
            <a:prstGeom prst="rect">
              <a:avLst/>
            </a:prstGeom>
            <a:noFill/>
            <a:ln>
              <a:noFill/>
            </a:ln>
          </p:spPr>
          <p:txBody>
            <a:bodyPr spcFirstLastPara="1" wrap="square" lIns="10775" tIns="10775" rIns="10775" bIns="10775" anchor="ctr" anchorCtr="0">
              <a:noAutofit/>
            </a:bodyPr>
            <a:lstStyle/>
            <a:p>
              <a:pPr marL="0" marR="0" lvl="0" indent="0" algn="ctr" rtl="0">
                <a:lnSpc>
                  <a:spcPct val="90000"/>
                </a:lnSpc>
                <a:spcBef>
                  <a:spcPts val="0"/>
                </a:spcBef>
                <a:spcAft>
                  <a:spcPts val="0"/>
                </a:spcAft>
                <a:buNone/>
              </a:pPr>
              <a:r>
                <a:rPr lang="es" sz="1700">
                  <a:solidFill>
                    <a:schemeClr val="dk2"/>
                  </a:solidFill>
                  <a:latin typeface="EB Garamond"/>
                  <a:ea typeface="EB Garamond"/>
                  <a:cs typeface="EB Garamond"/>
                  <a:sym typeface="EB Garamond"/>
                </a:rPr>
                <a:t>Correlacional</a:t>
              </a:r>
              <a:endParaRPr>
                <a:solidFill>
                  <a:schemeClr val="dk2"/>
                </a:solidFill>
                <a:latin typeface="EB Garamond"/>
                <a:ea typeface="EB Garamond"/>
                <a:cs typeface="EB Garamond"/>
                <a:sym typeface="EB Garamond"/>
              </a:endParaRPr>
            </a:p>
          </p:txBody>
        </p:sp>
        <p:sp>
          <p:nvSpPr>
            <p:cNvPr id="115" name="Google Shape;115;p18"/>
            <p:cNvSpPr/>
            <p:nvPr/>
          </p:nvSpPr>
          <p:spPr>
            <a:xfrm>
              <a:off x="4777578" y="2637023"/>
              <a:ext cx="1315200" cy="657600"/>
            </a:xfrm>
            <a:prstGeom prst="rect">
              <a:avLst/>
            </a:prstGeom>
            <a:solidFill>
              <a:srgbClr val="FFC000"/>
            </a:solidFill>
            <a:ln w="12700" cap="flat" cmpd="sng">
              <a:solidFill>
                <a:srgbClr val="FFFFFF"/>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18"/>
            <p:cNvSpPr txBox="1"/>
            <p:nvPr/>
          </p:nvSpPr>
          <p:spPr>
            <a:xfrm>
              <a:off x="4777578" y="2637023"/>
              <a:ext cx="1315200" cy="657600"/>
            </a:xfrm>
            <a:prstGeom prst="rect">
              <a:avLst/>
            </a:prstGeom>
            <a:noFill/>
            <a:ln>
              <a:noFill/>
            </a:ln>
          </p:spPr>
          <p:txBody>
            <a:bodyPr spcFirstLastPara="1" wrap="square" lIns="10775" tIns="10775" rIns="10775" bIns="10775" anchor="ctr" anchorCtr="0">
              <a:noAutofit/>
            </a:bodyPr>
            <a:lstStyle/>
            <a:p>
              <a:pPr marL="0" marR="0" lvl="0" indent="0" algn="ctr" rtl="0">
                <a:lnSpc>
                  <a:spcPct val="90000"/>
                </a:lnSpc>
                <a:spcBef>
                  <a:spcPts val="0"/>
                </a:spcBef>
                <a:spcAft>
                  <a:spcPts val="0"/>
                </a:spcAft>
                <a:buNone/>
              </a:pPr>
              <a:r>
                <a:rPr lang="es" sz="1700">
                  <a:solidFill>
                    <a:schemeClr val="dk2"/>
                  </a:solidFill>
                  <a:latin typeface="EB Garamond"/>
                  <a:ea typeface="EB Garamond"/>
                  <a:cs typeface="EB Garamond"/>
                  <a:sym typeface="EB Garamond"/>
                </a:rPr>
                <a:t>Causal</a:t>
              </a:r>
              <a:endParaRPr>
                <a:solidFill>
                  <a:schemeClr val="dk2"/>
                </a:solidFill>
                <a:latin typeface="EB Garamond"/>
                <a:ea typeface="EB Garamond"/>
                <a:cs typeface="EB Garamond"/>
                <a:sym typeface="EB Garamond"/>
              </a:endParaRPr>
            </a:p>
          </p:txBody>
        </p:sp>
        <p:sp>
          <p:nvSpPr>
            <p:cNvPr id="117" name="Google Shape;117;p18"/>
            <p:cNvSpPr/>
            <p:nvPr/>
          </p:nvSpPr>
          <p:spPr>
            <a:xfrm>
              <a:off x="1594628" y="1703182"/>
              <a:ext cx="1315200" cy="657600"/>
            </a:xfrm>
            <a:prstGeom prst="rect">
              <a:avLst/>
            </a:prstGeom>
            <a:solidFill>
              <a:srgbClr val="156C77"/>
            </a:solidFill>
            <a:ln w="12700" cap="flat" cmpd="sng">
              <a:solidFill>
                <a:srgbClr val="FFFFFF"/>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18"/>
            <p:cNvSpPr txBox="1"/>
            <p:nvPr/>
          </p:nvSpPr>
          <p:spPr>
            <a:xfrm>
              <a:off x="1594628" y="1703182"/>
              <a:ext cx="1315200" cy="657600"/>
            </a:xfrm>
            <a:prstGeom prst="rect">
              <a:avLst/>
            </a:prstGeom>
            <a:noFill/>
            <a:ln>
              <a:noFill/>
            </a:ln>
          </p:spPr>
          <p:txBody>
            <a:bodyPr spcFirstLastPara="1" wrap="square" lIns="6975" tIns="6975" rIns="6975" bIns="6975" anchor="ctr" anchorCtr="0">
              <a:noAutofit/>
            </a:bodyPr>
            <a:lstStyle/>
            <a:p>
              <a:pPr marL="0" marR="0" lvl="0" indent="0" algn="ctr" rtl="0">
                <a:lnSpc>
                  <a:spcPct val="90000"/>
                </a:lnSpc>
                <a:spcBef>
                  <a:spcPts val="0"/>
                </a:spcBef>
                <a:spcAft>
                  <a:spcPts val="0"/>
                </a:spcAft>
                <a:buNone/>
              </a:pPr>
              <a:r>
                <a:rPr lang="es" sz="1200">
                  <a:solidFill>
                    <a:srgbClr val="FFFFFF"/>
                  </a:solidFill>
                  <a:latin typeface="EB Garamond"/>
                  <a:ea typeface="EB Garamond"/>
                  <a:cs typeface="EB Garamond"/>
                  <a:sym typeface="EB Garamond"/>
                </a:rPr>
                <a:t>Según la revisión de literatura</a:t>
              </a:r>
              <a:endParaRPr sz="1200">
                <a:latin typeface="EB Garamond"/>
                <a:ea typeface="EB Garamond"/>
                <a:cs typeface="EB Garamond"/>
                <a:sym typeface="EB Garamond"/>
              </a:endParaRPr>
            </a:p>
          </p:txBody>
        </p:sp>
        <p:sp>
          <p:nvSpPr>
            <p:cNvPr id="119" name="Google Shape;119;p18"/>
            <p:cNvSpPr/>
            <p:nvPr/>
          </p:nvSpPr>
          <p:spPr>
            <a:xfrm>
              <a:off x="3186103" y="1703182"/>
              <a:ext cx="1315200" cy="657600"/>
            </a:xfrm>
            <a:prstGeom prst="rect">
              <a:avLst/>
            </a:prstGeom>
            <a:solidFill>
              <a:srgbClr val="156C77"/>
            </a:solidFill>
            <a:ln w="12700" cap="flat" cmpd="sng">
              <a:solidFill>
                <a:srgbClr val="FFFFFF"/>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18"/>
            <p:cNvSpPr txBox="1"/>
            <p:nvPr/>
          </p:nvSpPr>
          <p:spPr>
            <a:xfrm>
              <a:off x="3186103" y="1703182"/>
              <a:ext cx="1315200" cy="657600"/>
            </a:xfrm>
            <a:prstGeom prst="rect">
              <a:avLst/>
            </a:prstGeom>
            <a:noFill/>
            <a:ln>
              <a:noFill/>
            </a:ln>
          </p:spPr>
          <p:txBody>
            <a:bodyPr spcFirstLastPara="1" wrap="square" lIns="6975" tIns="6975" rIns="6975" bIns="6975" anchor="ctr" anchorCtr="0">
              <a:noAutofit/>
            </a:bodyPr>
            <a:lstStyle/>
            <a:p>
              <a:pPr marL="0" marR="0" lvl="0" indent="0" algn="ctr" rtl="0">
                <a:lnSpc>
                  <a:spcPct val="90000"/>
                </a:lnSpc>
                <a:spcBef>
                  <a:spcPts val="0"/>
                </a:spcBef>
                <a:spcAft>
                  <a:spcPts val="0"/>
                </a:spcAft>
                <a:buNone/>
              </a:pPr>
              <a:r>
                <a:rPr lang="es" sz="1200">
                  <a:solidFill>
                    <a:srgbClr val="FFFFFF"/>
                  </a:solidFill>
                  <a:latin typeface="EB Garamond"/>
                  <a:ea typeface="EB Garamond"/>
                  <a:cs typeface="EB Garamond"/>
                  <a:sym typeface="EB Garamond"/>
                </a:rPr>
                <a:t>Según los objetivos de investigación</a:t>
              </a:r>
              <a:endParaRPr sz="1200">
                <a:latin typeface="EB Garamond"/>
                <a:ea typeface="EB Garamond"/>
                <a:cs typeface="EB Garamond"/>
                <a:sym typeface="EB Garamond"/>
              </a:endParaRPr>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1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b="1">
                <a:latin typeface="EB Garamond"/>
                <a:ea typeface="EB Garamond"/>
                <a:cs typeface="EB Garamond"/>
                <a:sym typeface="EB Garamond"/>
              </a:rPr>
              <a:t>Investigación social cuantitativa</a:t>
            </a:r>
            <a:endParaRPr b="1">
              <a:latin typeface="EB Garamond"/>
              <a:ea typeface="EB Garamond"/>
              <a:cs typeface="EB Garamond"/>
              <a:sym typeface="EB Garamond"/>
            </a:endParaRPr>
          </a:p>
        </p:txBody>
      </p:sp>
      <p:sp>
        <p:nvSpPr>
          <p:cNvPr id="126" name="Google Shape;126;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s"/>
              <a:t>7</a:t>
            </a:fld>
            <a:endParaRPr/>
          </a:p>
        </p:txBody>
      </p:sp>
      <p:grpSp>
        <p:nvGrpSpPr>
          <p:cNvPr id="127" name="Google Shape;127;p19"/>
          <p:cNvGrpSpPr/>
          <p:nvPr/>
        </p:nvGrpSpPr>
        <p:grpSpPr>
          <a:xfrm>
            <a:off x="1527153" y="1309092"/>
            <a:ext cx="6089625" cy="2525281"/>
            <a:chOff x="3153" y="769342"/>
            <a:chExt cx="6089625" cy="2525281"/>
          </a:xfrm>
        </p:grpSpPr>
        <p:sp>
          <p:nvSpPr>
            <p:cNvPr id="128" name="Google Shape;128;p19"/>
            <p:cNvSpPr/>
            <p:nvPr/>
          </p:nvSpPr>
          <p:spPr>
            <a:xfrm>
              <a:off x="3048000" y="1426976"/>
              <a:ext cx="138000" cy="605100"/>
            </a:xfrm>
            <a:custGeom>
              <a:avLst/>
              <a:gdLst/>
              <a:ahLst/>
              <a:cxnLst/>
              <a:rect l="l" t="t" r="r" b="b"/>
              <a:pathLst>
                <a:path w="120000" h="120000" extrusionOk="0">
                  <a:moveTo>
                    <a:pt x="0" y="0"/>
                  </a:moveTo>
                  <a:lnTo>
                    <a:pt x="0" y="120000"/>
                  </a:lnTo>
                  <a:lnTo>
                    <a:pt x="120000" y="120000"/>
                  </a:lnTo>
                </a:path>
              </a:pathLst>
            </a:custGeom>
            <a:noFill/>
            <a:ln w="12700" cap="flat" cmpd="sng">
              <a:solidFill>
                <a:srgbClr val="345A99"/>
              </a:solidFill>
              <a:prstDash val="solid"/>
              <a:miter lim="800000"/>
              <a:headEnd type="none" w="sm" len="sm"/>
              <a:tailEnd type="none" w="sm" len="sm"/>
            </a:ln>
          </p:spPr>
          <p:txBody>
            <a:bodyPr/>
            <a:lstStyle/>
            <a:p>
              <a:endParaRPr lang="es-CL"/>
            </a:p>
          </p:txBody>
        </p:sp>
        <p:sp>
          <p:nvSpPr>
            <p:cNvPr id="129" name="Google Shape;129;p19"/>
            <p:cNvSpPr/>
            <p:nvPr/>
          </p:nvSpPr>
          <p:spPr>
            <a:xfrm>
              <a:off x="2909896" y="1426976"/>
              <a:ext cx="138000" cy="605100"/>
            </a:xfrm>
            <a:custGeom>
              <a:avLst/>
              <a:gdLst/>
              <a:ahLst/>
              <a:cxnLst/>
              <a:rect l="l" t="t" r="r" b="b"/>
              <a:pathLst>
                <a:path w="120000" h="120000" extrusionOk="0">
                  <a:moveTo>
                    <a:pt x="120000" y="0"/>
                  </a:moveTo>
                  <a:lnTo>
                    <a:pt x="120000" y="120000"/>
                  </a:lnTo>
                  <a:lnTo>
                    <a:pt x="0" y="120000"/>
                  </a:lnTo>
                </a:path>
              </a:pathLst>
            </a:custGeom>
            <a:noFill/>
            <a:ln w="12700" cap="flat" cmpd="sng">
              <a:solidFill>
                <a:srgbClr val="345A99"/>
              </a:solidFill>
              <a:prstDash val="solid"/>
              <a:miter lim="800000"/>
              <a:headEnd type="none" w="sm" len="sm"/>
              <a:tailEnd type="none" w="sm" len="sm"/>
            </a:ln>
          </p:spPr>
          <p:txBody>
            <a:bodyPr/>
            <a:lstStyle/>
            <a:p>
              <a:endParaRPr lang="es-CL"/>
            </a:p>
          </p:txBody>
        </p:sp>
        <p:sp>
          <p:nvSpPr>
            <p:cNvPr id="130" name="Google Shape;130;p19"/>
            <p:cNvSpPr/>
            <p:nvPr/>
          </p:nvSpPr>
          <p:spPr>
            <a:xfrm>
              <a:off x="3048000" y="1426976"/>
              <a:ext cx="2387100" cy="1209900"/>
            </a:xfrm>
            <a:custGeom>
              <a:avLst/>
              <a:gdLst/>
              <a:ahLst/>
              <a:cxnLst/>
              <a:rect l="l" t="t" r="r" b="b"/>
              <a:pathLst>
                <a:path w="120000" h="120000" extrusionOk="0">
                  <a:moveTo>
                    <a:pt x="0" y="0"/>
                  </a:moveTo>
                  <a:lnTo>
                    <a:pt x="0" y="106304"/>
                  </a:lnTo>
                  <a:lnTo>
                    <a:pt x="120000" y="106304"/>
                  </a:lnTo>
                  <a:lnTo>
                    <a:pt x="120000" y="120000"/>
                  </a:lnTo>
                </a:path>
              </a:pathLst>
            </a:custGeom>
            <a:noFill/>
            <a:ln w="12700" cap="flat" cmpd="sng">
              <a:solidFill>
                <a:srgbClr val="345A99"/>
              </a:solidFill>
              <a:prstDash val="solid"/>
              <a:miter lim="800000"/>
              <a:headEnd type="none" w="sm" len="sm"/>
              <a:tailEnd type="none" w="sm" len="sm"/>
            </a:ln>
          </p:spPr>
          <p:txBody>
            <a:bodyPr/>
            <a:lstStyle/>
            <a:p>
              <a:endParaRPr lang="es-CL"/>
            </a:p>
          </p:txBody>
        </p:sp>
        <p:sp>
          <p:nvSpPr>
            <p:cNvPr id="131" name="Google Shape;131;p19"/>
            <p:cNvSpPr/>
            <p:nvPr/>
          </p:nvSpPr>
          <p:spPr>
            <a:xfrm>
              <a:off x="3048000" y="1426976"/>
              <a:ext cx="795600" cy="1209900"/>
            </a:xfrm>
            <a:custGeom>
              <a:avLst/>
              <a:gdLst/>
              <a:ahLst/>
              <a:cxnLst/>
              <a:rect l="l" t="t" r="r" b="b"/>
              <a:pathLst>
                <a:path w="120000" h="120000" extrusionOk="0">
                  <a:moveTo>
                    <a:pt x="0" y="0"/>
                  </a:moveTo>
                  <a:lnTo>
                    <a:pt x="0" y="106304"/>
                  </a:lnTo>
                  <a:lnTo>
                    <a:pt x="120000" y="106304"/>
                  </a:lnTo>
                  <a:lnTo>
                    <a:pt x="120000" y="120000"/>
                  </a:lnTo>
                </a:path>
              </a:pathLst>
            </a:custGeom>
            <a:noFill/>
            <a:ln w="12700" cap="flat" cmpd="sng">
              <a:solidFill>
                <a:srgbClr val="345A99"/>
              </a:solidFill>
              <a:prstDash val="solid"/>
              <a:miter lim="800000"/>
              <a:headEnd type="none" w="sm" len="sm"/>
              <a:tailEnd type="none" w="sm" len="sm"/>
            </a:ln>
          </p:spPr>
          <p:txBody>
            <a:bodyPr/>
            <a:lstStyle/>
            <a:p>
              <a:endParaRPr lang="es-CL"/>
            </a:p>
          </p:txBody>
        </p:sp>
        <p:sp>
          <p:nvSpPr>
            <p:cNvPr id="132" name="Google Shape;132;p19"/>
            <p:cNvSpPr/>
            <p:nvPr/>
          </p:nvSpPr>
          <p:spPr>
            <a:xfrm>
              <a:off x="2252262" y="1426976"/>
              <a:ext cx="795600" cy="1209900"/>
            </a:xfrm>
            <a:custGeom>
              <a:avLst/>
              <a:gdLst/>
              <a:ahLst/>
              <a:cxnLst/>
              <a:rect l="l" t="t" r="r" b="b"/>
              <a:pathLst>
                <a:path w="120000" h="120000" extrusionOk="0">
                  <a:moveTo>
                    <a:pt x="120000" y="0"/>
                  </a:moveTo>
                  <a:lnTo>
                    <a:pt x="120000" y="106304"/>
                  </a:lnTo>
                  <a:lnTo>
                    <a:pt x="0" y="106304"/>
                  </a:lnTo>
                  <a:lnTo>
                    <a:pt x="0" y="120000"/>
                  </a:lnTo>
                </a:path>
              </a:pathLst>
            </a:custGeom>
            <a:noFill/>
            <a:ln w="12700" cap="flat" cmpd="sng">
              <a:solidFill>
                <a:srgbClr val="345A99"/>
              </a:solidFill>
              <a:prstDash val="solid"/>
              <a:miter lim="800000"/>
              <a:headEnd type="none" w="sm" len="sm"/>
              <a:tailEnd type="none" w="sm" len="sm"/>
            </a:ln>
          </p:spPr>
          <p:txBody>
            <a:bodyPr/>
            <a:lstStyle/>
            <a:p>
              <a:endParaRPr lang="es-CL"/>
            </a:p>
          </p:txBody>
        </p:sp>
        <p:sp>
          <p:nvSpPr>
            <p:cNvPr id="133" name="Google Shape;133;p19"/>
            <p:cNvSpPr/>
            <p:nvPr/>
          </p:nvSpPr>
          <p:spPr>
            <a:xfrm>
              <a:off x="660787" y="1426976"/>
              <a:ext cx="2387100" cy="1209900"/>
            </a:xfrm>
            <a:custGeom>
              <a:avLst/>
              <a:gdLst/>
              <a:ahLst/>
              <a:cxnLst/>
              <a:rect l="l" t="t" r="r" b="b"/>
              <a:pathLst>
                <a:path w="120000" h="120000" extrusionOk="0">
                  <a:moveTo>
                    <a:pt x="120000" y="0"/>
                  </a:moveTo>
                  <a:lnTo>
                    <a:pt x="120000" y="106304"/>
                  </a:lnTo>
                  <a:lnTo>
                    <a:pt x="0" y="106304"/>
                  </a:lnTo>
                  <a:lnTo>
                    <a:pt x="0" y="120000"/>
                  </a:lnTo>
                </a:path>
              </a:pathLst>
            </a:custGeom>
            <a:noFill/>
            <a:ln w="12700" cap="flat" cmpd="sng">
              <a:solidFill>
                <a:srgbClr val="345A99"/>
              </a:solidFill>
              <a:prstDash val="solid"/>
              <a:miter lim="800000"/>
              <a:headEnd type="none" w="sm" len="sm"/>
              <a:tailEnd type="none" w="sm" len="sm"/>
            </a:ln>
          </p:spPr>
          <p:txBody>
            <a:bodyPr/>
            <a:lstStyle/>
            <a:p>
              <a:endParaRPr lang="es-CL"/>
            </a:p>
          </p:txBody>
        </p:sp>
        <p:sp>
          <p:nvSpPr>
            <p:cNvPr id="134" name="Google Shape;134;p19"/>
            <p:cNvSpPr/>
            <p:nvPr/>
          </p:nvSpPr>
          <p:spPr>
            <a:xfrm>
              <a:off x="2390365" y="769342"/>
              <a:ext cx="1315200" cy="657600"/>
            </a:xfrm>
            <a:prstGeom prst="rect">
              <a:avLst/>
            </a:prstGeom>
            <a:solidFill>
              <a:srgbClr val="BBD6EE"/>
            </a:solidFill>
            <a:ln w="12700" cap="flat" cmpd="sng">
              <a:solidFill>
                <a:srgbClr val="FFFFFF"/>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 name="Google Shape;135;p19"/>
            <p:cNvSpPr txBox="1"/>
            <p:nvPr/>
          </p:nvSpPr>
          <p:spPr>
            <a:xfrm>
              <a:off x="2390365" y="769342"/>
              <a:ext cx="1315200" cy="657600"/>
            </a:xfrm>
            <a:prstGeom prst="rect">
              <a:avLst/>
            </a:prstGeom>
            <a:noFill/>
            <a:ln>
              <a:noFill/>
            </a:ln>
          </p:spPr>
          <p:txBody>
            <a:bodyPr spcFirstLastPara="1" wrap="square" lIns="10150" tIns="10150" rIns="10150" bIns="10150" anchor="ctr" anchorCtr="0">
              <a:noAutofit/>
            </a:bodyPr>
            <a:lstStyle/>
            <a:p>
              <a:pPr marL="0" marR="0" lvl="0" indent="0" algn="ctr" rtl="0">
                <a:lnSpc>
                  <a:spcPct val="90000"/>
                </a:lnSpc>
                <a:spcBef>
                  <a:spcPts val="0"/>
                </a:spcBef>
                <a:spcAft>
                  <a:spcPts val="0"/>
                </a:spcAft>
                <a:buNone/>
              </a:pPr>
              <a:r>
                <a:rPr lang="es" sz="1600">
                  <a:solidFill>
                    <a:srgbClr val="000000"/>
                  </a:solidFill>
                  <a:latin typeface="EB Garamond"/>
                  <a:ea typeface="EB Garamond"/>
                  <a:cs typeface="EB Garamond"/>
                  <a:sym typeface="EB Garamond"/>
                </a:rPr>
                <a:t>Investigación cuantitativa</a:t>
              </a:r>
              <a:endParaRPr>
                <a:latin typeface="EB Garamond"/>
                <a:ea typeface="EB Garamond"/>
                <a:cs typeface="EB Garamond"/>
                <a:sym typeface="EB Garamond"/>
              </a:endParaRPr>
            </a:p>
          </p:txBody>
        </p:sp>
        <p:sp>
          <p:nvSpPr>
            <p:cNvPr id="136" name="Google Shape;136;p19"/>
            <p:cNvSpPr/>
            <p:nvPr/>
          </p:nvSpPr>
          <p:spPr>
            <a:xfrm>
              <a:off x="3153" y="2637023"/>
              <a:ext cx="1315200" cy="657600"/>
            </a:xfrm>
            <a:prstGeom prst="rect">
              <a:avLst/>
            </a:prstGeom>
            <a:solidFill>
              <a:srgbClr val="FFC000"/>
            </a:solidFill>
            <a:ln w="12700" cap="flat" cmpd="sng">
              <a:solidFill>
                <a:srgbClr val="FFFFFF"/>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 name="Google Shape;137;p19"/>
            <p:cNvSpPr txBox="1"/>
            <p:nvPr/>
          </p:nvSpPr>
          <p:spPr>
            <a:xfrm>
              <a:off x="3153" y="2637023"/>
              <a:ext cx="1315200" cy="657600"/>
            </a:xfrm>
            <a:prstGeom prst="rect">
              <a:avLst/>
            </a:prstGeom>
            <a:noFill/>
            <a:ln>
              <a:noFill/>
            </a:ln>
          </p:spPr>
          <p:txBody>
            <a:bodyPr spcFirstLastPara="1" wrap="square" lIns="10775" tIns="10775" rIns="10775" bIns="10775" anchor="ctr" anchorCtr="0">
              <a:noAutofit/>
            </a:bodyPr>
            <a:lstStyle/>
            <a:p>
              <a:pPr marL="0" marR="0" lvl="0" indent="0" algn="ctr" rtl="0">
                <a:lnSpc>
                  <a:spcPct val="90000"/>
                </a:lnSpc>
                <a:spcBef>
                  <a:spcPts val="0"/>
                </a:spcBef>
                <a:spcAft>
                  <a:spcPts val="0"/>
                </a:spcAft>
                <a:buNone/>
              </a:pPr>
              <a:r>
                <a:rPr lang="es" sz="1700">
                  <a:solidFill>
                    <a:schemeClr val="dk2"/>
                  </a:solidFill>
                  <a:latin typeface="EB Garamond"/>
                  <a:ea typeface="EB Garamond"/>
                  <a:cs typeface="EB Garamond"/>
                  <a:sym typeface="EB Garamond"/>
                </a:rPr>
                <a:t>Exploratoria</a:t>
              </a:r>
              <a:endParaRPr>
                <a:solidFill>
                  <a:schemeClr val="dk2"/>
                </a:solidFill>
                <a:latin typeface="EB Garamond"/>
                <a:ea typeface="EB Garamond"/>
                <a:cs typeface="EB Garamond"/>
                <a:sym typeface="EB Garamond"/>
              </a:endParaRPr>
            </a:p>
          </p:txBody>
        </p:sp>
        <p:sp>
          <p:nvSpPr>
            <p:cNvPr id="138" name="Google Shape;138;p19"/>
            <p:cNvSpPr/>
            <p:nvPr/>
          </p:nvSpPr>
          <p:spPr>
            <a:xfrm>
              <a:off x="1594628" y="2637023"/>
              <a:ext cx="1315200" cy="657600"/>
            </a:xfrm>
            <a:prstGeom prst="rect">
              <a:avLst/>
            </a:prstGeom>
            <a:solidFill>
              <a:srgbClr val="FFC000"/>
            </a:solidFill>
            <a:ln w="12700" cap="flat" cmpd="sng">
              <a:solidFill>
                <a:srgbClr val="FFFFFF"/>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19"/>
            <p:cNvSpPr txBox="1"/>
            <p:nvPr/>
          </p:nvSpPr>
          <p:spPr>
            <a:xfrm>
              <a:off x="1594628" y="2637023"/>
              <a:ext cx="1315200" cy="657600"/>
            </a:xfrm>
            <a:prstGeom prst="rect">
              <a:avLst/>
            </a:prstGeom>
            <a:noFill/>
            <a:ln>
              <a:noFill/>
            </a:ln>
          </p:spPr>
          <p:txBody>
            <a:bodyPr spcFirstLastPara="1" wrap="square" lIns="10775" tIns="10775" rIns="10775" bIns="10775" anchor="ctr" anchorCtr="0">
              <a:noAutofit/>
            </a:bodyPr>
            <a:lstStyle/>
            <a:p>
              <a:pPr marL="0" marR="0" lvl="0" indent="0" algn="ctr" rtl="0">
                <a:lnSpc>
                  <a:spcPct val="90000"/>
                </a:lnSpc>
                <a:spcBef>
                  <a:spcPts val="0"/>
                </a:spcBef>
                <a:spcAft>
                  <a:spcPts val="0"/>
                </a:spcAft>
                <a:buNone/>
              </a:pPr>
              <a:r>
                <a:rPr lang="es" sz="1700">
                  <a:solidFill>
                    <a:schemeClr val="dk2"/>
                  </a:solidFill>
                  <a:latin typeface="EB Garamond"/>
                  <a:ea typeface="EB Garamond"/>
                  <a:cs typeface="EB Garamond"/>
                  <a:sym typeface="EB Garamond"/>
                </a:rPr>
                <a:t>Descriptiva</a:t>
              </a:r>
              <a:endParaRPr>
                <a:solidFill>
                  <a:schemeClr val="dk2"/>
                </a:solidFill>
                <a:latin typeface="EB Garamond"/>
                <a:ea typeface="EB Garamond"/>
                <a:cs typeface="EB Garamond"/>
                <a:sym typeface="EB Garamond"/>
              </a:endParaRPr>
            </a:p>
          </p:txBody>
        </p:sp>
        <p:sp>
          <p:nvSpPr>
            <p:cNvPr id="140" name="Google Shape;140;p19"/>
            <p:cNvSpPr/>
            <p:nvPr/>
          </p:nvSpPr>
          <p:spPr>
            <a:xfrm>
              <a:off x="3186103" y="2637023"/>
              <a:ext cx="1315200" cy="657600"/>
            </a:xfrm>
            <a:prstGeom prst="rect">
              <a:avLst/>
            </a:prstGeom>
            <a:solidFill>
              <a:srgbClr val="FFC000"/>
            </a:solidFill>
            <a:ln w="12700" cap="flat" cmpd="sng">
              <a:solidFill>
                <a:srgbClr val="FFFFFF"/>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141;p19"/>
            <p:cNvSpPr txBox="1"/>
            <p:nvPr/>
          </p:nvSpPr>
          <p:spPr>
            <a:xfrm>
              <a:off x="3186103" y="2637023"/>
              <a:ext cx="1315200" cy="657600"/>
            </a:xfrm>
            <a:prstGeom prst="rect">
              <a:avLst/>
            </a:prstGeom>
            <a:noFill/>
            <a:ln>
              <a:noFill/>
            </a:ln>
          </p:spPr>
          <p:txBody>
            <a:bodyPr spcFirstLastPara="1" wrap="square" lIns="10775" tIns="10775" rIns="10775" bIns="10775" anchor="ctr" anchorCtr="0">
              <a:noAutofit/>
            </a:bodyPr>
            <a:lstStyle/>
            <a:p>
              <a:pPr marL="0" marR="0" lvl="0" indent="0" algn="ctr" rtl="0">
                <a:lnSpc>
                  <a:spcPct val="90000"/>
                </a:lnSpc>
                <a:spcBef>
                  <a:spcPts val="0"/>
                </a:spcBef>
                <a:spcAft>
                  <a:spcPts val="0"/>
                </a:spcAft>
                <a:buNone/>
              </a:pPr>
              <a:r>
                <a:rPr lang="es" sz="1700">
                  <a:solidFill>
                    <a:schemeClr val="dk2"/>
                  </a:solidFill>
                  <a:latin typeface="EB Garamond"/>
                  <a:ea typeface="EB Garamond"/>
                  <a:cs typeface="EB Garamond"/>
                  <a:sym typeface="EB Garamond"/>
                </a:rPr>
                <a:t>Correlacional</a:t>
              </a:r>
              <a:endParaRPr>
                <a:solidFill>
                  <a:schemeClr val="dk2"/>
                </a:solidFill>
                <a:latin typeface="EB Garamond"/>
                <a:ea typeface="EB Garamond"/>
                <a:cs typeface="EB Garamond"/>
                <a:sym typeface="EB Garamond"/>
              </a:endParaRPr>
            </a:p>
          </p:txBody>
        </p:sp>
        <p:sp>
          <p:nvSpPr>
            <p:cNvPr id="142" name="Google Shape;142;p19"/>
            <p:cNvSpPr/>
            <p:nvPr/>
          </p:nvSpPr>
          <p:spPr>
            <a:xfrm>
              <a:off x="4777578" y="2637023"/>
              <a:ext cx="1315200" cy="657600"/>
            </a:xfrm>
            <a:prstGeom prst="rect">
              <a:avLst/>
            </a:prstGeom>
            <a:solidFill>
              <a:srgbClr val="FFC000"/>
            </a:solidFill>
            <a:ln w="12700" cap="flat" cmpd="sng">
              <a:solidFill>
                <a:srgbClr val="FFFFFF"/>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143;p19"/>
            <p:cNvSpPr txBox="1"/>
            <p:nvPr/>
          </p:nvSpPr>
          <p:spPr>
            <a:xfrm>
              <a:off x="4777578" y="2637023"/>
              <a:ext cx="1315200" cy="657600"/>
            </a:xfrm>
            <a:prstGeom prst="rect">
              <a:avLst/>
            </a:prstGeom>
            <a:noFill/>
            <a:ln>
              <a:noFill/>
            </a:ln>
          </p:spPr>
          <p:txBody>
            <a:bodyPr spcFirstLastPara="1" wrap="square" lIns="10775" tIns="10775" rIns="10775" bIns="10775" anchor="ctr" anchorCtr="0">
              <a:noAutofit/>
            </a:bodyPr>
            <a:lstStyle/>
            <a:p>
              <a:pPr marL="0" marR="0" lvl="0" indent="0" algn="ctr" rtl="0">
                <a:lnSpc>
                  <a:spcPct val="90000"/>
                </a:lnSpc>
                <a:spcBef>
                  <a:spcPts val="0"/>
                </a:spcBef>
                <a:spcAft>
                  <a:spcPts val="0"/>
                </a:spcAft>
                <a:buNone/>
              </a:pPr>
              <a:r>
                <a:rPr lang="es" sz="1700">
                  <a:solidFill>
                    <a:schemeClr val="dk2"/>
                  </a:solidFill>
                  <a:latin typeface="EB Garamond"/>
                  <a:ea typeface="EB Garamond"/>
                  <a:cs typeface="EB Garamond"/>
                  <a:sym typeface="EB Garamond"/>
                </a:rPr>
                <a:t>Causal</a:t>
              </a:r>
              <a:endParaRPr>
                <a:solidFill>
                  <a:schemeClr val="dk2"/>
                </a:solidFill>
                <a:latin typeface="EB Garamond"/>
                <a:ea typeface="EB Garamond"/>
                <a:cs typeface="EB Garamond"/>
                <a:sym typeface="EB Garamond"/>
              </a:endParaRPr>
            </a:p>
          </p:txBody>
        </p:sp>
        <p:sp>
          <p:nvSpPr>
            <p:cNvPr id="144" name="Google Shape;144;p19"/>
            <p:cNvSpPr/>
            <p:nvPr/>
          </p:nvSpPr>
          <p:spPr>
            <a:xfrm>
              <a:off x="1594628" y="1703182"/>
              <a:ext cx="1315200" cy="657600"/>
            </a:xfrm>
            <a:prstGeom prst="rect">
              <a:avLst/>
            </a:prstGeom>
            <a:solidFill>
              <a:srgbClr val="156C77"/>
            </a:solidFill>
            <a:ln w="12700" cap="flat" cmpd="sng">
              <a:solidFill>
                <a:srgbClr val="FFFFFF"/>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19"/>
            <p:cNvSpPr txBox="1"/>
            <p:nvPr/>
          </p:nvSpPr>
          <p:spPr>
            <a:xfrm>
              <a:off x="1594628" y="1703182"/>
              <a:ext cx="1315200" cy="657600"/>
            </a:xfrm>
            <a:prstGeom prst="rect">
              <a:avLst/>
            </a:prstGeom>
            <a:noFill/>
            <a:ln>
              <a:noFill/>
            </a:ln>
          </p:spPr>
          <p:txBody>
            <a:bodyPr spcFirstLastPara="1" wrap="square" lIns="6975" tIns="6975" rIns="6975" bIns="6975" anchor="ctr" anchorCtr="0">
              <a:noAutofit/>
            </a:bodyPr>
            <a:lstStyle/>
            <a:p>
              <a:pPr marL="0" marR="0" lvl="0" indent="0" algn="ctr" rtl="0">
                <a:lnSpc>
                  <a:spcPct val="90000"/>
                </a:lnSpc>
                <a:spcBef>
                  <a:spcPts val="0"/>
                </a:spcBef>
                <a:spcAft>
                  <a:spcPts val="0"/>
                </a:spcAft>
                <a:buNone/>
              </a:pPr>
              <a:r>
                <a:rPr lang="es" sz="1200">
                  <a:solidFill>
                    <a:srgbClr val="FFFFFF"/>
                  </a:solidFill>
                  <a:latin typeface="EB Garamond"/>
                  <a:ea typeface="EB Garamond"/>
                  <a:cs typeface="EB Garamond"/>
                  <a:sym typeface="EB Garamond"/>
                </a:rPr>
                <a:t>Según la revisión de literatura</a:t>
              </a:r>
              <a:endParaRPr sz="1200">
                <a:latin typeface="EB Garamond"/>
                <a:ea typeface="EB Garamond"/>
                <a:cs typeface="EB Garamond"/>
                <a:sym typeface="EB Garamond"/>
              </a:endParaRPr>
            </a:p>
          </p:txBody>
        </p:sp>
        <p:sp>
          <p:nvSpPr>
            <p:cNvPr id="146" name="Google Shape;146;p19"/>
            <p:cNvSpPr/>
            <p:nvPr/>
          </p:nvSpPr>
          <p:spPr>
            <a:xfrm>
              <a:off x="3186103" y="1703182"/>
              <a:ext cx="1315200" cy="657600"/>
            </a:xfrm>
            <a:prstGeom prst="rect">
              <a:avLst/>
            </a:prstGeom>
            <a:solidFill>
              <a:srgbClr val="156C77"/>
            </a:solidFill>
            <a:ln w="12700" cap="flat" cmpd="sng">
              <a:solidFill>
                <a:srgbClr val="FFFFFF"/>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19"/>
            <p:cNvSpPr txBox="1"/>
            <p:nvPr/>
          </p:nvSpPr>
          <p:spPr>
            <a:xfrm>
              <a:off x="3186103" y="1703182"/>
              <a:ext cx="1315200" cy="657600"/>
            </a:xfrm>
            <a:prstGeom prst="rect">
              <a:avLst/>
            </a:prstGeom>
            <a:noFill/>
            <a:ln>
              <a:noFill/>
            </a:ln>
          </p:spPr>
          <p:txBody>
            <a:bodyPr spcFirstLastPara="1" wrap="square" lIns="6975" tIns="6975" rIns="6975" bIns="6975" anchor="ctr" anchorCtr="0">
              <a:noAutofit/>
            </a:bodyPr>
            <a:lstStyle/>
            <a:p>
              <a:pPr marL="0" marR="0" lvl="0" indent="0" algn="ctr" rtl="0">
                <a:lnSpc>
                  <a:spcPct val="90000"/>
                </a:lnSpc>
                <a:spcBef>
                  <a:spcPts val="0"/>
                </a:spcBef>
                <a:spcAft>
                  <a:spcPts val="0"/>
                </a:spcAft>
                <a:buNone/>
              </a:pPr>
              <a:r>
                <a:rPr lang="es" sz="1200">
                  <a:solidFill>
                    <a:srgbClr val="FFFFFF"/>
                  </a:solidFill>
                  <a:latin typeface="EB Garamond"/>
                  <a:ea typeface="EB Garamond"/>
                  <a:cs typeface="EB Garamond"/>
                  <a:sym typeface="EB Garamond"/>
                </a:rPr>
                <a:t>Según los objetivos de investigación</a:t>
              </a:r>
              <a:endParaRPr sz="1200">
                <a:latin typeface="EB Garamond"/>
                <a:ea typeface="EB Garamond"/>
                <a:cs typeface="EB Garamond"/>
                <a:sym typeface="EB Garamond"/>
              </a:endParaRPr>
            </a:p>
          </p:txBody>
        </p:sp>
      </p:grpSp>
      <p:sp>
        <p:nvSpPr>
          <p:cNvPr id="148" name="Google Shape;148;p19"/>
          <p:cNvSpPr txBox="1"/>
          <p:nvPr/>
        </p:nvSpPr>
        <p:spPr>
          <a:xfrm>
            <a:off x="930375" y="3834375"/>
            <a:ext cx="1954500" cy="939000"/>
          </a:xfrm>
          <a:prstGeom prst="rect">
            <a:avLst/>
          </a:prstGeom>
          <a:noFill/>
          <a:ln>
            <a:noFill/>
          </a:ln>
        </p:spPr>
        <p:txBody>
          <a:bodyPr spcFirstLastPara="1" wrap="square" lIns="91425" tIns="45700" rIns="91425" bIns="45700" anchor="t" anchorCtr="0">
            <a:spAutoFit/>
          </a:bodyPr>
          <a:lstStyle/>
          <a:p>
            <a:pPr marL="285750" marR="0" lvl="0" indent="-285750" algn="l" rtl="0">
              <a:spcBef>
                <a:spcPts val="0"/>
              </a:spcBef>
              <a:spcAft>
                <a:spcPts val="0"/>
              </a:spcAft>
              <a:buClr>
                <a:schemeClr val="dk2"/>
              </a:buClr>
              <a:buSzPts val="1100"/>
              <a:buFont typeface="EB Garamond"/>
              <a:buChar char="✔"/>
            </a:pPr>
            <a:r>
              <a:rPr lang="es" sz="1100">
                <a:solidFill>
                  <a:schemeClr val="dk2"/>
                </a:solidFill>
                <a:latin typeface="EB Garamond"/>
                <a:ea typeface="EB Garamond"/>
                <a:cs typeface="EB Garamond"/>
                <a:sym typeface="EB Garamond"/>
              </a:rPr>
              <a:t>Problemas poco estudiados</a:t>
            </a:r>
            <a:endParaRPr>
              <a:solidFill>
                <a:schemeClr val="dk2"/>
              </a:solidFill>
              <a:latin typeface="EB Garamond"/>
              <a:ea typeface="EB Garamond"/>
              <a:cs typeface="EB Garamond"/>
              <a:sym typeface="EB Garamond"/>
            </a:endParaRPr>
          </a:p>
          <a:p>
            <a:pPr marL="285750" marR="0" lvl="0" indent="-285750" algn="l" rtl="0">
              <a:spcBef>
                <a:spcPts val="0"/>
              </a:spcBef>
              <a:spcAft>
                <a:spcPts val="0"/>
              </a:spcAft>
              <a:buClr>
                <a:schemeClr val="dk2"/>
              </a:buClr>
              <a:buSzPts val="1100"/>
              <a:buFont typeface="EB Garamond"/>
              <a:buChar char="✔"/>
            </a:pPr>
            <a:r>
              <a:rPr lang="es" sz="1100">
                <a:solidFill>
                  <a:schemeClr val="dk2"/>
                </a:solidFill>
                <a:latin typeface="EB Garamond"/>
                <a:ea typeface="EB Garamond"/>
                <a:cs typeface="EB Garamond"/>
                <a:sym typeface="EB Garamond"/>
              </a:rPr>
              <a:t>Perspectiva innovadora</a:t>
            </a:r>
            <a:endParaRPr>
              <a:solidFill>
                <a:schemeClr val="dk2"/>
              </a:solidFill>
              <a:latin typeface="EB Garamond"/>
              <a:ea typeface="EB Garamond"/>
              <a:cs typeface="EB Garamond"/>
              <a:sym typeface="EB Garamond"/>
            </a:endParaRPr>
          </a:p>
          <a:p>
            <a:pPr marL="285750" marR="0" lvl="0" indent="-285750" algn="l" rtl="0">
              <a:spcBef>
                <a:spcPts val="0"/>
              </a:spcBef>
              <a:spcAft>
                <a:spcPts val="0"/>
              </a:spcAft>
              <a:buClr>
                <a:schemeClr val="dk2"/>
              </a:buClr>
              <a:buSzPts val="1100"/>
              <a:buFont typeface="EB Garamond"/>
              <a:buChar char="✔"/>
            </a:pPr>
            <a:r>
              <a:rPr lang="es" sz="1100">
                <a:solidFill>
                  <a:schemeClr val="dk2"/>
                </a:solidFill>
                <a:latin typeface="EB Garamond"/>
                <a:ea typeface="EB Garamond"/>
                <a:cs typeface="EB Garamond"/>
                <a:sym typeface="EB Garamond"/>
              </a:rPr>
              <a:t>Conceptos nuevos</a:t>
            </a:r>
            <a:endParaRPr>
              <a:solidFill>
                <a:schemeClr val="dk2"/>
              </a:solidFill>
              <a:latin typeface="EB Garamond"/>
              <a:ea typeface="EB Garamond"/>
              <a:cs typeface="EB Garamond"/>
              <a:sym typeface="EB Garamond"/>
            </a:endParaRPr>
          </a:p>
          <a:p>
            <a:pPr marL="285750" marR="0" lvl="0" indent="-285750" algn="l" rtl="0">
              <a:spcBef>
                <a:spcPts val="0"/>
              </a:spcBef>
              <a:spcAft>
                <a:spcPts val="0"/>
              </a:spcAft>
              <a:buClr>
                <a:schemeClr val="dk2"/>
              </a:buClr>
              <a:buSzPts val="1100"/>
              <a:buFont typeface="EB Garamond"/>
              <a:buChar char="✔"/>
            </a:pPr>
            <a:r>
              <a:rPr lang="es" sz="1100">
                <a:solidFill>
                  <a:schemeClr val="dk2"/>
                </a:solidFill>
                <a:latin typeface="EB Garamond"/>
                <a:ea typeface="EB Garamond"/>
                <a:cs typeface="EB Garamond"/>
                <a:sym typeface="EB Garamond"/>
              </a:rPr>
              <a:t>Preparar terreno a nuevos estudios</a:t>
            </a:r>
            <a:endParaRPr sz="1100">
              <a:solidFill>
                <a:schemeClr val="dk2"/>
              </a:solidFill>
              <a:latin typeface="EB Garamond"/>
              <a:ea typeface="EB Garamond"/>
              <a:cs typeface="EB Garamond"/>
              <a:sym typeface="EB Garamond"/>
            </a:endParaRPr>
          </a:p>
        </p:txBody>
      </p:sp>
      <p:sp>
        <p:nvSpPr>
          <p:cNvPr id="149" name="Google Shape;149;p19"/>
          <p:cNvSpPr txBox="1"/>
          <p:nvPr/>
        </p:nvSpPr>
        <p:spPr>
          <a:xfrm>
            <a:off x="3018710" y="3834368"/>
            <a:ext cx="1581600" cy="769500"/>
          </a:xfrm>
          <a:prstGeom prst="rect">
            <a:avLst/>
          </a:prstGeom>
          <a:noFill/>
          <a:ln>
            <a:noFill/>
          </a:ln>
        </p:spPr>
        <p:txBody>
          <a:bodyPr spcFirstLastPara="1" wrap="square" lIns="91425" tIns="45700" rIns="91425" bIns="45700" anchor="t" anchorCtr="0">
            <a:spAutoFit/>
          </a:bodyPr>
          <a:lstStyle/>
          <a:p>
            <a:pPr marL="285750" marR="0" lvl="0" indent="-285750" algn="l" rtl="0">
              <a:spcBef>
                <a:spcPts val="0"/>
              </a:spcBef>
              <a:spcAft>
                <a:spcPts val="0"/>
              </a:spcAft>
              <a:buClr>
                <a:schemeClr val="dk2"/>
              </a:buClr>
              <a:buSzPts val="1100"/>
              <a:buFont typeface="EB Garamond"/>
              <a:buChar char="✔"/>
            </a:pPr>
            <a:r>
              <a:rPr lang="es" sz="1100">
                <a:solidFill>
                  <a:schemeClr val="dk2"/>
                </a:solidFill>
                <a:latin typeface="EB Garamond"/>
                <a:ea typeface="EB Garamond"/>
                <a:cs typeface="EB Garamond"/>
                <a:sym typeface="EB Garamond"/>
              </a:rPr>
              <a:t>Fenómenos estudiados</a:t>
            </a:r>
            <a:endParaRPr>
              <a:solidFill>
                <a:schemeClr val="dk2"/>
              </a:solidFill>
              <a:latin typeface="EB Garamond"/>
              <a:ea typeface="EB Garamond"/>
              <a:cs typeface="EB Garamond"/>
              <a:sym typeface="EB Garamond"/>
            </a:endParaRPr>
          </a:p>
          <a:p>
            <a:pPr marL="285750" marR="0" lvl="0" indent="-285750" algn="l" rtl="0">
              <a:spcBef>
                <a:spcPts val="0"/>
              </a:spcBef>
              <a:spcAft>
                <a:spcPts val="0"/>
              </a:spcAft>
              <a:buClr>
                <a:schemeClr val="dk2"/>
              </a:buClr>
              <a:buSzPts val="1100"/>
              <a:buFont typeface="EB Garamond"/>
              <a:buChar char="✔"/>
            </a:pPr>
            <a:r>
              <a:rPr lang="es" sz="1100">
                <a:solidFill>
                  <a:schemeClr val="dk2"/>
                </a:solidFill>
                <a:latin typeface="EB Garamond"/>
                <a:ea typeface="EB Garamond"/>
                <a:cs typeface="EB Garamond"/>
                <a:sym typeface="EB Garamond"/>
              </a:rPr>
              <a:t>Medir conceptos</a:t>
            </a:r>
            <a:endParaRPr>
              <a:solidFill>
                <a:schemeClr val="dk2"/>
              </a:solidFill>
              <a:latin typeface="EB Garamond"/>
              <a:ea typeface="EB Garamond"/>
              <a:cs typeface="EB Garamond"/>
              <a:sym typeface="EB Garamond"/>
            </a:endParaRPr>
          </a:p>
          <a:p>
            <a:pPr marL="285750" marR="0" lvl="0" indent="-285750" algn="l" rtl="0">
              <a:spcBef>
                <a:spcPts val="0"/>
              </a:spcBef>
              <a:spcAft>
                <a:spcPts val="0"/>
              </a:spcAft>
              <a:buClr>
                <a:schemeClr val="dk2"/>
              </a:buClr>
              <a:buSzPts val="1100"/>
              <a:buFont typeface="EB Garamond"/>
              <a:buChar char="✔"/>
            </a:pPr>
            <a:r>
              <a:rPr lang="es" sz="1100">
                <a:solidFill>
                  <a:schemeClr val="dk2"/>
                </a:solidFill>
                <a:latin typeface="EB Garamond"/>
                <a:ea typeface="EB Garamond"/>
                <a:cs typeface="EB Garamond"/>
                <a:sym typeface="EB Garamond"/>
              </a:rPr>
              <a:t>Obs. variables</a:t>
            </a:r>
            <a:endParaRPr sz="1100">
              <a:solidFill>
                <a:schemeClr val="dk2"/>
              </a:solidFill>
              <a:latin typeface="EB Garamond"/>
              <a:ea typeface="EB Garamond"/>
              <a:cs typeface="EB Garamond"/>
              <a:sym typeface="EB Garamond"/>
            </a:endParaRPr>
          </a:p>
        </p:txBody>
      </p:sp>
      <p:sp>
        <p:nvSpPr>
          <p:cNvPr id="150" name="Google Shape;150;p19"/>
          <p:cNvSpPr txBox="1"/>
          <p:nvPr/>
        </p:nvSpPr>
        <p:spPr>
          <a:xfrm>
            <a:off x="4734125" y="3872850"/>
            <a:ext cx="1491600" cy="769500"/>
          </a:xfrm>
          <a:prstGeom prst="rect">
            <a:avLst/>
          </a:prstGeom>
          <a:noFill/>
          <a:ln>
            <a:noFill/>
          </a:ln>
        </p:spPr>
        <p:txBody>
          <a:bodyPr spcFirstLastPara="1" wrap="square" lIns="91425" tIns="45700" rIns="91425" bIns="45700" anchor="t" anchorCtr="0">
            <a:spAutoFit/>
          </a:bodyPr>
          <a:lstStyle/>
          <a:p>
            <a:pPr marL="285750" marR="0" lvl="0" indent="-285750" algn="l" rtl="0">
              <a:spcBef>
                <a:spcPts val="0"/>
              </a:spcBef>
              <a:spcAft>
                <a:spcPts val="0"/>
              </a:spcAft>
              <a:buClr>
                <a:schemeClr val="dk2"/>
              </a:buClr>
              <a:buSzPts val="1100"/>
              <a:buFont typeface="EB Garamond"/>
              <a:buChar char="✔"/>
            </a:pPr>
            <a:r>
              <a:rPr lang="es" sz="1100">
                <a:solidFill>
                  <a:schemeClr val="dk2"/>
                </a:solidFill>
                <a:latin typeface="EB Garamond"/>
                <a:ea typeface="EB Garamond"/>
                <a:cs typeface="EB Garamond"/>
                <a:sym typeface="EB Garamond"/>
              </a:rPr>
              <a:t>Relación entre variables</a:t>
            </a:r>
            <a:endParaRPr>
              <a:solidFill>
                <a:schemeClr val="dk2"/>
              </a:solidFill>
              <a:latin typeface="EB Garamond"/>
              <a:ea typeface="EB Garamond"/>
              <a:cs typeface="EB Garamond"/>
              <a:sym typeface="EB Garamond"/>
            </a:endParaRPr>
          </a:p>
          <a:p>
            <a:pPr marL="285750" marR="0" lvl="0" indent="-285750" algn="l" rtl="0">
              <a:spcBef>
                <a:spcPts val="0"/>
              </a:spcBef>
              <a:spcAft>
                <a:spcPts val="0"/>
              </a:spcAft>
              <a:buClr>
                <a:schemeClr val="dk2"/>
              </a:buClr>
              <a:buSzPts val="1100"/>
              <a:buFont typeface="EB Garamond"/>
              <a:buChar char="✔"/>
            </a:pPr>
            <a:r>
              <a:rPr lang="es" sz="1100">
                <a:solidFill>
                  <a:schemeClr val="dk2"/>
                </a:solidFill>
                <a:latin typeface="EB Garamond"/>
                <a:ea typeface="EB Garamond"/>
                <a:cs typeface="EB Garamond"/>
                <a:sym typeface="EB Garamond"/>
              </a:rPr>
              <a:t>Cuantificar relaciones</a:t>
            </a:r>
            <a:endParaRPr sz="1100">
              <a:solidFill>
                <a:schemeClr val="dk2"/>
              </a:solidFill>
              <a:latin typeface="EB Garamond"/>
              <a:ea typeface="EB Garamond"/>
              <a:cs typeface="EB Garamond"/>
              <a:sym typeface="EB Garamond"/>
            </a:endParaRPr>
          </a:p>
        </p:txBody>
      </p:sp>
      <p:sp>
        <p:nvSpPr>
          <p:cNvPr id="151" name="Google Shape;151;p19"/>
          <p:cNvSpPr txBox="1"/>
          <p:nvPr/>
        </p:nvSpPr>
        <p:spPr>
          <a:xfrm>
            <a:off x="6323975" y="3872850"/>
            <a:ext cx="1798800" cy="939000"/>
          </a:xfrm>
          <a:prstGeom prst="rect">
            <a:avLst/>
          </a:prstGeom>
          <a:noFill/>
          <a:ln>
            <a:noFill/>
          </a:ln>
        </p:spPr>
        <p:txBody>
          <a:bodyPr spcFirstLastPara="1" wrap="square" lIns="91425" tIns="45700" rIns="91425" bIns="45700" anchor="t" anchorCtr="0">
            <a:spAutoFit/>
          </a:bodyPr>
          <a:lstStyle/>
          <a:p>
            <a:pPr marL="285750" marR="0" lvl="0" indent="-285750" algn="l" rtl="0">
              <a:spcBef>
                <a:spcPts val="0"/>
              </a:spcBef>
              <a:spcAft>
                <a:spcPts val="0"/>
              </a:spcAft>
              <a:buClr>
                <a:schemeClr val="dk2"/>
              </a:buClr>
              <a:buSzPts val="1100"/>
              <a:buFont typeface="EB Garamond"/>
              <a:buChar char="✔"/>
            </a:pPr>
            <a:r>
              <a:rPr lang="es" sz="1100">
                <a:solidFill>
                  <a:schemeClr val="dk2"/>
                </a:solidFill>
                <a:latin typeface="EB Garamond"/>
                <a:ea typeface="EB Garamond"/>
                <a:cs typeface="EB Garamond"/>
                <a:sym typeface="EB Garamond"/>
              </a:rPr>
              <a:t>Determina causas de un fenómeno</a:t>
            </a:r>
            <a:endParaRPr>
              <a:solidFill>
                <a:schemeClr val="dk2"/>
              </a:solidFill>
              <a:latin typeface="EB Garamond"/>
              <a:ea typeface="EB Garamond"/>
              <a:cs typeface="EB Garamond"/>
              <a:sym typeface="EB Garamond"/>
            </a:endParaRPr>
          </a:p>
          <a:p>
            <a:pPr marL="285750" marR="0" lvl="0" indent="-285750" algn="l" rtl="0">
              <a:spcBef>
                <a:spcPts val="0"/>
              </a:spcBef>
              <a:spcAft>
                <a:spcPts val="0"/>
              </a:spcAft>
              <a:buClr>
                <a:schemeClr val="dk2"/>
              </a:buClr>
              <a:buSzPts val="1100"/>
              <a:buFont typeface="EB Garamond"/>
              <a:buChar char="✔"/>
            </a:pPr>
            <a:r>
              <a:rPr lang="es" sz="1100">
                <a:solidFill>
                  <a:schemeClr val="dk2"/>
                </a:solidFill>
                <a:latin typeface="EB Garamond"/>
                <a:ea typeface="EB Garamond"/>
                <a:cs typeface="EB Garamond"/>
                <a:sym typeface="EB Garamond"/>
              </a:rPr>
              <a:t>Sentido de entendimiento</a:t>
            </a:r>
            <a:endParaRPr>
              <a:solidFill>
                <a:schemeClr val="dk2"/>
              </a:solidFill>
              <a:latin typeface="EB Garamond"/>
              <a:ea typeface="EB Garamond"/>
              <a:cs typeface="EB Garamond"/>
              <a:sym typeface="EB Garamond"/>
            </a:endParaRPr>
          </a:p>
          <a:p>
            <a:pPr marL="285750" marR="0" lvl="0" indent="-285750" algn="l" rtl="0">
              <a:spcBef>
                <a:spcPts val="0"/>
              </a:spcBef>
              <a:spcAft>
                <a:spcPts val="0"/>
              </a:spcAft>
              <a:buClr>
                <a:schemeClr val="dk2"/>
              </a:buClr>
              <a:buSzPts val="1100"/>
              <a:buFont typeface="EB Garamond"/>
              <a:buChar char="✔"/>
            </a:pPr>
            <a:r>
              <a:rPr lang="es" sz="1100">
                <a:solidFill>
                  <a:schemeClr val="dk2"/>
                </a:solidFill>
                <a:latin typeface="EB Garamond"/>
                <a:ea typeface="EB Garamond"/>
                <a:cs typeface="EB Garamond"/>
                <a:sym typeface="EB Garamond"/>
              </a:rPr>
              <a:t>Diseño experimental</a:t>
            </a:r>
            <a:endParaRPr>
              <a:solidFill>
                <a:schemeClr val="dk2"/>
              </a:solidFill>
              <a:latin typeface="EB Garamond"/>
              <a:ea typeface="EB Garamond"/>
              <a:cs typeface="EB Garamond"/>
              <a:sym typeface="EB Garamond"/>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Shape 155"/>
        <p:cNvGrpSpPr/>
        <p:nvPr/>
      </p:nvGrpSpPr>
      <p:grpSpPr>
        <a:xfrm>
          <a:off x="0" y="0"/>
          <a:ext cx="0" cy="0"/>
          <a:chOff x="0" y="0"/>
          <a:chExt cx="0" cy="0"/>
        </a:xfrm>
      </p:grpSpPr>
      <p:sp>
        <p:nvSpPr>
          <p:cNvPr id="156" name="Google Shape;156;p20"/>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fontScale="90000"/>
          </a:bodyPr>
          <a:lstStyle/>
          <a:p>
            <a:pPr marL="457200" lvl="0" indent="0" algn="ctr" rtl="0">
              <a:spcBef>
                <a:spcPts val="0"/>
              </a:spcBef>
              <a:spcAft>
                <a:spcPts val="0"/>
              </a:spcAft>
              <a:buNone/>
            </a:pPr>
            <a:r>
              <a:rPr lang="es">
                <a:solidFill>
                  <a:schemeClr val="lt2"/>
                </a:solidFill>
                <a:latin typeface="EB Garamond"/>
                <a:ea typeface="EB Garamond"/>
                <a:cs typeface="EB Garamond"/>
                <a:sym typeface="EB Garamond"/>
              </a:rPr>
              <a:t>I.3. Construcción de un problema de Investigación Cuantitativa</a:t>
            </a:r>
            <a:endParaRPr>
              <a:solidFill>
                <a:schemeClr val="lt2"/>
              </a:solidFill>
              <a:latin typeface="EB Garamond"/>
              <a:ea typeface="EB Garamond"/>
              <a:cs typeface="EB Garamond"/>
              <a:sym typeface="EB Garamond"/>
            </a:endParaRPr>
          </a:p>
          <a:p>
            <a:pPr marL="457200" lvl="0" indent="0" algn="ctr" rtl="0">
              <a:spcBef>
                <a:spcPts val="0"/>
              </a:spcBef>
              <a:spcAft>
                <a:spcPts val="0"/>
              </a:spcAft>
              <a:buClr>
                <a:schemeClr val="dk1"/>
              </a:buClr>
              <a:buSzPct val="30555"/>
              <a:buFont typeface="Arial"/>
              <a:buNone/>
            </a:pPr>
            <a:endParaRPr>
              <a:solidFill>
                <a:schemeClr val="lt2"/>
              </a:solidFill>
              <a:latin typeface="EB Garamond"/>
              <a:ea typeface="EB Garamond"/>
              <a:cs typeface="EB Garamond"/>
              <a:sym typeface="EB Garamond"/>
            </a:endParaRPr>
          </a:p>
          <a:p>
            <a:pPr marL="457200" lvl="0" indent="0" algn="ctr" rtl="0">
              <a:spcBef>
                <a:spcPts val="0"/>
              </a:spcBef>
              <a:spcAft>
                <a:spcPts val="0"/>
              </a:spcAft>
              <a:buNone/>
            </a:pPr>
            <a:r>
              <a:rPr lang="es" sz="3266">
                <a:solidFill>
                  <a:schemeClr val="lt2"/>
                </a:solidFill>
                <a:latin typeface="EB Garamond"/>
                <a:ea typeface="EB Garamond"/>
                <a:cs typeface="EB Garamond"/>
                <a:sym typeface="EB Garamond"/>
              </a:rPr>
              <a:t>I.3.1. Problematización</a:t>
            </a:r>
            <a:endParaRPr sz="3266">
              <a:solidFill>
                <a:schemeClr val="lt2"/>
              </a:solidFill>
              <a:latin typeface="EB Garamond"/>
              <a:ea typeface="EB Garamond"/>
              <a:cs typeface="EB Garamond"/>
              <a:sym typeface="EB Garamond"/>
            </a:endParaRPr>
          </a:p>
        </p:txBody>
      </p:sp>
      <p:sp>
        <p:nvSpPr>
          <p:cNvPr id="157" name="Google Shape;157;p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s"/>
              <a:t>8</a:t>
            </a:fld>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61"/>
        <p:cNvGrpSpPr/>
        <p:nvPr/>
      </p:nvGrpSpPr>
      <p:grpSpPr>
        <a:xfrm>
          <a:off x="0" y="0"/>
          <a:ext cx="0" cy="0"/>
          <a:chOff x="0" y="0"/>
          <a:chExt cx="0" cy="0"/>
        </a:xfrm>
      </p:grpSpPr>
      <p:sp>
        <p:nvSpPr>
          <p:cNvPr id="162" name="Google Shape;162;p21"/>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b="1">
                <a:latin typeface="EB Garamond"/>
                <a:ea typeface="EB Garamond"/>
                <a:cs typeface="EB Garamond"/>
                <a:sym typeface="EB Garamond"/>
              </a:rPr>
              <a:t>Pregunta-Objetivos-Hipótesis</a:t>
            </a:r>
            <a:endParaRPr b="1">
              <a:latin typeface="EB Garamond"/>
              <a:ea typeface="EB Garamond"/>
              <a:cs typeface="EB Garamond"/>
              <a:sym typeface="EB Garamond"/>
            </a:endParaRPr>
          </a:p>
        </p:txBody>
      </p:sp>
      <p:sp>
        <p:nvSpPr>
          <p:cNvPr id="163" name="Google Shape;163;p21"/>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0" algn="l" rtl="0">
              <a:spcBef>
                <a:spcPts val="0"/>
              </a:spcBef>
              <a:spcAft>
                <a:spcPts val="0"/>
              </a:spcAft>
              <a:buNone/>
            </a:pPr>
            <a:endParaRPr>
              <a:latin typeface="EB Garamond"/>
              <a:ea typeface="EB Garamond"/>
              <a:cs typeface="EB Garamond"/>
              <a:sym typeface="EB Garamond"/>
            </a:endParaRPr>
          </a:p>
          <a:p>
            <a:pPr marL="457200" lvl="0" indent="-342900" algn="l" rtl="0">
              <a:spcBef>
                <a:spcPts val="1200"/>
              </a:spcBef>
              <a:spcAft>
                <a:spcPts val="0"/>
              </a:spcAft>
              <a:buSzPts val="1800"/>
              <a:buFont typeface="EB Garamond"/>
              <a:buChar char="★"/>
            </a:pPr>
            <a:r>
              <a:rPr lang="es">
                <a:latin typeface="EB Garamond"/>
                <a:ea typeface="EB Garamond"/>
                <a:cs typeface="EB Garamond"/>
                <a:sym typeface="EB Garamond"/>
              </a:rPr>
              <a:t>Delimitan lo que busca la investigación.</a:t>
            </a:r>
            <a:endParaRPr>
              <a:latin typeface="EB Garamond"/>
              <a:ea typeface="EB Garamond"/>
              <a:cs typeface="EB Garamond"/>
              <a:sym typeface="EB Garamond"/>
            </a:endParaRPr>
          </a:p>
          <a:p>
            <a:pPr marL="457200" lvl="0" indent="-342900" algn="l" rtl="0">
              <a:spcBef>
                <a:spcPts val="0"/>
              </a:spcBef>
              <a:spcAft>
                <a:spcPts val="0"/>
              </a:spcAft>
              <a:buSzPts val="1800"/>
              <a:buFont typeface="EB Garamond"/>
              <a:buChar char="★"/>
            </a:pPr>
            <a:r>
              <a:rPr lang="es">
                <a:latin typeface="EB Garamond"/>
                <a:ea typeface="EB Garamond"/>
                <a:cs typeface="EB Garamond"/>
                <a:sym typeface="EB Garamond"/>
              </a:rPr>
              <a:t>Especifican, dan claridad y coherencia.</a:t>
            </a:r>
            <a:endParaRPr>
              <a:latin typeface="EB Garamond"/>
              <a:ea typeface="EB Garamond"/>
              <a:cs typeface="EB Garamond"/>
              <a:sym typeface="EB Garamond"/>
            </a:endParaRPr>
          </a:p>
          <a:p>
            <a:pPr marL="457200" lvl="0" indent="-342900" algn="l" rtl="0">
              <a:spcBef>
                <a:spcPts val="0"/>
              </a:spcBef>
              <a:spcAft>
                <a:spcPts val="0"/>
              </a:spcAft>
              <a:buSzPts val="1800"/>
              <a:buFont typeface="EB Garamond"/>
              <a:buChar char="★"/>
            </a:pPr>
            <a:r>
              <a:rPr lang="es">
                <a:latin typeface="EB Garamond"/>
                <a:ea typeface="EB Garamond"/>
                <a:cs typeface="EB Garamond"/>
                <a:sym typeface="EB Garamond"/>
              </a:rPr>
              <a:t>Constituyen el núcleo de la investigación.</a:t>
            </a:r>
            <a:endParaRPr>
              <a:latin typeface="EB Garamond"/>
              <a:ea typeface="EB Garamond"/>
              <a:cs typeface="EB Garamond"/>
              <a:sym typeface="EB Garamond"/>
            </a:endParaRPr>
          </a:p>
          <a:p>
            <a:pPr marL="0" lvl="0" indent="0" algn="l" rtl="0">
              <a:spcBef>
                <a:spcPts val="1200"/>
              </a:spcBef>
              <a:spcAft>
                <a:spcPts val="1200"/>
              </a:spcAft>
              <a:buNone/>
            </a:pPr>
            <a:endParaRPr>
              <a:latin typeface="EB Garamond"/>
              <a:ea typeface="EB Garamond"/>
              <a:cs typeface="EB Garamond"/>
              <a:sym typeface="EB Garamond"/>
            </a:endParaRPr>
          </a:p>
        </p:txBody>
      </p:sp>
      <p:sp>
        <p:nvSpPr>
          <p:cNvPr id="164" name="Google Shape;164;p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s"/>
              <a:t>9</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68"/>
        <p:cNvGrpSpPr/>
        <p:nvPr/>
      </p:nvGrpSpPr>
      <p:grpSpPr>
        <a:xfrm>
          <a:off x="0" y="0"/>
          <a:ext cx="0" cy="0"/>
          <a:chOff x="0" y="0"/>
          <a:chExt cx="0" cy="0"/>
        </a:xfrm>
      </p:grpSpPr>
      <p:sp>
        <p:nvSpPr>
          <p:cNvPr id="169" name="Google Shape;169;p22"/>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b="1">
                <a:latin typeface="EB Garamond"/>
                <a:ea typeface="EB Garamond"/>
                <a:cs typeface="EB Garamond"/>
                <a:sym typeface="EB Garamond"/>
              </a:rPr>
              <a:t>Ejemplo</a:t>
            </a:r>
            <a:endParaRPr b="1">
              <a:latin typeface="EB Garamond"/>
              <a:ea typeface="EB Garamond"/>
              <a:cs typeface="EB Garamond"/>
              <a:sym typeface="EB Garamond"/>
            </a:endParaRPr>
          </a:p>
        </p:txBody>
      </p:sp>
      <p:sp>
        <p:nvSpPr>
          <p:cNvPr id="170" name="Google Shape;170;p22"/>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endParaRPr>
              <a:latin typeface="EB Garamond"/>
              <a:ea typeface="EB Garamond"/>
              <a:cs typeface="EB Garamond"/>
              <a:sym typeface="EB Garamond"/>
            </a:endParaRPr>
          </a:p>
          <a:p>
            <a:pPr marL="0" lvl="0" indent="0" algn="l" rtl="0">
              <a:spcBef>
                <a:spcPts val="1200"/>
              </a:spcBef>
              <a:spcAft>
                <a:spcPts val="0"/>
              </a:spcAft>
              <a:buNone/>
            </a:pPr>
            <a:r>
              <a:rPr lang="es" b="1">
                <a:latin typeface="EB Garamond"/>
                <a:ea typeface="EB Garamond"/>
                <a:cs typeface="EB Garamond"/>
                <a:sym typeface="EB Garamond"/>
              </a:rPr>
              <a:t>Pregunta</a:t>
            </a:r>
            <a:r>
              <a:rPr lang="es">
                <a:latin typeface="EB Garamond"/>
                <a:ea typeface="EB Garamond"/>
                <a:cs typeface="EB Garamond"/>
                <a:sym typeface="EB Garamond"/>
              </a:rPr>
              <a:t>: ¿Cuál es el </a:t>
            </a:r>
            <a:r>
              <a:rPr lang="es">
                <a:highlight>
                  <a:srgbClr val="FFC000"/>
                </a:highlight>
                <a:latin typeface="EB Garamond"/>
                <a:ea typeface="EB Garamond"/>
                <a:cs typeface="EB Garamond"/>
                <a:sym typeface="EB Garamond"/>
              </a:rPr>
              <a:t>efecto de la pandemia</a:t>
            </a:r>
            <a:r>
              <a:rPr lang="es">
                <a:latin typeface="EB Garamond"/>
                <a:ea typeface="EB Garamond"/>
                <a:cs typeface="EB Garamond"/>
                <a:sym typeface="EB Garamond"/>
              </a:rPr>
              <a:t> en la la </a:t>
            </a:r>
            <a:r>
              <a:rPr lang="es">
                <a:solidFill>
                  <a:schemeClr val="lt2"/>
                </a:solidFill>
                <a:highlight>
                  <a:schemeClr val="accent5"/>
                </a:highlight>
                <a:latin typeface="EB Garamond"/>
                <a:ea typeface="EB Garamond"/>
                <a:cs typeface="EB Garamond"/>
                <a:sym typeface="EB Garamond"/>
              </a:rPr>
              <a:t>participación laboral de mujeres</a:t>
            </a:r>
            <a:r>
              <a:rPr lang="es">
                <a:latin typeface="EB Garamond"/>
                <a:ea typeface="EB Garamond"/>
                <a:cs typeface="EB Garamond"/>
                <a:sym typeface="EB Garamond"/>
              </a:rPr>
              <a:t>?</a:t>
            </a:r>
            <a:endParaRPr>
              <a:latin typeface="EB Garamond"/>
              <a:ea typeface="EB Garamond"/>
              <a:cs typeface="EB Garamond"/>
              <a:sym typeface="EB Garamond"/>
            </a:endParaRPr>
          </a:p>
          <a:p>
            <a:pPr marL="0" lvl="0" indent="0" algn="l" rtl="0">
              <a:spcBef>
                <a:spcPts val="1200"/>
              </a:spcBef>
              <a:spcAft>
                <a:spcPts val="0"/>
              </a:spcAft>
              <a:buNone/>
            </a:pPr>
            <a:r>
              <a:rPr lang="es" b="1">
                <a:latin typeface="EB Garamond"/>
                <a:ea typeface="EB Garamond"/>
                <a:cs typeface="EB Garamond"/>
                <a:sym typeface="EB Garamond"/>
              </a:rPr>
              <a:t>Objetivo</a:t>
            </a:r>
            <a:r>
              <a:rPr lang="es">
                <a:latin typeface="EB Garamond"/>
                <a:ea typeface="EB Garamond"/>
                <a:cs typeface="EB Garamond"/>
                <a:sym typeface="EB Garamond"/>
              </a:rPr>
              <a:t>: Determinar el </a:t>
            </a:r>
            <a:r>
              <a:rPr lang="es">
                <a:highlight>
                  <a:srgbClr val="FDBF41"/>
                </a:highlight>
                <a:latin typeface="EB Garamond"/>
                <a:ea typeface="EB Garamond"/>
                <a:cs typeface="EB Garamond"/>
                <a:sym typeface="EB Garamond"/>
              </a:rPr>
              <a:t>efecto de la pandemi</a:t>
            </a:r>
            <a:r>
              <a:rPr lang="es">
                <a:latin typeface="EB Garamond"/>
                <a:ea typeface="EB Garamond"/>
                <a:cs typeface="EB Garamond"/>
                <a:sym typeface="EB Garamond"/>
              </a:rPr>
              <a:t>a en la </a:t>
            </a:r>
            <a:r>
              <a:rPr lang="es">
                <a:solidFill>
                  <a:schemeClr val="lt2"/>
                </a:solidFill>
                <a:highlight>
                  <a:schemeClr val="accent5"/>
                </a:highlight>
                <a:latin typeface="EB Garamond"/>
                <a:ea typeface="EB Garamond"/>
                <a:cs typeface="EB Garamond"/>
                <a:sym typeface="EB Garamond"/>
              </a:rPr>
              <a:t>participación laboral de mujeres</a:t>
            </a:r>
            <a:r>
              <a:rPr lang="es">
                <a:latin typeface="EB Garamond"/>
                <a:ea typeface="EB Garamond"/>
                <a:cs typeface="EB Garamond"/>
                <a:sym typeface="EB Garamond"/>
              </a:rPr>
              <a:t>, que residen en la </a:t>
            </a:r>
            <a:r>
              <a:rPr lang="es">
                <a:highlight>
                  <a:srgbClr val="FBE4D4"/>
                </a:highlight>
                <a:latin typeface="EB Garamond"/>
                <a:ea typeface="EB Garamond"/>
                <a:cs typeface="EB Garamond"/>
                <a:sym typeface="EB Garamond"/>
              </a:rPr>
              <a:t>región metropolitana, entre el año 2019 y 2020</a:t>
            </a:r>
            <a:r>
              <a:rPr lang="es">
                <a:latin typeface="EB Garamond"/>
                <a:ea typeface="EB Garamond"/>
                <a:cs typeface="EB Garamond"/>
                <a:sym typeface="EB Garamond"/>
              </a:rPr>
              <a:t>.</a:t>
            </a:r>
            <a:endParaRPr>
              <a:latin typeface="EB Garamond"/>
              <a:ea typeface="EB Garamond"/>
              <a:cs typeface="EB Garamond"/>
              <a:sym typeface="EB Garamond"/>
            </a:endParaRPr>
          </a:p>
          <a:p>
            <a:pPr marL="0" lvl="0" indent="0" algn="l" rtl="0">
              <a:spcBef>
                <a:spcPts val="1200"/>
              </a:spcBef>
              <a:spcAft>
                <a:spcPts val="1200"/>
              </a:spcAft>
              <a:buNone/>
            </a:pPr>
            <a:r>
              <a:rPr lang="es" b="1">
                <a:latin typeface="EB Garamond"/>
                <a:ea typeface="EB Garamond"/>
                <a:cs typeface="EB Garamond"/>
                <a:sym typeface="EB Garamond"/>
              </a:rPr>
              <a:t>Hipótesis</a:t>
            </a:r>
            <a:r>
              <a:rPr lang="es">
                <a:latin typeface="EB Garamond"/>
                <a:ea typeface="EB Garamond"/>
                <a:cs typeface="EB Garamond"/>
                <a:sym typeface="EB Garamond"/>
              </a:rPr>
              <a:t>: El contexto de </a:t>
            </a:r>
            <a:r>
              <a:rPr lang="es">
                <a:highlight>
                  <a:srgbClr val="FDBF41"/>
                </a:highlight>
                <a:latin typeface="EB Garamond"/>
                <a:ea typeface="EB Garamond"/>
                <a:cs typeface="EB Garamond"/>
                <a:sym typeface="EB Garamond"/>
              </a:rPr>
              <a:t>pandemia ha afectado</a:t>
            </a:r>
            <a:r>
              <a:rPr lang="es">
                <a:latin typeface="EB Garamond"/>
                <a:ea typeface="EB Garamond"/>
                <a:cs typeface="EB Garamond"/>
                <a:sym typeface="EB Garamond"/>
              </a:rPr>
              <a:t> </a:t>
            </a:r>
            <a:r>
              <a:rPr lang="es">
                <a:solidFill>
                  <a:schemeClr val="lt2"/>
                </a:solidFill>
                <a:highlight>
                  <a:srgbClr val="A64D79"/>
                </a:highlight>
                <a:latin typeface="EB Garamond"/>
                <a:ea typeface="EB Garamond"/>
                <a:cs typeface="EB Garamond"/>
                <a:sym typeface="EB Garamond"/>
              </a:rPr>
              <a:t>negativamente</a:t>
            </a:r>
            <a:r>
              <a:rPr lang="es">
                <a:latin typeface="EB Garamond"/>
                <a:ea typeface="EB Garamond"/>
                <a:cs typeface="EB Garamond"/>
                <a:sym typeface="EB Garamond"/>
              </a:rPr>
              <a:t> la </a:t>
            </a:r>
            <a:r>
              <a:rPr lang="es">
                <a:solidFill>
                  <a:schemeClr val="lt2"/>
                </a:solidFill>
                <a:highlight>
                  <a:schemeClr val="accent5"/>
                </a:highlight>
                <a:latin typeface="EB Garamond"/>
                <a:ea typeface="EB Garamond"/>
                <a:cs typeface="EB Garamond"/>
                <a:sym typeface="EB Garamond"/>
              </a:rPr>
              <a:t>participación laboral de mujeres.</a:t>
            </a:r>
            <a:endParaRPr>
              <a:latin typeface="EB Garamond"/>
              <a:ea typeface="EB Garamond"/>
              <a:cs typeface="EB Garamond"/>
              <a:sym typeface="EB Garamond"/>
            </a:endParaRPr>
          </a:p>
        </p:txBody>
      </p:sp>
      <p:sp>
        <p:nvSpPr>
          <p:cNvPr id="171" name="Google Shape;171;p2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s"/>
              <a:t>10</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Shape 175"/>
        <p:cNvGrpSpPr/>
        <p:nvPr/>
      </p:nvGrpSpPr>
      <p:grpSpPr>
        <a:xfrm>
          <a:off x="0" y="0"/>
          <a:ext cx="0" cy="0"/>
          <a:chOff x="0" y="0"/>
          <a:chExt cx="0" cy="0"/>
        </a:xfrm>
      </p:grpSpPr>
      <p:sp>
        <p:nvSpPr>
          <p:cNvPr id="176" name="Google Shape;176;p2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fontScale="90000"/>
          </a:bodyPr>
          <a:lstStyle/>
          <a:p>
            <a:pPr marL="457200" lvl="0" indent="0" algn="ctr" rtl="0">
              <a:spcBef>
                <a:spcPts val="0"/>
              </a:spcBef>
              <a:spcAft>
                <a:spcPts val="0"/>
              </a:spcAft>
              <a:buNone/>
            </a:pPr>
            <a:r>
              <a:rPr lang="es">
                <a:solidFill>
                  <a:schemeClr val="lt2"/>
                </a:solidFill>
                <a:latin typeface="EB Garamond"/>
                <a:ea typeface="EB Garamond"/>
                <a:cs typeface="EB Garamond"/>
                <a:sym typeface="EB Garamond"/>
              </a:rPr>
              <a:t>I.3. Construcción de un problema de Investigación Cuantitativa</a:t>
            </a:r>
            <a:endParaRPr>
              <a:solidFill>
                <a:schemeClr val="lt2"/>
              </a:solidFill>
              <a:latin typeface="EB Garamond"/>
              <a:ea typeface="EB Garamond"/>
              <a:cs typeface="EB Garamond"/>
              <a:sym typeface="EB Garamond"/>
            </a:endParaRPr>
          </a:p>
          <a:p>
            <a:pPr marL="457200" lvl="0" indent="0" algn="ctr" rtl="0">
              <a:spcBef>
                <a:spcPts val="0"/>
              </a:spcBef>
              <a:spcAft>
                <a:spcPts val="0"/>
              </a:spcAft>
              <a:buClr>
                <a:schemeClr val="dk1"/>
              </a:buClr>
              <a:buSzPct val="30555"/>
              <a:buFont typeface="Arial"/>
              <a:buNone/>
            </a:pPr>
            <a:endParaRPr>
              <a:solidFill>
                <a:schemeClr val="lt2"/>
              </a:solidFill>
              <a:latin typeface="EB Garamond"/>
              <a:ea typeface="EB Garamond"/>
              <a:cs typeface="EB Garamond"/>
              <a:sym typeface="EB Garamond"/>
            </a:endParaRPr>
          </a:p>
          <a:p>
            <a:pPr marL="457200" lvl="0" indent="0" algn="ctr" rtl="0">
              <a:spcBef>
                <a:spcPts val="0"/>
              </a:spcBef>
              <a:spcAft>
                <a:spcPts val="0"/>
              </a:spcAft>
              <a:buNone/>
            </a:pPr>
            <a:r>
              <a:rPr lang="es" sz="3266">
                <a:solidFill>
                  <a:schemeClr val="lt2"/>
                </a:solidFill>
                <a:latin typeface="EB Garamond"/>
                <a:ea typeface="EB Garamond"/>
                <a:cs typeface="EB Garamond"/>
                <a:sym typeface="EB Garamond"/>
              </a:rPr>
              <a:t>I.3.2. Pregunta de Investigación</a:t>
            </a:r>
            <a:endParaRPr sz="3266">
              <a:solidFill>
                <a:schemeClr val="lt2"/>
              </a:solidFill>
              <a:latin typeface="EB Garamond"/>
              <a:ea typeface="EB Garamond"/>
              <a:cs typeface="EB Garamond"/>
              <a:sym typeface="EB Garamond"/>
            </a:endParaRPr>
          </a:p>
        </p:txBody>
      </p:sp>
      <p:sp>
        <p:nvSpPr>
          <p:cNvPr id="177" name="Google Shape;177;p2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s"/>
              <a:t>11</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Shape 181"/>
        <p:cNvGrpSpPr/>
        <p:nvPr/>
      </p:nvGrpSpPr>
      <p:grpSpPr>
        <a:xfrm>
          <a:off x="0" y="0"/>
          <a:ext cx="0" cy="0"/>
          <a:chOff x="0" y="0"/>
          <a:chExt cx="0" cy="0"/>
        </a:xfrm>
      </p:grpSpPr>
      <p:sp>
        <p:nvSpPr>
          <p:cNvPr id="182" name="Google Shape;182;p24"/>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fontScale="90000"/>
          </a:bodyPr>
          <a:lstStyle/>
          <a:p>
            <a:pPr marL="457200" lvl="0" indent="0" algn="ctr" rtl="0">
              <a:spcBef>
                <a:spcPts val="0"/>
              </a:spcBef>
              <a:spcAft>
                <a:spcPts val="0"/>
              </a:spcAft>
              <a:buNone/>
            </a:pPr>
            <a:r>
              <a:rPr lang="es">
                <a:solidFill>
                  <a:schemeClr val="lt2"/>
                </a:solidFill>
                <a:latin typeface="EB Garamond"/>
                <a:ea typeface="EB Garamond"/>
                <a:cs typeface="EB Garamond"/>
                <a:sym typeface="EB Garamond"/>
              </a:rPr>
              <a:t>I.3. Construcción de un problema de Investigación Cuantitativa</a:t>
            </a:r>
            <a:endParaRPr>
              <a:solidFill>
                <a:schemeClr val="lt2"/>
              </a:solidFill>
              <a:latin typeface="EB Garamond"/>
              <a:ea typeface="EB Garamond"/>
              <a:cs typeface="EB Garamond"/>
              <a:sym typeface="EB Garamond"/>
            </a:endParaRPr>
          </a:p>
          <a:p>
            <a:pPr marL="457200" lvl="0" indent="0" algn="ctr" rtl="0">
              <a:spcBef>
                <a:spcPts val="0"/>
              </a:spcBef>
              <a:spcAft>
                <a:spcPts val="0"/>
              </a:spcAft>
              <a:buClr>
                <a:schemeClr val="dk1"/>
              </a:buClr>
              <a:buSzPct val="30555"/>
              <a:buFont typeface="Arial"/>
              <a:buNone/>
            </a:pPr>
            <a:endParaRPr>
              <a:solidFill>
                <a:schemeClr val="lt2"/>
              </a:solidFill>
              <a:latin typeface="EB Garamond"/>
              <a:ea typeface="EB Garamond"/>
              <a:cs typeface="EB Garamond"/>
              <a:sym typeface="EB Garamond"/>
            </a:endParaRPr>
          </a:p>
          <a:p>
            <a:pPr marL="457200" lvl="0" indent="0" algn="ctr" rtl="0">
              <a:spcBef>
                <a:spcPts val="0"/>
              </a:spcBef>
              <a:spcAft>
                <a:spcPts val="0"/>
              </a:spcAft>
              <a:buNone/>
            </a:pPr>
            <a:r>
              <a:rPr lang="es" sz="3266">
                <a:solidFill>
                  <a:schemeClr val="lt2"/>
                </a:solidFill>
                <a:latin typeface="EB Garamond"/>
                <a:ea typeface="EB Garamond"/>
                <a:cs typeface="EB Garamond"/>
                <a:sym typeface="EB Garamond"/>
              </a:rPr>
              <a:t>I.3.3. Objetivos de Investigación</a:t>
            </a:r>
            <a:endParaRPr sz="3266">
              <a:solidFill>
                <a:schemeClr val="lt2"/>
              </a:solidFill>
              <a:latin typeface="EB Garamond"/>
              <a:ea typeface="EB Garamond"/>
              <a:cs typeface="EB Garamond"/>
              <a:sym typeface="EB Garamond"/>
            </a:endParaRPr>
          </a:p>
        </p:txBody>
      </p:sp>
      <p:sp>
        <p:nvSpPr>
          <p:cNvPr id="183" name="Google Shape;183;p2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s"/>
              <a:t>12</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A64D79"/>
        </a:solidFill>
        <a:effectLst/>
      </p:bgPr>
    </p:bg>
    <p:spTree>
      <p:nvGrpSpPr>
        <p:cNvPr id="1" name="Shape 187"/>
        <p:cNvGrpSpPr/>
        <p:nvPr/>
      </p:nvGrpSpPr>
      <p:grpSpPr>
        <a:xfrm>
          <a:off x="0" y="0"/>
          <a:ext cx="0" cy="0"/>
          <a:chOff x="0" y="0"/>
          <a:chExt cx="0" cy="0"/>
        </a:xfrm>
      </p:grpSpPr>
      <p:sp>
        <p:nvSpPr>
          <p:cNvPr id="188" name="Google Shape;188;p25"/>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fontScale="90000"/>
          </a:bodyPr>
          <a:lstStyle/>
          <a:p>
            <a:pPr marL="457200" lvl="0" indent="0" algn="ctr" rtl="0">
              <a:spcBef>
                <a:spcPts val="0"/>
              </a:spcBef>
              <a:spcAft>
                <a:spcPts val="0"/>
              </a:spcAft>
              <a:buNone/>
            </a:pPr>
            <a:r>
              <a:rPr lang="es">
                <a:solidFill>
                  <a:schemeClr val="lt2"/>
                </a:solidFill>
                <a:latin typeface="EB Garamond"/>
                <a:ea typeface="EB Garamond"/>
                <a:cs typeface="EB Garamond"/>
                <a:sym typeface="EB Garamond"/>
              </a:rPr>
              <a:t>I.3. Construcción de un problema de Investigación Cuantitativa</a:t>
            </a:r>
            <a:endParaRPr>
              <a:solidFill>
                <a:schemeClr val="lt2"/>
              </a:solidFill>
              <a:latin typeface="EB Garamond"/>
              <a:ea typeface="EB Garamond"/>
              <a:cs typeface="EB Garamond"/>
              <a:sym typeface="EB Garamond"/>
            </a:endParaRPr>
          </a:p>
          <a:p>
            <a:pPr marL="457200" lvl="0" indent="0" algn="ctr" rtl="0">
              <a:spcBef>
                <a:spcPts val="0"/>
              </a:spcBef>
              <a:spcAft>
                <a:spcPts val="0"/>
              </a:spcAft>
              <a:buClr>
                <a:schemeClr val="dk1"/>
              </a:buClr>
              <a:buSzPct val="30555"/>
              <a:buFont typeface="Arial"/>
              <a:buNone/>
            </a:pPr>
            <a:endParaRPr>
              <a:solidFill>
                <a:schemeClr val="lt2"/>
              </a:solidFill>
              <a:latin typeface="EB Garamond"/>
              <a:ea typeface="EB Garamond"/>
              <a:cs typeface="EB Garamond"/>
              <a:sym typeface="EB Garamond"/>
            </a:endParaRPr>
          </a:p>
          <a:p>
            <a:pPr marL="457200" lvl="0" indent="0" algn="ctr" rtl="0">
              <a:spcBef>
                <a:spcPts val="0"/>
              </a:spcBef>
              <a:spcAft>
                <a:spcPts val="0"/>
              </a:spcAft>
              <a:buNone/>
            </a:pPr>
            <a:r>
              <a:rPr lang="es" sz="3266">
                <a:solidFill>
                  <a:schemeClr val="lt2"/>
                </a:solidFill>
                <a:latin typeface="EB Garamond"/>
                <a:ea typeface="EB Garamond"/>
                <a:cs typeface="EB Garamond"/>
                <a:sym typeface="EB Garamond"/>
              </a:rPr>
              <a:t>I.3.4. Formulación de hipótesis de investigación</a:t>
            </a:r>
            <a:endParaRPr sz="3266">
              <a:solidFill>
                <a:schemeClr val="lt2"/>
              </a:solidFill>
              <a:latin typeface="EB Garamond"/>
              <a:ea typeface="EB Garamond"/>
              <a:cs typeface="EB Garamond"/>
              <a:sym typeface="EB Garamond"/>
            </a:endParaRPr>
          </a:p>
        </p:txBody>
      </p:sp>
      <p:sp>
        <p:nvSpPr>
          <p:cNvPr id="189" name="Google Shape;189;p2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s"/>
              <a:t>13</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p2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b="1">
                <a:latin typeface="EB Garamond"/>
                <a:ea typeface="EB Garamond"/>
                <a:cs typeface="EB Garamond"/>
                <a:sym typeface="EB Garamond"/>
              </a:rPr>
              <a:t>¿Qué son las hipótesis de investigación?</a:t>
            </a:r>
            <a:endParaRPr b="1">
              <a:latin typeface="EB Garamond"/>
              <a:ea typeface="EB Garamond"/>
              <a:cs typeface="EB Garamond"/>
              <a:sym typeface="EB Garamond"/>
            </a:endParaRPr>
          </a:p>
        </p:txBody>
      </p:sp>
      <p:sp>
        <p:nvSpPr>
          <p:cNvPr id="195" name="Google Shape;195;p2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s"/>
              <a:t>14</a:t>
            </a:fld>
            <a:endParaRPr/>
          </a:p>
        </p:txBody>
      </p:sp>
      <p:sp>
        <p:nvSpPr>
          <p:cNvPr id="196" name="Google Shape;196;p26"/>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endParaRPr>
              <a:solidFill>
                <a:schemeClr val="lt2"/>
              </a:solidFill>
              <a:highlight>
                <a:schemeClr val="accent5"/>
              </a:highlight>
              <a:latin typeface="EB Garamond"/>
              <a:ea typeface="EB Garamond"/>
              <a:cs typeface="EB Garamond"/>
              <a:sym typeface="EB Garamond"/>
            </a:endParaRPr>
          </a:p>
          <a:p>
            <a:pPr marL="457200" lvl="0" indent="-342900" algn="l" rtl="0">
              <a:spcBef>
                <a:spcPts val="1200"/>
              </a:spcBef>
              <a:spcAft>
                <a:spcPts val="0"/>
              </a:spcAft>
              <a:buSzPts val="1800"/>
              <a:buFont typeface="EB Garamond"/>
              <a:buChar char="★"/>
            </a:pPr>
            <a:r>
              <a:rPr lang="es">
                <a:solidFill>
                  <a:schemeClr val="lt2"/>
                </a:solidFill>
                <a:highlight>
                  <a:schemeClr val="accent5"/>
                </a:highlight>
                <a:latin typeface="EB Garamond"/>
                <a:ea typeface="EB Garamond"/>
                <a:cs typeface="EB Garamond"/>
                <a:sym typeface="EB Garamond"/>
              </a:rPr>
              <a:t>Guías</a:t>
            </a:r>
            <a:r>
              <a:rPr lang="es">
                <a:latin typeface="EB Garamond"/>
                <a:ea typeface="EB Garamond"/>
                <a:cs typeface="EB Garamond"/>
                <a:sym typeface="EB Garamond"/>
              </a:rPr>
              <a:t> para una investigación o estudio.</a:t>
            </a:r>
            <a:endParaRPr>
              <a:latin typeface="EB Garamond"/>
              <a:ea typeface="EB Garamond"/>
              <a:cs typeface="EB Garamond"/>
              <a:sym typeface="EB Garamond"/>
            </a:endParaRPr>
          </a:p>
          <a:p>
            <a:pPr marL="457200" lvl="0" indent="-342900" algn="l" rtl="0">
              <a:spcBef>
                <a:spcPts val="0"/>
              </a:spcBef>
              <a:spcAft>
                <a:spcPts val="0"/>
              </a:spcAft>
              <a:buSzPts val="1800"/>
              <a:buFont typeface="EB Garamond"/>
              <a:buChar char="★"/>
            </a:pPr>
            <a:r>
              <a:rPr lang="es">
                <a:latin typeface="EB Garamond"/>
                <a:ea typeface="EB Garamond"/>
                <a:cs typeface="EB Garamond"/>
                <a:sym typeface="EB Garamond"/>
              </a:rPr>
              <a:t>Indica lo que se intenta probar, define </a:t>
            </a:r>
            <a:r>
              <a:rPr lang="es">
                <a:highlight>
                  <a:srgbClr val="FDBF41"/>
                </a:highlight>
                <a:latin typeface="EB Garamond"/>
                <a:ea typeface="EB Garamond"/>
                <a:cs typeface="EB Garamond"/>
                <a:sym typeface="EB Garamond"/>
              </a:rPr>
              <a:t>explicaciones tentativas</a:t>
            </a:r>
            <a:r>
              <a:rPr lang="es">
                <a:latin typeface="EB Garamond"/>
                <a:ea typeface="EB Garamond"/>
                <a:cs typeface="EB Garamond"/>
                <a:sym typeface="EB Garamond"/>
              </a:rPr>
              <a:t> del fenómeno investigado.</a:t>
            </a:r>
            <a:endParaRPr>
              <a:latin typeface="EB Garamond"/>
              <a:ea typeface="EB Garamond"/>
              <a:cs typeface="EB Garamond"/>
              <a:sym typeface="EB Garamond"/>
            </a:endParaRPr>
          </a:p>
          <a:p>
            <a:pPr marL="457200" lvl="0" indent="-342900" algn="l" rtl="0">
              <a:spcBef>
                <a:spcPts val="0"/>
              </a:spcBef>
              <a:spcAft>
                <a:spcPts val="0"/>
              </a:spcAft>
              <a:buSzPts val="1800"/>
              <a:buFont typeface="EB Garamond"/>
              <a:buChar char="★"/>
            </a:pPr>
            <a:r>
              <a:rPr lang="es">
                <a:latin typeface="EB Garamond"/>
                <a:ea typeface="EB Garamond"/>
                <a:cs typeface="EB Garamond"/>
                <a:sym typeface="EB Garamond"/>
              </a:rPr>
              <a:t>Nacen de la teoría existente, de la literatura.</a:t>
            </a:r>
            <a:endParaRPr>
              <a:latin typeface="EB Garamond"/>
              <a:ea typeface="EB Garamond"/>
              <a:cs typeface="EB Garamond"/>
              <a:sym typeface="EB Garamond"/>
            </a:endParaRPr>
          </a:p>
          <a:p>
            <a:pPr marL="457200" lvl="0" indent="-342900" algn="l" rtl="0">
              <a:spcBef>
                <a:spcPts val="0"/>
              </a:spcBef>
              <a:spcAft>
                <a:spcPts val="0"/>
              </a:spcAft>
              <a:buSzPts val="1800"/>
              <a:buFont typeface="EB Garamond"/>
              <a:buChar char="★"/>
            </a:pPr>
            <a:r>
              <a:rPr lang="es">
                <a:latin typeface="EB Garamond"/>
                <a:ea typeface="EB Garamond"/>
                <a:cs typeface="EB Garamond"/>
                <a:sym typeface="EB Garamond"/>
              </a:rPr>
              <a:t>Proposiciones tentativas acerca de la relación entre dos o más variables.</a:t>
            </a:r>
            <a:endParaRPr>
              <a:latin typeface="EB Garamond"/>
              <a:ea typeface="EB Garamond"/>
              <a:cs typeface="EB Garamond"/>
              <a:sym typeface="EB Garamond"/>
            </a:endParaRPr>
          </a:p>
          <a:p>
            <a:pPr marL="457200" lvl="0" indent="-342900" algn="l" rtl="0">
              <a:spcBef>
                <a:spcPts val="0"/>
              </a:spcBef>
              <a:spcAft>
                <a:spcPts val="0"/>
              </a:spcAft>
              <a:buSzPts val="1800"/>
              <a:buFont typeface="EB Garamond"/>
              <a:buChar char="★"/>
            </a:pPr>
            <a:r>
              <a:rPr lang="es">
                <a:solidFill>
                  <a:schemeClr val="lt2"/>
                </a:solidFill>
                <a:highlight>
                  <a:schemeClr val="accent3"/>
                </a:highlight>
                <a:latin typeface="EB Garamond"/>
                <a:ea typeface="EB Garamond"/>
                <a:cs typeface="EB Garamond"/>
                <a:sym typeface="EB Garamond"/>
              </a:rPr>
              <a:t>Relación estrecha entre: problema-objetivos-literatura-hipótesis</a:t>
            </a:r>
            <a:r>
              <a:rPr lang="es">
                <a:latin typeface="EB Garamond"/>
                <a:ea typeface="EB Garamond"/>
                <a:cs typeface="EB Garamond"/>
                <a:sym typeface="EB Garamond"/>
              </a:rPr>
              <a:t>.</a:t>
            </a:r>
            <a:endParaRPr>
              <a:latin typeface="EB Garamond"/>
              <a:ea typeface="EB Garamond"/>
              <a:cs typeface="EB Garamond"/>
              <a:sym typeface="EB Garamond"/>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00"/>
        <p:cNvGrpSpPr/>
        <p:nvPr/>
      </p:nvGrpSpPr>
      <p:grpSpPr>
        <a:xfrm>
          <a:off x="0" y="0"/>
          <a:ext cx="0" cy="0"/>
          <a:chOff x="0" y="0"/>
          <a:chExt cx="0" cy="0"/>
        </a:xfrm>
      </p:grpSpPr>
      <p:sp>
        <p:nvSpPr>
          <p:cNvPr id="201" name="Google Shape;201;p2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b="1">
                <a:latin typeface="EB Garamond"/>
                <a:ea typeface="EB Garamond"/>
                <a:cs typeface="EB Garamond"/>
                <a:sym typeface="EB Garamond"/>
              </a:rPr>
              <a:t>Lo que NO son</a:t>
            </a:r>
            <a:endParaRPr b="1">
              <a:latin typeface="EB Garamond"/>
              <a:ea typeface="EB Garamond"/>
              <a:cs typeface="EB Garamond"/>
              <a:sym typeface="EB Garamond"/>
            </a:endParaRPr>
          </a:p>
        </p:txBody>
      </p:sp>
      <p:sp>
        <p:nvSpPr>
          <p:cNvPr id="202" name="Google Shape;202;p27"/>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endParaRPr>
              <a:latin typeface="EB Garamond"/>
              <a:ea typeface="EB Garamond"/>
              <a:cs typeface="EB Garamond"/>
              <a:sym typeface="EB Garamond"/>
            </a:endParaRPr>
          </a:p>
          <a:p>
            <a:pPr marL="0" lvl="0" indent="0" algn="l" rtl="0">
              <a:spcBef>
                <a:spcPts val="1200"/>
              </a:spcBef>
              <a:spcAft>
                <a:spcPts val="0"/>
              </a:spcAft>
              <a:buClr>
                <a:schemeClr val="dk1"/>
              </a:buClr>
              <a:buSzPts val="1100"/>
              <a:buFont typeface="Arial"/>
              <a:buNone/>
            </a:pPr>
            <a:r>
              <a:rPr lang="es">
                <a:latin typeface="EB Garamond"/>
                <a:ea typeface="EB Garamond"/>
                <a:cs typeface="EB Garamond"/>
                <a:sym typeface="EB Garamond"/>
              </a:rPr>
              <a:t>X 	</a:t>
            </a:r>
            <a:r>
              <a:rPr lang="es">
                <a:solidFill>
                  <a:schemeClr val="lt2"/>
                </a:solidFill>
                <a:highlight>
                  <a:srgbClr val="A64D79"/>
                </a:highlight>
                <a:latin typeface="EB Garamond"/>
                <a:ea typeface="EB Garamond"/>
                <a:cs typeface="EB Garamond"/>
                <a:sym typeface="EB Garamond"/>
              </a:rPr>
              <a:t>No es la afirmación</a:t>
            </a:r>
            <a:r>
              <a:rPr lang="es">
                <a:latin typeface="EB Garamond"/>
                <a:ea typeface="EB Garamond"/>
                <a:cs typeface="EB Garamond"/>
                <a:sym typeface="EB Garamond"/>
              </a:rPr>
              <a:t> de un hecho, está sujeta a comprobación.</a:t>
            </a:r>
            <a:endParaRPr>
              <a:latin typeface="EB Garamond"/>
              <a:ea typeface="EB Garamond"/>
              <a:cs typeface="EB Garamond"/>
              <a:sym typeface="EB Garamond"/>
            </a:endParaRPr>
          </a:p>
          <a:p>
            <a:pPr marL="0" lvl="0" indent="0" algn="l" rtl="0">
              <a:spcBef>
                <a:spcPts val="1200"/>
              </a:spcBef>
              <a:spcAft>
                <a:spcPts val="0"/>
              </a:spcAft>
              <a:buClr>
                <a:schemeClr val="dk1"/>
              </a:buClr>
              <a:buSzPts val="1100"/>
              <a:buFont typeface="Arial"/>
              <a:buNone/>
            </a:pPr>
            <a:r>
              <a:rPr lang="es">
                <a:latin typeface="EB Garamond"/>
                <a:ea typeface="EB Garamond"/>
                <a:cs typeface="EB Garamond"/>
                <a:sym typeface="EB Garamond"/>
              </a:rPr>
              <a:t>X 	</a:t>
            </a:r>
            <a:r>
              <a:rPr lang="es">
                <a:solidFill>
                  <a:schemeClr val="lt2"/>
                </a:solidFill>
                <a:highlight>
                  <a:srgbClr val="A64D79"/>
                </a:highlight>
                <a:latin typeface="EB Garamond"/>
                <a:ea typeface="EB Garamond"/>
                <a:cs typeface="EB Garamond"/>
                <a:sym typeface="EB Garamond"/>
              </a:rPr>
              <a:t>No siempre ilustran todo</a:t>
            </a:r>
            <a:r>
              <a:rPr lang="es">
                <a:latin typeface="EB Garamond"/>
                <a:ea typeface="EB Garamond"/>
                <a:cs typeface="EB Garamond"/>
                <a:sym typeface="EB Garamond"/>
              </a:rPr>
              <a:t> lo que se busca investigar.</a:t>
            </a:r>
            <a:endParaRPr>
              <a:latin typeface="EB Garamond"/>
              <a:ea typeface="EB Garamond"/>
              <a:cs typeface="EB Garamond"/>
              <a:sym typeface="EB Garamond"/>
            </a:endParaRPr>
          </a:p>
          <a:p>
            <a:pPr marL="0" lvl="0" indent="0" algn="l" rtl="0">
              <a:spcBef>
                <a:spcPts val="1200"/>
              </a:spcBef>
              <a:spcAft>
                <a:spcPts val="1200"/>
              </a:spcAft>
              <a:buNone/>
            </a:pPr>
            <a:r>
              <a:rPr lang="es">
                <a:latin typeface="EB Garamond"/>
                <a:ea typeface="EB Garamond"/>
                <a:cs typeface="EB Garamond"/>
                <a:sym typeface="EB Garamond"/>
              </a:rPr>
              <a:t>X 	</a:t>
            </a:r>
            <a:r>
              <a:rPr lang="es">
                <a:solidFill>
                  <a:schemeClr val="lt2"/>
                </a:solidFill>
                <a:highlight>
                  <a:srgbClr val="A64D79"/>
                </a:highlight>
                <a:latin typeface="EB Garamond"/>
                <a:ea typeface="EB Garamond"/>
                <a:cs typeface="EB Garamond"/>
                <a:sym typeface="EB Garamond"/>
              </a:rPr>
              <a:t>No</a:t>
            </a:r>
            <a:r>
              <a:rPr lang="es">
                <a:latin typeface="EB Garamond"/>
                <a:ea typeface="EB Garamond"/>
                <a:cs typeface="EB Garamond"/>
                <a:sym typeface="EB Garamond"/>
              </a:rPr>
              <a:t> necesariamente surgen de un </a:t>
            </a:r>
            <a:r>
              <a:rPr lang="es">
                <a:solidFill>
                  <a:schemeClr val="lt2"/>
                </a:solidFill>
                <a:highlight>
                  <a:srgbClr val="A64D79"/>
                </a:highlight>
                <a:latin typeface="EB Garamond"/>
                <a:ea typeface="EB Garamond"/>
                <a:cs typeface="EB Garamond"/>
                <a:sym typeface="EB Garamond"/>
              </a:rPr>
              <a:t>cuerpo teórico abundante</a:t>
            </a:r>
            <a:r>
              <a:rPr lang="es">
                <a:latin typeface="EB Garamond"/>
                <a:ea typeface="EB Garamond"/>
                <a:cs typeface="EB Garamond"/>
                <a:sym typeface="EB Garamond"/>
              </a:rPr>
              <a:t>.</a:t>
            </a:r>
            <a:endParaRPr>
              <a:latin typeface="EB Garamond"/>
              <a:ea typeface="EB Garamond"/>
              <a:cs typeface="EB Garamond"/>
              <a:sym typeface="EB Garamond"/>
            </a:endParaRPr>
          </a:p>
        </p:txBody>
      </p:sp>
      <p:sp>
        <p:nvSpPr>
          <p:cNvPr id="203" name="Google Shape;203;p2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s"/>
              <a:t>15</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07"/>
        <p:cNvGrpSpPr/>
        <p:nvPr/>
      </p:nvGrpSpPr>
      <p:grpSpPr>
        <a:xfrm>
          <a:off x="0" y="0"/>
          <a:ext cx="0" cy="0"/>
          <a:chOff x="0" y="0"/>
          <a:chExt cx="0" cy="0"/>
        </a:xfrm>
      </p:grpSpPr>
      <p:sp>
        <p:nvSpPr>
          <p:cNvPr id="208" name="Google Shape;208;p2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b="1">
                <a:latin typeface="EB Garamond"/>
                <a:ea typeface="EB Garamond"/>
                <a:cs typeface="EB Garamond"/>
                <a:sym typeface="EB Garamond"/>
              </a:rPr>
              <a:t>Tipos de hipótesis de investigación según tipo de investigación</a:t>
            </a:r>
            <a:endParaRPr b="1">
              <a:latin typeface="EB Garamond"/>
              <a:ea typeface="EB Garamond"/>
              <a:cs typeface="EB Garamond"/>
              <a:sym typeface="EB Garamond"/>
            </a:endParaRPr>
          </a:p>
        </p:txBody>
      </p:sp>
      <p:sp>
        <p:nvSpPr>
          <p:cNvPr id="209" name="Google Shape;209;p2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s"/>
              <a:t>16</a:t>
            </a:fld>
            <a:endParaRPr/>
          </a:p>
        </p:txBody>
      </p:sp>
      <p:grpSp>
        <p:nvGrpSpPr>
          <p:cNvPr id="210" name="Google Shape;210;p28"/>
          <p:cNvGrpSpPr/>
          <p:nvPr/>
        </p:nvGrpSpPr>
        <p:grpSpPr>
          <a:xfrm>
            <a:off x="606319" y="1349468"/>
            <a:ext cx="8020466" cy="2096036"/>
            <a:chOff x="4153" y="959175"/>
            <a:chExt cx="8020466" cy="2096036"/>
          </a:xfrm>
        </p:grpSpPr>
        <p:sp>
          <p:nvSpPr>
            <p:cNvPr id="211" name="Google Shape;211;p28"/>
            <p:cNvSpPr/>
            <p:nvPr/>
          </p:nvSpPr>
          <p:spPr>
            <a:xfrm>
              <a:off x="4014439" y="1825327"/>
              <a:ext cx="3144000" cy="363900"/>
            </a:xfrm>
            <a:custGeom>
              <a:avLst/>
              <a:gdLst/>
              <a:ahLst/>
              <a:cxnLst/>
              <a:rect l="l" t="t" r="r" b="b"/>
              <a:pathLst>
                <a:path w="120000" h="120000" extrusionOk="0">
                  <a:moveTo>
                    <a:pt x="0" y="0"/>
                  </a:moveTo>
                  <a:lnTo>
                    <a:pt x="0" y="60000"/>
                  </a:lnTo>
                  <a:lnTo>
                    <a:pt x="120000" y="60000"/>
                  </a:lnTo>
                  <a:lnTo>
                    <a:pt x="120000" y="120000"/>
                  </a:lnTo>
                </a:path>
              </a:pathLst>
            </a:custGeom>
            <a:noFill/>
            <a:ln w="12700" cap="flat" cmpd="sng">
              <a:solidFill>
                <a:srgbClr val="345A99"/>
              </a:solidFill>
              <a:prstDash val="solid"/>
              <a:miter lim="800000"/>
              <a:headEnd type="none" w="sm" len="sm"/>
              <a:tailEnd type="none" w="sm" len="sm"/>
            </a:ln>
          </p:spPr>
          <p:txBody>
            <a:bodyPr/>
            <a:lstStyle/>
            <a:p>
              <a:endParaRPr lang="es-CL"/>
            </a:p>
          </p:txBody>
        </p:sp>
        <p:sp>
          <p:nvSpPr>
            <p:cNvPr id="212" name="Google Shape;212;p28"/>
            <p:cNvSpPr/>
            <p:nvPr/>
          </p:nvSpPr>
          <p:spPr>
            <a:xfrm>
              <a:off x="4014439" y="1825327"/>
              <a:ext cx="1047900" cy="363900"/>
            </a:xfrm>
            <a:custGeom>
              <a:avLst/>
              <a:gdLst/>
              <a:ahLst/>
              <a:cxnLst/>
              <a:rect l="l" t="t" r="r" b="b"/>
              <a:pathLst>
                <a:path w="120000" h="120000" extrusionOk="0">
                  <a:moveTo>
                    <a:pt x="0" y="0"/>
                  </a:moveTo>
                  <a:lnTo>
                    <a:pt x="0" y="60000"/>
                  </a:lnTo>
                  <a:lnTo>
                    <a:pt x="120000" y="60000"/>
                  </a:lnTo>
                  <a:lnTo>
                    <a:pt x="120000" y="120000"/>
                  </a:lnTo>
                </a:path>
              </a:pathLst>
            </a:custGeom>
            <a:noFill/>
            <a:ln w="12700" cap="flat" cmpd="sng">
              <a:solidFill>
                <a:srgbClr val="345A99"/>
              </a:solidFill>
              <a:prstDash val="solid"/>
              <a:miter lim="800000"/>
              <a:headEnd type="none" w="sm" len="sm"/>
              <a:tailEnd type="none" w="sm" len="sm"/>
            </a:ln>
          </p:spPr>
          <p:txBody>
            <a:bodyPr/>
            <a:lstStyle/>
            <a:p>
              <a:endParaRPr lang="es-CL"/>
            </a:p>
          </p:txBody>
        </p:sp>
        <p:sp>
          <p:nvSpPr>
            <p:cNvPr id="213" name="Google Shape;213;p28"/>
            <p:cNvSpPr/>
            <p:nvPr/>
          </p:nvSpPr>
          <p:spPr>
            <a:xfrm>
              <a:off x="2966394" y="1825327"/>
              <a:ext cx="1047900" cy="363900"/>
            </a:xfrm>
            <a:custGeom>
              <a:avLst/>
              <a:gdLst/>
              <a:ahLst/>
              <a:cxnLst/>
              <a:rect l="l" t="t" r="r" b="b"/>
              <a:pathLst>
                <a:path w="120000" h="120000" extrusionOk="0">
                  <a:moveTo>
                    <a:pt x="120000" y="0"/>
                  </a:moveTo>
                  <a:lnTo>
                    <a:pt x="120000" y="60000"/>
                  </a:lnTo>
                  <a:lnTo>
                    <a:pt x="0" y="60000"/>
                  </a:lnTo>
                  <a:lnTo>
                    <a:pt x="0" y="120000"/>
                  </a:lnTo>
                </a:path>
              </a:pathLst>
            </a:custGeom>
            <a:noFill/>
            <a:ln w="12700" cap="flat" cmpd="sng">
              <a:solidFill>
                <a:srgbClr val="345A99"/>
              </a:solidFill>
              <a:prstDash val="solid"/>
              <a:miter lim="800000"/>
              <a:headEnd type="none" w="sm" len="sm"/>
              <a:tailEnd type="none" w="sm" len="sm"/>
            </a:ln>
          </p:spPr>
          <p:txBody>
            <a:bodyPr/>
            <a:lstStyle/>
            <a:p>
              <a:endParaRPr lang="es-CL"/>
            </a:p>
          </p:txBody>
        </p:sp>
        <p:sp>
          <p:nvSpPr>
            <p:cNvPr id="214" name="Google Shape;214;p28"/>
            <p:cNvSpPr/>
            <p:nvPr/>
          </p:nvSpPr>
          <p:spPr>
            <a:xfrm>
              <a:off x="870305" y="1825327"/>
              <a:ext cx="3144000" cy="363900"/>
            </a:xfrm>
            <a:custGeom>
              <a:avLst/>
              <a:gdLst/>
              <a:ahLst/>
              <a:cxnLst/>
              <a:rect l="l" t="t" r="r" b="b"/>
              <a:pathLst>
                <a:path w="120000" h="120000" extrusionOk="0">
                  <a:moveTo>
                    <a:pt x="120000" y="0"/>
                  </a:moveTo>
                  <a:lnTo>
                    <a:pt x="120000" y="60000"/>
                  </a:lnTo>
                  <a:lnTo>
                    <a:pt x="0" y="60000"/>
                  </a:lnTo>
                  <a:lnTo>
                    <a:pt x="0" y="120000"/>
                  </a:lnTo>
                </a:path>
              </a:pathLst>
            </a:custGeom>
            <a:noFill/>
            <a:ln w="12700" cap="flat" cmpd="sng">
              <a:solidFill>
                <a:srgbClr val="345A99"/>
              </a:solidFill>
              <a:prstDash val="solid"/>
              <a:miter lim="800000"/>
              <a:headEnd type="none" w="sm" len="sm"/>
              <a:tailEnd type="none" w="sm" len="sm"/>
            </a:ln>
          </p:spPr>
          <p:txBody>
            <a:bodyPr/>
            <a:lstStyle/>
            <a:p>
              <a:endParaRPr lang="es-CL"/>
            </a:p>
          </p:txBody>
        </p:sp>
        <p:sp>
          <p:nvSpPr>
            <p:cNvPr id="215" name="Google Shape;215;p28"/>
            <p:cNvSpPr/>
            <p:nvPr/>
          </p:nvSpPr>
          <p:spPr>
            <a:xfrm>
              <a:off x="3148286" y="959175"/>
              <a:ext cx="1732200" cy="866100"/>
            </a:xfrm>
            <a:prstGeom prst="rect">
              <a:avLst/>
            </a:prstGeom>
            <a:solidFill>
              <a:srgbClr val="A5A5A5"/>
            </a:solidFill>
            <a:ln w="12700" cap="flat" cmpd="sng">
              <a:solidFill>
                <a:srgbClr val="FFFFFF"/>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28"/>
            <p:cNvSpPr txBox="1"/>
            <p:nvPr/>
          </p:nvSpPr>
          <p:spPr>
            <a:xfrm>
              <a:off x="3148286" y="959175"/>
              <a:ext cx="1732200" cy="866100"/>
            </a:xfrm>
            <a:prstGeom prst="rect">
              <a:avLst/>
            </a:prstGeom>
            <a:solidFill>
              <a:schemeClr val="accent3"/>
            </a:solidFill>
            <a:ln>
              <a:noFill/>
            </a:ln>
          </p:spPr>
          <p:txBody>
            <a:bodyPr spcFirstLastPara="1" wrap="square" lIns="11425" tIns="11425" rIns="11425" bIns="11425" anchor="ctr" anchorCtr="0">
              <a:noAutofit/>
            </a:bodyPr>
            <a:lstStyle/>
            <a:p>
              <a:pPr marL="0" marR="0" lvl="0" indent="0" algn="ctr" rtl="0">
                <a:lnSpc>
                  <a:spcPct val="90000"/>
                </a:lnSpc>
                <a:spcBef>
                  <a:spcPts val="0"/>
                </a:spcBef>
                <a:spcAft>
                  <a:spcPts val="0"/>
                </a:spcAft>
                <a:buNone/>
              </a:pPr>
              <a:r>
                <a:rPr lang="es" sz="1800">
                  <a:solidFill>
                    <a:schemeClr val="lt2"/>
                  </a:solidFill>
                  <a:latin typeface="EB Garamond"/>
                  <a:ea typeface="EB Garamond"/>
                  <a:cs typeface="EB Garamond"/>
                  <a:sym typeface="EB Garamond"/>
                </a:rPr>
                <a:t>Investigación cuantitativa</a:t>
              </a:r>
              <a:endParaRPr>
                <a:solidFill>
                  <a:schemeClr val="lt2"/>
                </a:solidFill>
                <a:latin typeface="EB Garamond"/>
                <a:ea typeface="EB Garamond"/>
                <a:cs typeface="EB Garamond"/>
                <a:sym typeface="EB Garamond"/>
              </a:endParaRPr>
            </a:p>
          </p:txBody>
        </p:sp>
        <p:sp>
          <p:nvSpPr>
            <p:cNvPr id="217" name="Google Shape;217;p28"/>
            <p:cNvSpPr/>
            <p:nvPr/>
          </p:nvSpPr>
          <p:spPr>
            <a:xfrm>
              <a:off x="4153" y="2189111"/>
              <a:ext cx="1732200" cy="866100"/>
            </a:xfrm>
            <a:prstGeom prst="rect">
              <a:avLst/>
            </a:prstGeom>
            <a:solidFill>
              <a:srgbClr val="FFC000"/>
            </a:solidFill>
            <a:ln w="12700" cap="flat" cmpd="sng">
              <a:solidFill>
                <a:srgbClr val="FFFFFF"/>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28"/>
            <p:cNvSpPr txBox="1"/>
            <p:nvPr/>
          </p:nvSpPr>
          <p:spPr>
            <a:xfrm>
              <a:off x="4153" y="2189111"/>
              <a:ext cx="1732200" cy="866100"/>
            </a:xfrm>
            <a:prstGeom prst="rect">
              <a:avLst/>
            </a:prstGeom>
            <a:noFill/>
            <a:ln>
              <a:noFill/>
            </a:ln>
          </p:spPr>
          <p:txBody>
            <a:bodyPr spcFirstLastPara="1" wrap="square" lIns="11425" tIns="11425" rIns="11425" bIns="11425" anchor="ctr" anchorCtr="0">
              <a:noAutofit/>
            </a:bodyPr>
            <a:lstStyle/>
            <a:p>
              <a:pPr marL="0" marR="0" lvl="0" indent="0" algn="ctr" rtl="0">
                <a:lnSpc>
                  <a:spcPct val="90000"/>
                </a:lnSpc>
                <a:spcBef>
                  <a:spcPts val="0"/>
                </a:spcBef>
                <a:spcAft>
                  <a:spcPts val="0"/>
                </a:spcAft>
                <a:buNone/>
              </a:pPr>
              <a:r>
                <a:rPr lang="es" sz="1800">
                  <a:solidFill>
                    <a:schemeClr val="dk2"/>
                  </a:solidFill>
                  <a:latin typeface="EB Garamond"/>
                  <a:ea typeface="EB Garamond"/>
                  <a:cs typeface="EB Garamond"/>
                  <a:sym typeface="EB Garamond"/>
                </a:rPr>
                <a:t>Exploratoria</a:t>
              </a:r>
              <a:endParaRPr>
                <a:solidFill>
                  <a:schemeClr val="dk2"/>
                </a:solidFill>
                <a:latin typeface="EB Garamond"/>
                <a:ea typeface="EB Garamond"/>
                <a:cs typeface="EB Garamond"/>
                <a:sym typeface="EB Garamond"/>
              </a:endParaRPr>
            </a:p>
          </p:txBody>
        </p:sp>
        <p:sp>
          <p:nvSpPr>
            <p:cNvPr id="219" name="Google Shape;219;p28"/>
            <p:cNvSpPr/>
            <p:nvPr/>
          </p:nvSpPr>
          <p:spPr>
            <a:xfrm>
              <a:off x="2100242" y="2189111"/>
              <a:ext cx="1732200" cy="866100"/>
            </a:xfrm>
            <a:prstGeom prst="rect">
              <a:avLst/>
            </a:prstGeom>
            <a:solidFill>
              <a:srgbClr val="FFC000"/>
            </a:solidFill>
            <a:ln w="12700" cap="flat" cmpd="sng">
              <a:solidFill>
                <a:srgbClr val="FFFFFF"/>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 name="Google Shape;220;p28"/>
            <p:cNvSpPr txBox="1"/>
            <p:nvPr/>
          </p:nvSpPr>
          <p:spPr>
            <a:xfrm>
              <a:off x="2100242" y="2189111"/>
              <a:ext cx="1732200" cy="866100"/>
            </a:xfrm>
            <a:prstGeom prst="rect">
              <a:avLst/>
            </a:prstGeom>
            <a:noFill/>
            <a:ln>
              <a:noFill/>
            </a:ln>
          </p:spPr>
          <p:txBody>
            <a:bodyPr spcFirstLastPara="1" wrap="square" lIns="11425" tIns="11425" rIns="11425" bIns="11425" anchor="ctr" anchorCtr="0">
              <a:noAutofit/>
            </a:bodyPr>
            <a:lstStyle/>
            <a:p>
              <a:pPr marL="0" marR="0" lvl="0" indent="0" algn="ctr" rtl="0">
                <a:lnSpc>
                  <a:spcPct val="90000"/>
                </a:lnSpc>
                <a:spcBef>
                  <a:spcPts val="0"/>
                </a:spcBef>
                <a:spcAft>
                  <a:spcPts val="0"/>
                </a:spcAft>
                <a:buNone/>
              </a:pPr>
              <a:r>
                <a:rPr lang="es" sz="1800">
                  <a:solidFill>
                    <a:schemeClr val="dk2"/>
                  </a:solidFill>
                  <a:latin typeface="EB Garamond"/>
                  <a:ea typeface="EB Garamond"/>
                  <a:cs typeface="EB Garamond"/>
                  <a:sym typeface="EB Garamond"/>
                </a:rPr>
                <a:t>Descriptiva</a:t>
              </a:r>
              <a:endParaRPr>
                <a:solidFill>
                  <a:schemeClr val="dk2"/>
                </a:solidFill>
                <a:latin typeface="EB Garamond"/>
                <a:ea typeface="EB Garamond"/>
                <a:cs typeface="EB Garamond"/>
                <a:sym typeface="EB Garamond"/>
              </a:endParaRPr>
            </a:p>
          </p:txBody>
        </p:sp>
        <p:sp>
          <p:nvSpPr>
            <p:cNvPr id="221" name="Google Shape;221;p28"/>
            <p:cNvSpPr/>
            <p:nvPr/>
          </p:nvSpPr>
          <p:spPr>
            <a:xfrm>
              <a:off x="4196331" y="2189111"/>
              <a:ext cx="1732200" cy="866100"/>
            </a:xfrm>
            <a:prstGeom prst="rect">
              <a:avLst/>
            </a:prstGeom>
            <a:solidFill>
              <a:srgbClr val="FFC000"/>
            </a:solidFill>
            <a:ln w="12700" cap="flat" cmpd="sng">
              <a:solidFill>
                <a:srgbClr val="FFFFFF"/>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 name="Google Shape;222;p28"/>
            <p:cNvSpPr txBox="1"/>
            <p:nvPr/>
          </p:nvSpPr>
          <p:spPr>
            <a:xfrm>
              <a:off x="4196331" y="2189111"/>
              <a:ext cx="1732200" cy="866100"/>
            </a:xfrm>
            <a:prstGeom prst="rect">
              <a:avLst/>
            </a:prstGeom>
            <a:noFill/>
            <a:ln>
              <a:noFill/>
            </a:ln>
          </p:spPr>
          <p:txBody>
            <a:bodyPr spcFirstLastPara="1" wrap="square" lIns="11425" tIns="11425" rIns="11425" bIns="11425" anchor="ctr" anchorCtr="0">
              <a:noAutofit/>
            </a:bodyPr>
            <a:lstStyle/>
            <a:p>
              <a:pPr marL="0" marR="0" lvl="0" indent="0" algn="ctr" rtl="0">
                <a:lnSpc>
                  <a:spcPct val="90000"/>
                </a:lnSpc>
                <a:spcBef>
                  <a:spcPts val="0"/>
                </a:spcBef>
                <a:spcAft>
                  <a:spcPts val="0"/>
                </a:spcAft>
                <a:buNone/>
              </a:pPr>
              <a:r>
                <a:rPr lang="es" sz="1800">
                  <a:solidFill>
                    <a:schemeClr val="dk2"/>
                  </a:solidFill>
                  <a:latin typeface="EB Garamond"/>
                  <a:ea typeface="EB Garamond"/>
                  <a:cs typeface="EB Garamond"/>
                  <a:sym typeface="EB Garamond"/>
                </a:rPr>
                <a:t>Correlacional</a:t>
              </a:r>
              <a:endParaRPr>
                <a:solidFill>
                  <a:schemeClr val="dk2"/>
                </a:solidFill>
                <a:latin typeface="EB Garamond"/>
                <a:ea typeface="EB Garamond"/>
                <a:cs typeface="EB Garamond"/>
                <a:sym typeface="EB Garamond"/>
              </a:endParaRPr>
            </a:p>
          </p:txBody>
        </p:sp>
        <p:sp>
          <p:nvSpPr>
            <p:cNvPr id="223" name="Google Shape;223;p28"/>
            <p:cNvSpPr/>
            <p:nvPr/>
          </p:nvSpPr>
          <p:spPr>
            <a:xfrm>
              <a:off x="6292419" y="2189111"/>
              <a:ext cx="1732200" cy="866100"/>
            </a:xfrm>
            <a:prstGeom prst="rect">
              <a:avLst/>
            </a:prstGeom>
            <a:solidFill>
              <a:srgbClr val="FFC000"/>
            </a:solidFill>
            <a:ln w="12700" cap="flat" cmpd="sng">
              <a:solidFill>
                <a:srgbClr val="FFFFFF"/>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8"/>
            <p:cNvSpPr txBox="1"/>
            <p:nvPr/>
          </p:nvSpPr>
          <p:spPr>
            <a:xfrm>
              <a:off x="6292419" y="2189111"/>
              <a:ext cx="1732200" cy="866100"/>
            </a:xfrm>
            <a:prstGeom prst="rect">
              <a:avLst/>
            </a:prstGeom>
            <a:noFill/>
            <a:ln>
              <a:noFill/>
            </a:ln>
          </p:spPr>
          <p:txBody>
            <a:bodyPr spcFirstLastPara="1" wrap="square" lIns="11425" tIns="11425" rIns="11425" bIns="11425" anchor="ctr" anchorCtr="0">
              <a:noAutofit/>
            </a:bodyPr>
            <a:lstStyle/>
            <a:p>
              <a:pPr marL="0" marR="0" lvl="0" indent="0" algn="ctr" rtl="0">
                <a:lnSpc>
                  <a:spcPct val="90000"/>
                </a:lnSpc>
                <a:spcBef>
                  <a:spcPts val="0"/>
                </a:spcBef>
                <a:spcAft>
                  <a:spcPts val="0"/>
                </a:spcAft>
                <a:buNone/>
              </a:pPr>
              <a:r>
                <a:rPr lang="es" sz="1800">
                  <a:solidFill>
                    <a:schemeClr val="dk2"/>
                  </a:solidFill>
                  <a:latin typeface="EB Garamond"/>
                  <a:ea typeface="EB Garamond"/>
                  <a:cs typeface="EB Garamond"/>
                  <a:sym typeface="EB Garamond"/>
                </a:rPr>
                <a:t>Causal</a:t>
              </a:r>
              <a:endParaRPr>
                <a:solidFill>
                  <a:schemeClr val="dk2"/>
                </a:solidFill>
                <a:latin typeface="EB Garamond"/>
                <a:ea typeface="EB Garamond"/>
                <a:cs typeface="EB Garamond"/>
                <a:sym typeface="EB Garamond"/>
              </a:endParaRPr>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28"/>
        <p:cNvGrpSpPr/>
        <p:nvPr/>
      </p:nvGrpSpPr>
      <p:grpSpPr>
        <a:xfrm>
          <a:off x="0" y="0"/>
          <a:ext cx="0" cy="0"/>
          <a:chOff x="0" y="0"/>
          <a:chExt cx="0" cy="0"/>
        </a:xfrm>
      </p:grpSpPr>
      <p:sp>
        <p:nvSpPr>
          <p:cNvPr id="229" name="Google Shape;229;p2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s"/>
              <a:t>17</a:t>
            </a:fld>
            <a:endParaRPr/>
          </a:p>
        </p:txBody>
      </p:sp>
      <p:grpSp>
        <p:nvGrpSpPr>
          <p:cNvPr id="230" name="Google Shape;230;p29"/>
          <p:cNvGrpSpPr/>
          <p:nvPr/>
        </p:nvGrpSpPr>
        <p:grpSpPr>
          <a:xfrm>
            <a:off x="605008" y="1019234"/>
            <a:ext cx="8023096" cy="3156618"/>
            <a:chOff x="2842" y="628941"/>
            <a:chExt cx="8023096" cy="3156618"/>
          </a:xfrm>
        </p:grpSpPr>
        <p:sp>
          <p:nvSpPr>
            <p:cNvPr id="231" name="Google Shape;231;p29"/>
            <p:cNvSpPr/>
            <p:nvPr/>
          </p:nvSpPr>
          <p:spPr>
            <a:xfrm>
              <a:off x="6135324" y="2618298"/>
              <a:ext cx="246600" cy="756300"/>
            </a:xfrm>
            <a:custGeom>
              <a:avLst/>
              <a:gdLst/>
              <a:ahLst/>
              <a:cxnLst/>
              <a:rect l="l" t="t" r="r" b="b"/>
              <a:pathLst>
                <a:path w="120000" h="120000" extrusionOk="0">
                  <a:moveTo>
                    <a:pt x="0" y="0"/>
                  </a:moveTo>
                  <a:lnTo>
                    <a:pt x="0" y="120000"/>
                  </a:lnTo>
                  <a:lnTo>
                    <a:pt x="120000" y="120000"/>
                  </a:lnTo>
                </a:path>
              </a:pathLst>
            </a:custGeom>
            <a:noFill/>
            <a:ln w="12700" cap="flat" cmpd="sng">
              <a:solidFill>
                <a:srgbClr val="3A66B1"/>
              </a:solidFill>
              <a:prstDash val="solid"/>
              <a:miter lim="800000"/>
              <a:headEnd type="none" w="sm" len="sm"/>
              <a:tailEnd type="none" w="sm" len="sm"/>
            </a:ln>
          </p:spPr>
          <p:txBody>
            <a:bodyPr/>
            <a:lstStyle/>
            <a:p>
              <a:endParaRPr lang="es-CL"/>
            </a:p>
          </p:txBody>
        </p:sp>
        <p:sp>
          <p:nvSpPr>
            <p:cNvPr id="232" name="Google Shape;232;p29"/>
            <p:cNvSpPr/>
            <p:nvPr/>
          </p:nvSpPr>
          <p:spPr>
            <a:xfrm>
              <a:off x="3808926" y="1450989"/>
              <a:ext cx="2984100" cy="345300"/>
            </a:xfrm>
            <a:custGeom>
              <a:avLst/>
              <a:gdLst/>
              <a:ahLst/>
              <a:cxnLst/>
              <a:rect l="l" t="t" r="r" b="b"/>
              <a:pathLst>
                <a:path w="120000" h="120000" extrusionOk="0">
                  <a:moveTo>
                    <a:pt x="0" y="0"/>
                  </a:moveTo>
                  <a:lnTo>
                    <a:pt x="0" y="60000"/>
                  </a:lnTo>
                  <a:lnTo>
                    <a:pt x="120000" y="60000"/>
                  </a:lnTo>
                  <a:lnTo>
                    <a:pt x="120000" y="120000"/>
                  </a:lnTo>
                </a:path>
              </a:pathLst>
            </a:custGeom>
            <a:noFill/>
            <a:ln w="12700" cap="flat" cmpd="sng">
              <a:solidFill>
                <a:srgbClr val="345A99"/>
              </a:solidFill>
              <a:prstDash val="solid"/>
              <a:miter lim="800000"/>
              <a:headEnd type="none" w="sm" len="sm"/>
              <a:tailEnd type="none" w="sm" len="sm"/>
            </a:ln>
          </p:spPr>
          <p:txBody>
            <a:bodyPr/>
            <a:lstStyle/>
            <a:p>
              <a:endParaRPr lang="es-CL"/>
            </a:p>
          </p:txBody>
        </p:sp>
        <p:sp>
          <p:nvSpPr>
            <p:cNvPr id="233" name="Google Shape;233;p29"/>
            <p:cNvSpPr/>
            <p:nvPr/>
          </p:nvSpPr>
          <p:spPr>
            <a:xfrm>
              <a:off x="4145966" y="2618298"/>
              <a:ext cx="246600" cy="756300"/>
            </a:xfrm>
            <a:custGeom>
              <a:avLst/>
              <a:gdLst/>
              <a:ahLst/>
              <a:cxnLst/>
              <a:rect l="l" t="t" r="r" b="b"/>
              <a:pathLst>
                <a:path w="120000" h="120000" extrusionOk="0">
                  <a:moveTo>
                    <a:pt x="0" y="0"/>
                  </a:moveTo>
                  <a:lnTo>
                    <a:pt x="0" y="120000"/>
                  </a:lnTo>
                  <a:lnTo>
                    <a:pt x="120000" y="120000"/>
                  </a:lnTo>
                </a:path>
              </a:pathLst>
            </a:custGeom>
            <a:noFill/>
            <a:ln w="12700" cap="flat" cmpd="sng">
              <a:solidFill>
                <a:srgbClr val="3A66B1"/>
              </a:solidFill>
              <a:prstDash val="solid"/>
              <a:miter lim="800000"/>
              <a:headEnd type="none" w="sm" len="sm"/>
              <a:tailEnd type="none" w="sm" len="sm"/>
            </a:ln>
          </p:spPr>
          <p:txBody>
            <a:bodyPr/>
            <a:lstStyle/>
            <a:p>
              <a:endParaRPr lang="es-CL"/>
            </a:p>
          </p:txBody>
        </p:sp>
        <p:sp>
          <p:nvSpPr>
            <p:cNvPr id="234" name="Google Shape;234;p29"/>
            <p:cNvSpPr/>
            <p:nvPr/>
          </p:nvSpPr>
          <p:spPr>
            <a:xfrm>
              <a:off x="3808926" y="1450989"/>
              <a:ext cx="994800" cy="345300"/>
            </a:xfrm>
            <a:custGeom>
              <a:avLst/>
              <a:gdLst/>
              <a:ahLst/>
              <a:cxnLst/>
              <a:rect l="l" t="t" r="r" b="b"/>
              <a:pathLst>
                <a:path w="120000" h="120000" extrusionOk="0">
                  <a:moveTo>
                    <a:pt x="0" y="0"/>
                  </a:moveTo>
                  <a:lnTo>
                    <a:pt x="0" y="60000"/>
                  </a:lnTo>
                  <a:lnTo>
                    <a:pt x="120000" y="60000"/>
                  </a:lnTo>
                  <a:lnTo>
                    <a:pt x="120000" y="120000"/>
                  </a:lnTo>
                </a:path>
              </a:pathLst>
            </a:custGeom>
            <a:noFill/>
            <a:ln w="12700" cap="flat" cmpd="sng">
              <a:solidFill>
                <a:srgbClr val="345A99"/>
              </a:solidFill>
              <a:prstDash val="solid"/>
              <a:miter lim="800000"/>
              <a:headEnd type="none" w="sm" len="sm"/>
              <a:tailEnd type="none" w="sm" len="sm"/>
            </a:ln>
          </p:spPr>
          <p:txBody>
            <a:bodyPr/>
            <a:lstStyle/>
            <a:p>
              <a:endParaRPr lang="es-CL"/>
            </a:p>
          </p:txBody>
        </p:sp>
        <p:sp>
          <p:nvSpPr>
            <p:cNvPr id="235" name="Google Shape;235;p29"/>
            <p:cNvSpPr/>
            <p:nvPr/>
          </p:nvSpPr>
          <p:spPr>
            <a:xfrm>
              <a:off x="2156609" y="2618298"/>
              <a:ext cx="246600" cy="756300"/>
            </a:xfrm>
            <a:custGeom>
              <a:avLst/>
              <a:gdLst/>
              <a:ahLst/>
              <a:cxnLst/>
              <a:rect l="l" t="t" r="r" b="b"/>
              <a:pathLst>
                <a:path w="120000" h="120000" extrusionOk="0">
                  <a:moveTo>
                    <a:pt x="0" y="0"/>
                  </a:moveTo>
                  <a:lnTo>
                    <a:pt x="0" y="120000"/>
                  </a:lnTo>
                  <a:lnTo>
                    <a:pt x="120000" y="120000"/>
                  </a:lnTo>
                </a:path>
              </a:pathLst>
            </a:custGeom>
            <a:noFill/>
            <a:ln w="12700" cap="flat" cmpd="sng">
              <a:solidFill>
                <a:srgbClr val="3A66B1"/>
              </a:solidFill>
              <a:prstDash val="solid"/>
              <a:miter lim="800000"/>
              <a:headEnd type="none" w="sm" len="sm"/>
              <a:tailEnd type="none" w="sm" len="sm"/>
            </a:ln>
          </p:spPr>
          <p:txBody>
            <a:bodyPr/>
            <a:lstStyle/>
            <a:p>
              <a:endParaRPr lang="es-CL"/>
            </a:p>
          </p:txBody>
        </p:sp>
        <p:sp>
          <p:nvSpPr>
            <p:cNvPr id="236" name="Google Shape;236;p29"/>
            <p:cNvSpPr/>
            <p:nvPr/>
          </p:nvSpPr>
          <p:spPr>
            <a:xfrm>
              <a:off x="2814248" y="1450989"/>
              <a:ext cx="994800" cy="345300"/>
            </a:xfrm>
            <a:custGeom>
              <a:avLst/>
              <a:gdLst/>
              <a:ahLst/>
              <a:cxnLst/>
              <a:rect l="l" t="t" r="r" b="b"/>
              <a:pathLst>
                <a:path w="120000" h="120000" extrusionOk="0">
                  <a:moveTo>
                    <a:pt x="120000" y="0"/>
                  </a:moveTo>
                  <a:lnTo>
                    <a:pt x="120000" y="60000"/>
                  </a:lnTo>
                  <a:lnTo>
                    <a:pt x="0" y="60000"/>
                  </a:lnTo>
                  <a:lnTo>
                    <a:pt x="0" y="120000"/>
                  </a:lnTo>
                </a:path>
              </a:pathLst>
            </a:custGeom>
            <a:noFill/>
            <a:ln w="12700" cap="flat" cmpd="sng">
              <a:solidFill>
                <a:srgbClr val="345A99"/>
              </a:solidFill>
              <a:prstDash val="solid"/>
              <a:miter lim="800000"/>
              <a:headEnd type="none" w="sm" len="sm"/>
              <a:tailEnd type="none" w="sm" len="sm"/>
            </a:ln>
          </p:spPr>
          <p:txBody>
            <a:bodyPr/>
            <a:lstStyle/>
            <a:p>
              <a:endParaRPr lang="es-CL"/>
            </a:p>
          </p:txBody>
        </p:sp>
        <p:sp>
          <p:nvSpPr>
            <p:cNvPr id="237" name="Google Shape;237;p29"/>
            <p:cNvSpPr/>
            <p:nvPr/>
          </p:nvSpPr>
          <p:spPr>
            <a:xfrm>
              <a:off x="167251" y="2618298"/>
              <a:ext cx="246600" cy="756300"/>
            </a:xfrm>
            <a:custGeom>
              <a:avLst/>
              <a:gdLst/>
              <a:ahLst/>
              <a:cxnLst/>
              <a:rect l="l" t="t" r="r" b="b"/>
              <a:pathLst>
                <a:path w="120000" h="120000" extrusionOk="0">
                  <a:moveTo>
                    <a:pt x="0" y="0"/>
                  </a:moveTo>
                  <a:lnTo>
                    <a:pt x="0" y="120000"/>
                  </a:lnTo>
                  <a:lnTo>
                    <a:pt x="120000" y="120000"/>
                  </a:lnTo>
                </a:path>
              </a:pathLst>
            </a:custGeom>
            <a:noFill/>
            <a:ln w="12700" cap="flat" cmpd="sng">
              <a:solidFill>
                <a:srgbClr val="3A66B1"/>
              </a:solidFill>
              <a:prstDash val="solid"/>
              <a:miter lim="800000"/>
              <a:headEnd type="none" w="sm" len="sm"/>
              <a:tailEnd type="none" w="sm" len="sm"/>
            </a:ln>
          </p:spPr>
          <p:txBody>
            <a:bodyPr/>
            <a:lstStyle/>
            <a:p>
              <a:endParaRPr lang="es-CL"/>
            </a:p>
          </p:txBody>
        </p:sp>
        <p:sp>
          <p:nvSpPr>
            <p:cNvPr id="238" name="Google Shape;238;p29"/>
            <p:cNvSpPr/>
            <p:nvPr/>
          </p:nvSpPr>
          <p:spPr>
            <a:xfrm>
              <a:off x="824890" y="1450989"/>
              <a:ext cx="2984100" cy="345300"/>
            </a:xfrm>
            <a:custGeom>
              <a:avLst/>
              <a:gdLst/>
              <a:ahLst/>
              <a:cxnLst/>
              <a:rect l="l" t="t" r="r" b="b"/>
              <a:pathLst>
                <a:path w="120000" h="120000" extrusionOk="0">
                  <a:moveTo>
                    <a:pt x="120000" y="0"/>
                  </a:moveTo>
                  <a:lnTo>
                    <a:pt x="120000" y="60000"/>
                  </a:lnTo>
                  <a:lnTo>
                    <a:pt x="0" y="60000"/>
                  </a:lnTo>
                  <a:lnTo>
                    <a:pt x="0" y="120000"/>
                  </a:lnTo>
                </a:path>
              </a:pathLst>
            </a:custGeom>
            <a:noFill/>
            <a:ln w="12700" cap="flat" cmpd="sng">
              <a:solidFill>
                <a:srgbClr val="345A99"/>
              </a:solidFill>
              <a:prstDash val="solid"/>
              <a:miter lim="800000"/>
              <a:headEnd type="none" w="sm" len="sm"/>
              <a:tailEnd type="none" w="sm" len="sm"/>
            </a:ln>
          </p:spPr>
          <p:txBody>
            <a:bodyPr/>
            <a:lstStyle/>
            <a:p>
              <a:endParaRPr lang="es-CL"/>
            </a:p>
          </p:txBody>
        </p:sp>
        <p:sp>
          <p:nvSpPr>
            <p:cNvPr id="239" name="Google Shape;239;p29"/>
            <p:cNvSpPr/>
            <p:nvPr/>
          </p:nvSpPr>
          <p:spPr>
            <a:xfrm>
              <a:off x="2986878" y="628941"/>
              <a:ext cx="1644000" cy="822000"/>
            </a:xfrm>
            <a:prstGeom prst="rect">
              <a:avLst/>
            </a:prstGeom>
            <a:solidFill>
              <a:srgbClr val="A5A5A5"/>
            </a:solidFill>
            <a:ln w="12700" cap="flat" cmpd="sng">
              <a:solidFill>
                <a:srgbClr val="FFFFFF"/>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29"/>
            <p:cNvSpPr txBox="1"/>
            <p:nvPr/>
          </p:nvSpPr>
          <p:spPr>
            <a:xfrm>
              <a:off x="2986878" y="628941"/>
              <a:ext cx="1644000" cy="822000"/>
            </a:xfrm>
            <a:prstGeom prst="rect">
              <a:avLst/>
            </a:prstGeom>
            <a:solidFill>
              <a:schemeClr val="accent3"/>
            </a:solidFill>
            <a:ln>
              <a:noFill/>
            </a:ln>
          </p:spPr>
          <p:txBody>
            <a:bodyPr spcFirstLastPara="1" wrap="square" lIns="11425" tIns="11425" rIns="11425" bIns="11425" anchor="ctr" anchorCtr="0">
              <a:noAutofit/>
            </a:bodyPr>
            <a:lstStyle/>
            <a:p>
              <a:pPr marL="0" marR="0" lvl="0" indent="0" algn="ctr" rtl="0">
                <a:lnSpc>
                  <a:spcPct val="90000"/>
                </a:lnSpc>
                <a:spcBef>
                  <a:spcPts val="0"/>
                </a:spcBef>
                <a:spcAft>
                  <a:spcPts val="0"/>
                </a:spcAft>
                <a:buNone/>
              </a:pPr>
              <a:r>
                <a:rPr lang="es" sz="1800">
                  <a:solidFill>
                    <a:schemeClr val="lt2"/>
                  </a:solidFill>
                  <a:latin typeface="EB Garamond"/>
                  <a:ea typeface="EB Garamond"/>
                  <a:cs typeface="EB Garamond"/>
                  <a:sym typeface="EB Garamond"/>
                </a:rPr>
                <a:t>Investigación cuantitativa</a:t>
              </a:r>
              <a:endParaRPr>
                <a:solidFill>
                  <a:schemeClr val="lt2"/>
                </a:solidFill>
                <a:latin typeface="EB Garamond"/>
                <a:ea typeface="EB Garamond"/>
                <a:cs typeface="EB Garamond"/>
                <a:sym typeface="EB Garamond"/>
              </a:endParaRPr>
            </a:p>
          </p:txBody>
        </p:sp>
        <p:sp>
          <p:nvSpPr>
            <p:cNvPr id="241" name="Google Shape;241;p29"/>
            <p:cNvSpPr/>
            <p:nvPr/>
          </p:nvSpPr>
          <p:spPr>
            <a:xfrm>
              <a:off x="2842" y="1796250"/>
              <a:ext cx="1644000" cy="822000"/>
            </a:xfrm>
            <a:prstGeom prst="rect">
              <a:avLst/>
            </a:prstGeom>
            <a:solidFill>
              <a:srgbClr val="FBE4D4"/>
            </a:solidFill>
            <a:ln w="12700" cap="flat" cmpd="sng">
              <a:solidFill>
                <a:srgbClr val="FFFFFF"/>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242;p29"/>
            <p:cNvSpPr txBox="1"/>
            <p:nvPr/>
          </p:nvSpPr>
          <p:spPr>
            <a:xfrm>
              <a:off x="2842" y="1796250"/>
              <a:ext cx="1644000" cy="822000"/>
            </a:xfrm>
            <a:prstGeom prst="rect">
              <a:avLst/>
            </a:prstGeom>
            <a:noFill/>
            <a:ln>
              <a:noFill/>
            </a:ln>
          </p:spPr>
          <p:txBody>
            <a:bodyPr spcFirstLastPara="1" wrap="square" lIns="11425" tIns="11425" rIns="11425" bIns="11425" anchor="ctr" anchorCtr="0">
              <a:noAutofit/>
            </a:bodyPr>
            <a:lstStyle/>
            <a:p>
              <a:pPr marL="0" marR="0" lvl="0" indent="0" algn="ctr" rtl="0">
                <a:lnSpc>
                  <a:spcPct val="90000"/>
                </a:lnSpc>
                <a:spcBef>
                  <a:spcPts val="0"/>
                </a:spcBef>
                <a:spcAft>
                  <a:spcPts val="0"/>
                </a:spcAft>
                <a:buNone/>
              </a:pPr>
              <a:r>
                <a:rPr lang="es" sz="1800">
                  <a:solidFill>
                    <a:schemeClr val="dk2"/>
                  </a:solidFill>
                  <a:latin typeface="EB Garamond"/>
                  <a:ea typeface="EB Garamond"/>
                  <a:cs typeface="EB Garamond"/>
                  <a:sym typeface="EB Garamond"/>
                </a:rPr>
                <a:t>Exploratoria</a:t>
              </a:r>
              <a:endParaRPr>
                <a:solidFill>
                  <a:schemeClr val="dk2"/>
                </a:solidFill>
                <a:latin typeface="EB Garamond"/>
                <a:ea typeface="EB Garamond"/>
                <a:cs typeface="EB Garamond"/>
                <a:sym typeface="EB Garamond"/>
              </a:endParaRPr>
            </a:p>
          </p:txBody>
        </p:sp>
        <p:sp>
          <p:nvSpPr>
            <p:cNvPr id="243" name="Google Shape;243;p29"/>
            <p:cNvSpPr/>
            <p:nvPr/>
          </p:nvSpPr>
          <p:spPr>
            <a:xfrm>
              <a:off x="413866" y="2963559"/>
              <a:ext cx="1644000" cy="822000"/>
            </a:xfrm>
            <a:prstGeom prst="rect">
              <a:avLst/>
            </a:prstGeom>
            <a:solidFill>
              <a:srgbClr val="D8165D"/>
            </a:solidFill>
            <a:ln w="12700" cap="flat" cmpd="sng">
              <a:solidFill>
                <a:srgbClr val="FFFFFF"/>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 name="Google Shape;244;p29"/>
            <p:cNvSpPr txBox="1"/>
            <p:nvPr/>
          </p:nvSpPr>
          <p:spPr>
            <a:xfrm>
              <a:off x="413866" y="2963559"/>
              <a:ext cx="1644000" cy="822000"/>
            </a:xfrm>
            <a:prstGeom prst="rect">
              <a:avLst/>
            </a:prstGeom>
            <a:solidFill>
              <a:srgbClr val="FBE4D4"/>
            </a:solidFill>
            <a:ln>
              <a:noFill/>
            </a:ln>
          </p:spPr>
          <p:txBody>
            <a:bodyPr spcFirstLastPara="1" wrap="square" lIns="7600" tIns="7600" rIns="7600" bIns="7600" anchor="ctr" anchorCtr="0">
              <a:noAutofit/>
            </a:bodyPr>
            <a:lstStyle/>
            <a:p>
              <a:pPr marL="0" marR="0" lvl="0" indent="0" algn="ctr" rtl="0">
                <a:lnSpc>
                  <a:spcPct val="90000"/>
                </a:lnSpc>
                <a:spcBef>
                  <a:spcPts val="0"/>
                </a:spcBef>
                <a:spcAft>
                  <a:spcPts val="0"/>
                </a:spcAft>
                <a:buNone/>
              </a:pPr>
              <a:r>
                <a:rPr lang="es" sz="1200">
                  <a:solidFill>
                    <a:schemeClr val="dk2"/>
                  </a:solidFill>
                  <a:latin typeface="EB Garamond"/>
                  <a:ea typeface="EB Garamond"/>
                  <a:cs typeface="EB Garamond"/>
                  <a:sym typeface="EB Garamond"/>
                </a:rPr>
                <a:t>No necesariamente se formulan</a:t>
              </a:r>
              <a:endParaRPr>
                <a:solidFill>
                  <a:schemeClr val="dk2"/>
                </a:solidFill>
                <a:latin typeface="EB Garamond"/>
                <a:ea typeface="EB Garamond"/>
                <a:cs typeface="EB Garamond"/>
                <a:sym typeface="EB Garamond"/>
              </a:endParaRPr>
            </a:p>
          </p:txBody>
        </p:sp>
        <p:sp>
          <p:nvSpPr>
            <p:cNvPr id="245" name="Google Shape;245;p29"/>
            <p:cNvSpPr/>
            <p:nvPr/>
          </p:nvSpPr>
          <p:spPr>
            <a:xfrm>
              <a:off x="1992199" y="1796250"/>
              <a:ext cx="1644000" cy="822000"/>
            </a:xfrm>
            <a:prstGeom prst="rect">
              <a:avLst/>
            </a:prstGeom>
            <a:solidFill>
              <a:srgbClr val="FEE599"/>
            </a:solidFill>
            <a:ln w="12700" cap="flat" cmpd="sng">
              <a:solidFill>
                <a:srgbClr val="FFFFFF"/>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246;p29"/>
            <p:cNvSpPr txBox="1"/>
            <p:nvPr/>
          </p:nvSpPr>
          <p:spPr>
            <a:xfrm>
              <a:off x="1992199" y="1796250"/>
              <a:ext cx="1644000" cy="822000"/>
            </a:xfrm>
            <a:prstGeom prst="rect">
              <a:avLst/>
            </a:prstGeom>
            <a:noFill/>
            <a:ln>
              <a:noFill/>
            </a:ln>
          </p:spPr>
          <p:txBody>
            <a:bodyPr spcFirstLastPara="1" wrap="square" lIns="11425" tIns="11425" rIns="11425" bIns="11425" anchor="ctr" anchorCtr="0">
              <a:noAutofit/>
            </a:bodyPr>
            <a:lstStyle/>
            <a:p>
              <a:pPr marL="0" marR="0" lvl="0" indent="0" algn="ctr" rtl="0">
                <a:lnSpc>
                  <a:spcPct val="90000"/>
                </a:lnSpc>
                <a:spcBef>
                  <a:spcPts val="0"/>
                </a:spcBef>
                <a:spcAft>
                  <a:spcPts val="0"/>
                </a:spcAft>
                <a:buNone/>
              </a:pPr>
              <a:r>
                <a:rPr lang="es" sz="1800">
                  <a:solidFill>
                    <a:schemeClr val="dk2"/>
                  </a:solidFill>
                  <a:latin typeface="EB Garamond"/>
                  <a:ea typeface="EB Garamond"/>
                  <a:cs typeface="EB Garamond"/>
                  <a:sym typeface="EB Garamond"/>
                </a:rPr>
                <a:t>Descriptiva</a:t>
              </a:r>
              <a:endParaRPr>
                <a:solidFill>
                  <a:schemeClr val="dk2"/>
                </a:solidFill>
                <a:latin typeface="EB Garamond"/>
                <a:ea typeface="EB Garamond"/>
                <a:cs typeface="EB Garamond"/>
                <a:sym typeface="EB Garamond"/>
              </a:endParaRPr>
            </a:p>
          </p:txBody>
        </p:sp>
        <p:sp>
          <p:nvSpPr>
            <p:cNvPr id="247" name="Google Shape;247;p29"/>
            <p:cNvSpPr/>
            <p:nvPr/>
          </p:nvSpPr>
          <p:spPr>
            <a:xfrm>
              <a:off x="2403223" y="2963559"/>
              <a:ext cx="1644000" cy="822000"/>
            </a:xfrm>
            <a:prstGeom prst="rect">
              <a:avLst/>
            </a:prstGeom>
            <a:solidFill>
              <a:srgbClr val="FFC000"/>
            </a:solidFill>
            <a:ln w="12700" cap="flat" cmpd="sng">
              <a:solidFill>
                <a:srgbClr val="FFFFFF"/>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29"/>
            <p:cNvSpPr txBox="1"/>
            <p:nvPr/>
          </p:nvSpPr>
          <p:spPr>
            <a:xfrm>
              <a:off x="2403223" y="2963559"/>
              <a:ext cx="1644000" cy="822000"/>
            </a:xfrm>
            <a:prstGeom prst="rect">
              <a:avLst/>
            </a:prstGeom>
            <a:noFill/>
            <a:ln>
              <a:noFill/>
            </a:ln>
          </p:spPr>
          <p:txBody>
            <a:bodyPr spcFirstLastPara="1" wrap="square" lIns="7600" tIns="7600" rIns="7600" bIns="7600" anchor="ctr" anchorCtr="0">
              <a:noAutofit/>
            </a:bodyPr>
            <a:lstStyle/>
            <a:p>
              <a:pPr marL="0" marR="0" lvl="0" indent="0" algn="ctr" rtl="0">
                <a:lnSpc>
                  <a:spcPct val="90000"/>
                </a:lnSpc>
                <a:spcBef>
                  <a:spcPts val="0"/>
                </a:spcBef>
                <a:spcAft>
                  <a:spcPts val="0"/>
                </a:spcAft>
                <a:buNone/>
              </a:pPr>
              <a:r>
                <a:rPr lang="es" sz="1200">
                  <a:solidFill>
                    <a:schemeClr val="dk2"/>
                  </a:solidFill>
                  <a:latin typeface="EB Garamond"/>
                  <a:ea typeface="EB Garamond"/>
                  <a:cs typeface="EB Garamond"/>
                  <a:sym typeface="EB Garamond"/>
                </a:rPr>
                <a:t>Solo se formulan cuando se pronostica un hecho o dato</a:t>
              </a:r>
              <a:endParaRPr>
                <a:solidFill>
                  <a:schemeClr val="dk2"/>
                </a:solidFill>
                <a:latin typeface="EB Garamond"/>
                <a:ea typeface="EB Garamond"/>
                <a:cs typeface="EB Garamond"/>
                <a:sym typeface="EB Garamond"/>
              </a:endParaRPr>
            </a:p>
          </p:txBody>
        </p:sp>
        <p:sp>
          <p:nvSpPr>
            <p:cNvPr id="249" name="Google Shape;249;p29"/>
            <p:cNvSpPr/>
            <p:nvPr/>
          </p:nvSpPr>
          <p:spPr>
            <a:xfrm>
              <a:off x="3981557" y="1796250"/>
              <a:ext cx="1644000" cy="822000"/>
            </a:xfrm>
            <a:prstGeom prst="rect">
              <a:avLst/>
            </a:prstGeom>
            <a:solidFill>
              <a:srgbClr val="C4E0B2"/>
            </a:solidFill>
            <a:ln w="12700" cap="flat" cmpd="sng">
              <a:solidFill>
                <a:srgbClr val="FFFFFF"/>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9"/>
            <p:cNvSpPr txBox="1"/>
            <p:nvPr/>
          </p:nvSpPr>
          <p:spPr>
            <a:xfrm>
              <a:off x="3981557" y="1796250"/>
              <a:ext cx="1644000" cy="822000"/>
            </a:xfrm>
            <a:prstGeom prst="rect">
              <a:avLst/>
            </a:prstGeom>
            <a:noFill/>
            <a:ln>
              <a:noFill/>
            </a:ln>
          </p:spPr>
          <p:txBody>
            <a:bodyPr spcFirstLastPara="1" wrap="square" lIns="11425" tIns="11425" rIns="11425" bIns="11425" anchor="ctr" anchorCtr="0">
              <a:noAutofit/>
            </a:bodyPr>
            <a:lstStyle/>
            <a:p>
              <a:pPr marL="0" marR="0" lvl="0" indent="0" algn="ctr" rtl="0">
                <a:lnSpc>
                  <a:spcPct val="90000"/>
                </a:lnSpc>
                <a:spcBef>
                  <a:spcPts val="0"/>
                </a:spcBef>
                <a:spcAft>
                  <a:spcPts val="0"/>
                </a:spcAft>
                <a:buNone/>
              </a:pPr>
              <a:r>
                <a:rPr lang="es" sz="1800">
                  <a:solidFill>
                    <a:schemeClr val="dk2"/>
                  </a:solidFill>
                  <a:latin typeface="EB Garamond"/>
                  <a:ea typeface="EB Garamond"/>
                  <a:cs typeface="EB Garamond"/>
                  <a:sym typeface="EB Garamond"/>
                </a:rPr>
                <a:t>Correlacional</a:t>
              </a:r>
              <a:endParaRPr>
                <a:solidFill>
                  <a:schemeClr val="dk2"/>
                </a:solidFill>
                <a:latin typeface="EB Garamond"/>
                <a:ea typeface="EB Garamond"/>
                <a:cs typeface="EB Garamond"/>
                <a:sym typeface="EB Garamond"/>
              </a:endParaRPr>
            </a:p>
          </p:txBody>
        </p:sp>
        <p:sp>
          <p:nvSpPr>
            <p:cNvPr id="251" name="Google Shape;251;p29"/>
            <p:cNvSpPr/>
            <p:nvPr/>
          </p:nvSpPr>
          <p:spPr>
            <a:xfrm>
              <a:off x="4392581" y="2963559"/>
              <a:ext cx="1644000" cy="822000"/>
            </a:xfrm>
            <a:prstGeom prst="rect">
              <a:avLst/>
            </a:prstGeom>
            <a:solidFill>
              <a:srgbClr val="70AD47"/>
            </a:solidFill>
            <a:ln w="12700" cap="flat" cmpd="sng">
              <a:solidFill>
                <a:srgbClr val="FFFFFF"/>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29"/>
            <p:cNvSpPr txBox="1"/>
            <p:nvPr/>
          </p:nvSpPr>
          <p:spPr>
            <a:xfrm>
              <a:off x="4392581" y="2963559"/>
              <a:ext cx="1644000" cy="822000"/>
            </a:xfrm>
            <a:prstGeom prst="rect">
              <a:avLst/>
            </a:prstGeom>
            <a:noFill/>
            <a:ln>
              <a:noFill/>
            </a:ln>
          </p:spPr>
          <p:txBody>
            <a:bodyPr spcFirstLastPara="1" wrap="square" lIns="7600" tIns="7600" rIns="7600" bIns="7600" anchor="ctr" anchorCtr="0">
              <a:noAutofit/>
            </a:bodyPr>
            <a:lstStyle/>
            <a:p>
              <a:pPr marL="0" marR="0" lvl="0" indent="0" algn="ctr" rtl="0">
                <a:lnSpc>
                  <a:spcPct val="90000"/>
                </a:lnSpc>
                <a:spcBef>
                  <a:spcPts val="0"/>
                </a:spcBef>
                <a:spcAft>
                  <a:spcPts val="0"/>
                </a:spcAft>
                <a:buNone/>
              </a:pPr>
              <a:r>
                <a:rPr lang="es" sz="1200">
                  <a:solidFill>
                    <a:schemeClr val="dk2"/>
                  </a:solidFill>
                  <a:latin typeface="EB Garamond"/>
                  <a:ea typeface="EB Garamond"/>
                  <a:cs typeface="EB Garamond"/>
                  <a:sym typeface="EB Garamond"/>
                </a:rPr>
                <a:t>Sí, correlacionales</a:t>
              </a:r>
              <a:endParaRPr>
                <a:solidFill>
                  <a:schemeClr val="dk2"/>
                </a:solidFill>
                <a:latin typeface="EB Garamond"/>
                <a:ea typeface="EB Garamond"/>
                <a:cs typeface="EB Garamond"/>
                <a:sym typeface="EB Garamond"/>
              </a:endParaRPr>
            </a:p>
          </p:txBody>
        </p:sp>
        <p:sp>
          <p:nvSpPr>
            <p:cNvPr id="253" name="Google Shape;253;p29"/>
            <p:cNvSpPr/>
            <p:nvPr/>
          </p:nvSpPr>
          <p:spPr>
            <a:xfrm>
              <a:off x="5970914" y="1796250"/>
              <a:ext cx="1644000" cy="822000"/>
            </a:xfrm>
            <a:prstGeom prst="rect">
              <a:avLst/>
            </a:prstGeom>
            <a:solidFill>
              <a:srgbClr val="C4E0B2"/>
            </a:solidFill>
            <a:ln w="12700" cap="flat" cmpd="sng">
              <a:solidFill>
                <a:srgbClr val="FFFFFF"/>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 name="Google Shape;254;p29"/>
            <p:cNvSpPr txBox="1"/>
            <p:nvPr/>
          </p:nvSpPr>
          <p:spPr>
            <a:xfrm>
              <a:off x="5970914" y="1796250"/>
              <a:ext cx="1644000" cy="822000"/>
            </a:xfrm>
            <a:prstGeom prst="rect">
              <a:avLst/>
            </a:prstGeom>
            <a:noFill/>
            <a:ln>
              <a:noFill/>
            </a:ln>
          </p:spPr>
          <p:txBody>
            <a:bodyPr spcFirstLastPara="1" wrap="square" lIns="11425" tIns="11425" rIns="11425" bIns="11425" anchor="ctr" anchorCtr="0">
              <a:noAutofit/>
            </a:bodyPr>
            <a:lstStyle/>
            <a:p>
              <a:pPr marL="0" marR="0" lvl="0" indent="0" algn="ctr" rtl="0">
                <a:lnSpc>
                  <a:spcPct val="90000"/>
                </a:lnSpc>
                <a:spcBef>
                  <a:spcPts val="0"/>
                </a:spcBef>
                <a:spcAft>
                  <a:spcPts val="0"/>
                </a:spcAft>
                <a:buNone/>
              </a:pPr>
              <a:r>
                <a:rPr lang="es" sz="1800">
                  <a:solidFill>
                    <a:schemeClr val="dk2"/>
                  </a:solidFill>
                  <a:latin typeface="EB Garamond"/>
                  <a:ea typeface="EB Garamond"/>
                  <a:cs typeface="EB Garamond"/>
                  <a:sym typeface="EB Garamond"/>
                </a:rPr>
                <a:t>Causal</a:t>
              </a:r>
              <a:endParaRPr>
                <a:solidFill>
                  <a:schemeClr val="dk2"/>
                </a:solidFill>
                <a:latin typeface="EB Garamond"/>
                <a:ea typeface="EB Garamond"/>
                <a:cs typeface="EB Garamond"/>
                <a:sym typeface="EB Garamond"/>
              </a:endParaRPr>
            </a:p>
          </p:txBody>
        </p:sp>
        <p:sp>
          <p:nvSpPr>
            <p:cNvPr id="255" name="Google Shape;255;p29"/>
            <p:cNvSpPr/>
            <p:nvPr/>
          </p:nvSpPr>
          <p:spPr>
            <a:xfrm>
              <a:off x="6381938" y="2963559"/>
              <a:ext cx="1644000" cy="822000"/>
            </a:xfrm>
            <a:prstGeom prst="rect">
              <a:avLst/>
            </a:prstGeom>
            <a:solidFill>
              <a:srgbClr val="70AD47"/>
            </a:solidFill>
            <a:ln w="12700" cap="flat" cmpd="sng">
              <a:solidFill>
                <a:srgbClr val="FFFFFF"/>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29"/>
            <p:cNvSpPr txBox="1"/>
            <p:nvPr/>
          </p:nvSpPr>
          <p:spPr>
            <a:xfrm>
              <a:off x="6381938" y="2963559"/>
              <a:ext cx="1644000" cy="822000"/>
            </a:xfrm>
            <a:prstGeom prst="rect">
              <a:avLst/>
            </a:prstGeom>
            <a:noFill/>
            <a:ln>
              <a:noFill/>
            </a:ln>
          </p:spPr>
          <p:txBody>
            <a:bodyPr spcFirstLastPara="1" wrap="square" lIns="7600" tIns="7600" rIns="7600" bIns="7600" anchor="ctr" anchorCtr="0">
              <a:noAutofit/>
            </a:bodyPr>
            <a:lstStyle/>
            <a:p>
              <a:pPr marL="0" marR="0" lvl="0" indent="0" algn="ctr" rtl="0">
                <a:lnSpc>
                  <a:spcPct val="90000"/>
                </a:lnSpc>
                <a:spcBef>
                  <a:spcPts val="0"/>
                </a:spcBef>
                <a:spcAft>
                  <a:spcPts val="0"/>
                </a:spcAft>
                <a:buNone/>
              </a:pPr>
              <a:r>
                <a:rPr lang="es" sz="1200">
                  <a:solidFill>
                    <a:schemeClr val="dk2"/>
                  </a:solidFill>
                  <a:latin typeface="EB Garamond"/>
                  <a:ea typeface="EB Garamond"/>
                  <a:cs typeface="EB Garamond"/>
                  <a:sym typeface="EB Garamond"/>
                </a:rPr>
                <a:t>Sí, causales</a:t>
              </a:r>
              <a:endParaRPr>
                <a:solidFill>
                  <a:schemeClr val="dk2"/>
                </a:solidFill>
                <a:latin typeface="EB Garamond"/>
                <a:ea typeface="EB Garamond"/>
                <a:cs typeface="EB Garamond"/>
                <a:sym typeface="EB Garamond"/>
              </a:endParaRPr>
            </a:p>
          </p:txBody>
        </p:sp>
      </p:grpSp>
      <p:sp>
        <p:nvSpPr>
          <p:cNvPr id="257" name="Google Shape;257;p2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b="1">
                <a:latin typeface="EB Garamond"/>
                <a:ea typeface="EB Garamond"/>
                <a:cs typeface="EB Garamond"/>
                <a:sym typeface="EB Garamond"/>
              </a:rPr>
              <a:t>Tipos de hipótesis de investigación según tipo de investigación</a:t>
            </a:r>
            <a:endParaRPr b="1">
              <a:latin typeface="EB Garamond"/>
              <a:ea typeface="EB Garamond"/>
              <a:cs typeface="EB Garamond"/>
              <a:sym typeface="EB Garamond"/>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61"/>
        <p:cNvGrpSpPr/>
        <p:nvPr/>
      </p:nvGrpSpPr>
      <p:grpSpPr>
        <a:xfrm>
          <a:off x="0" y="0"/>
          <a:ext cx="0" cy="0"/>
          <a:chOff x="0" y="0"/>
          <a:chExt cx="0" cy="0"/>
        </a:xfrm>
      </p:grpSpPr>
      <p:sp>
        <p:nvSpPr>
          <p:cNvPr id="262" name="Google Shape;262;p3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s"/>
              <a:t>18</a:t>
            </a:fld>
            <a:endParaRPr/>
          </a:p>
        </p:txBody>
      </p:sp>
      <p:grpSp>
        <p:nvGrpSpPr>
          <p:cNvPr id="263" name="Google Shape;263;p30"/>
          <p:cNvGrpSpPr/>
          <p:nvPr/>
        </p:nvGrpSpPr>
        <p:grpSpPr>
          <a:xfrm>
            <a:off x="562289" y="309930"/>
            <a:ext cx="8019481" cy="4111200"/>
            <a:chOff x="4728" y="151614"/>
            <a:chExt cx="8019481" cy="4111200"/>
          </a:xfrm>
        </p:grpSpPr>
        <p:sp>
          <p:nvSpPr>
            <p:cNvPr id="264" name="Google Shape;264;p30"/>
            <p:cNvSpPr/>
            <p:nvPr/>
          </p:nvSpPr>
          <p:spPr>
            <a:xfrm>
              <a:off x="6226423" y="2043134"/>
              <a:ext cx="234600" cy="1829100"/>
            </a:xfrm>
            <a:custGeom>
              <a:avLst/>
              <a:gdLst/>
              <a:ahLst/>
              <a:cxnLst/>
              <a:rect l="l" t="t" r="r" b="b"/>
              <a:pathLst>
                <a:path w="120000" h="120000" extrusionOk="0">
                  <a:moveTo>
                    <a:pt x="0" y="0"/>
                  </a:moveTo>
                  <a:lnTo>
                    <a:pt x="0" y="120000"/>
                  </a:lnTo>
                  <a:lnTo>
                    <a:pt x="120000" y="120000"/>
                  </a:lnTo>
                </a:path>
              </a:pathLst>
            </a:custGeom>
            <a:noFill/>
            <a:ln w="12700" cap="flat" cmpd="sng">
              <a:solidFill>
                <a:srgbClr val="3A66B1"/>
              </a:solidFill>
              <a:prstDash val="solid"/>
              <a:miter lim="800000"/>
              <a:headEnd type="none" w="sm" len="sm"/>
              <a:tailEnd type="none" w="sm" len="sm"/>
            </a:ln>
          </p:spPr>
          <p:txBody>
            <a:bodyPr/>
            <a:lstStyle/>
            <a:p>
              <a:endParaRPr lang="es-CL"/>
            </a:p>
          </p:txBody>
        </p:sp>
        <p:sp>
          <p:nvSpPr>
            <p:cNvPr id="265" name="Google Shape;265;p30"/>
            <p:cNvSpPr/>
            <p:nvPr/>
          </p:nvSpPr>
          <p:spPr>
            <a:xfrm>
              <a:off x="6226423" y="2043134"/>
              <a:ext cx="234600" cy="719100"/>
            </a:xfrm>
            <a:custGeom>
              <a:avLst/>
              <a:gdLst/>
              <a:ahLst/>
              <a:cxnLst/>
              <a:rect l="l" t="t" r="r" b="b"/>
              <a:pathLst>
                <a:path w="120000" h="120000" extrusionOk="0">
                  <a:moveTo>
                    <a:pt x="0" y="0"/>
                  </a:moveTo>
                  <a:lnTo>
                    <a:pt x="0" y="120000"/>
                  </a:lnTo>
                  <a:lnTo>
                    <a:pt x="120000" y="120000"/>
                  </a:lnTo>
                </a:path>
              </a:pathLst>
            </a:custGeom>
            <a:noFill/>
            <a:ln w="12700" cap="flat" cmpd="sng">
              <a:solidFill>
                <a:srgbClr val="3A66B1"/>
              </a:solidFill>
              <a:prstDash val="solid"/>
              <a:miter lim="800000"/>
              <a:headEnd type="none" w="sm" len="sm"/>
              <a:tailEnd type="none" w="sm" len="sm"/>
            </a:ln>
          </p:spPr>
          <p:txBody>
            <a:bodyPr/>
            <a:lstStyle/>
            <a:p>
              <a:endParaRPr lang="es-CL"/>
            </a:p>
          </p:txBody>
        </p:sp>
        <p:sp>
          <p:nvSpPr>
            <p:cNvPr id="266" name="Google Shape;266;p30"/>
            <p:cNvSpPr/>
            <p:nvPr/>
          </p:nvSpPr>
          <p:spPr>
            <a:xfrm>
              <a:off x="3819034" y="933234"/>
              <a:ext cx="3032700" cy="328200"/>
            </a:xfrm>
            <a:custGeom>
              <a:avLst/>
              <a:gdLst/>
              <a:ahLst/>
              <a:cxnLst/>
              <a:rect l="l" t="t" r="r" b="b"/>
              <a:pathLst>
                <a:path w="120000" h="120000" extrusionOk="0">
                  <a:moveTo>
                    <a:pt x="0" y="0"/>
                  </a:moveTo>
                  <a:lnTo>
                    <a:pt x="0" y="60000"/>
                  </a:lnTo>
                  <a:lnTo>
                    <a:pt x="120000" y="60000"/>
                  </a:lnTo>
                  <a:lnTo>
                    <a:pt x="120000" y="120000"/>
                  </a:lnTo>
                </a:path>
              </a:pathLst>
            </a:custGeom>
            <a:noFill/>
            <a:ln w="12700" cap="flat" cmpd="sng">
              <a:solidFill>
                <a:srgbClr val="345A99"/>
              </a:solidFill>
              <a:prstDash val="solid"/>
              <a:miter lim="800000"/>
              <a:headEnd type="none" w="sm" len="sm"/>
              <a:tailEnd type="none" w="sm" len="sm"/>
            </a:ln>
          </p:spPr>
          <p:txBody>
            <a:bodyPr/>
            <a:lstStyle/>
            <a:p>
              <a:endParaRPr lang="es-CL"/>
            </a:p>
          </p:txBody>
        </p:sp>
        <p:sp>
          <p:nvSpPr>
            <p:cNvPr id="267" name="Google Shape;267;p30"/>
            <p:cNvSpPr/>
            <p:nvPr/>
          </p:nvSpPr>
          <p:spPr>
            <a:xfrm>
              <a:off x="3819034" y="933234"/>
              <a:ext cx="1141200" cy="328200"/>
            </a:xfrm>
            <a:custGeom>
              <a:avLst/>
              <a:gdLst/>
              <a:ahLst/>
              <a:cxnLst/>
              <a:rect l="l" t="t" r="r" b="b"/>
              <a:pathLst>
                <a:path w="120000" h="120000" extrusionOk="0">
                  <a:moveTo>
                    <a:pt x="0" y="0"/>
                  </a:moveTo>
                  <a:lnTo>
                    <a:pt x="0" y="60000"/>
                  </a:lnTo>
                  <a:lnTo>
                    <a:pt x="120000" y="60000"/>
                  </a:lnTo>
                  <a:lnTo>
                    <a:pt x="120000" y="120000"/>
                  </a:lnTo>
                </a:path>
              </a:pathLst>
            </a:custGeom>
            <a:noFill/>
            <a:ln w="12700" cap="flat" cmpd="sng">
              <a:solidFill>
                <a:srgbClr val="345A99"/>
              </a:solidFill>
              <a:prstDash val="solid"/>
              <a:miter lim="800000"/>
              <a:headEnd type="none" w="sm" len="sm"/>
              <a:tailEnd type="none" w="sm" len="sm"/>
            </a:ln>
          </p:spPr>
          <p:txBody>
            <a:bodyPr/>
            <a:lstStyle/>
            <a:p>
              <a:endParaRPr lang="es-CL"/>
            </a:p>
          </p:txBody>
        </p:sp>
        <p:sp>
          <p:nvSpPr>
            <p:cNvPr id="268" name="Google Shape;268;p30"/>
            <p:cNvSpPr/>
            <p:nvPr/>
          </p:nvSpPr>
          <p:spPr>
            <a:xfrm>
              <a:off x="2052573" y="2043134"/>
              <a:ext cx="234600" cy="1829100"/>
            </a:xfrm>
            <a:custGeom>
              <a:avLst/>
              <a:gdLst/>
              <a:ahLst/>
              <a:cxnLst/>
              <a:rect l="l" t="t" r="r" b="b"/>
              <a:pathLst>
                <a:path w="120000" h="120000" extrusionOk="0">
                  <a:moveTo>
                    <a:pt x="0" y="0"/>
                  </a:moveTo>
                  <a:lnTo>
                    <a:pt x="0" y="120000"/>
                  </a:lnTo>
                  <a:lnTo>
                    <a:pt x="120000" y="120000"/>
                  </a:lnTo>
                </a:path>
              </a:pathLst>
            </a:custGeom>
            <a:noFill/>
            <a:ln w="12700" cap="flat" cmpd="sng">
              <a:solidFill>
                <a:srgbClr val="3A66B1"/>
              </a:solidFill>
              <a:prstDash val="solid"/>
              <a:miter lim="800000"/>
              <a:headEnd type="none" w="sm" len="sm"/>
              <a:tailEnd type="none" w="sm" len="sm"/>
            </a:ln>
          </p:spPr>
          <p:txBody>
            <a:bodyPr/>
            <a:lstStyle/>
            <a:p>
              <a:endParaRPr lang="es-CL"/>
            </a:p>
          </p:txBody>
        </p:sp>
        <p:sp>
          <p:nvSpPr>
            <p:cNvPr id="269" name="Google Shape;269;p30"/>
            <p:cNvSpPr/>
            <p:nvPr/>
          </p:nvSpPr>
          <p:spPr>
            <a:xfrm>
              <a:off x="2052573" y="2043134"/>
              <a:ext cx="234600" cy="719100"/>
            </a:xfrm>
            <a:custGeom>
              <a:avLst/>
              <a:gdLst/>
              <a:ahLst/>
              <a:cxnLst/>
              <a:rect l="l" t="t" r="r" b="b"/>
              <a:pathLst>
                <a:path w="120000" h="120000" extrusionOk="0">
                  <a:moveTo>
                    <a:pt x="0" y="0"/>
                  </a:moveTo>
                  <a:lnTo>
                    <a:pt x="0" y="120000"/>
                  </a:lnTo>
                  <a:lnTo>
                    <a:pt x="120000" y="120000"/>
                  </a:lnTo>
                </a:path>
              </a:pathLst>
            </a:custGeom>
            <a:noFill/>
            <a:ln w="12700" cap="flat" cmpd="sng">
              <a:solidFill>
                <a:srgbClr val="3A66B1"/>
              </a:solidFill>
              <a:prstDash val="solid"/>
              <a:miter lim="800000"/>
              <a:headEnd type="none" w="sm" len="sm"/>
              <a:tailEnd type="none" w="sm" len="sm"/>
            </a:ln>
          </p:spPr>
          <p:txBody>
            <a:bodyPr/>
            <a:lstStyle/>
            <a:p>
              <a:endParaRPr lang="es-CL"/>
            </a:p>
          </p:txBody>
        </p:sp>
        <p:sp>
          <p:nvSpPr>
            <p:cNvPr id="270" name="Google Shape;270;p30"/>
            <p:cNvSpPr/>
            <p:nvPr/>
          </p:nvSpPr>
          <p:spPr>
            <a:xfrm>
              <a:off x="2677868" y="933234"/>
              <a:ext cx="1141200" cy="328200"/>
            </a:xfrm>
            <a:custGeom>
              <a:avLst/>
              <a:gdLst/>
              <a:ahLst/>
              <a:cxnLst/>
              <a:rect l="l" t="t" r="r" b="b"/>
              <a:pathLst>
                <a:path w="120000" h="120000" extrusionOk="0">
                  <a:moveTo>
                    <a:pt x="120000" y="0"/>
                  </a:moveTo>
                  <a:lnTo>
                    <a:pt x="120000" y="60000"/>
                  </a:lnTo>
                  <a:lnTo>
                    <a:pt x="0" y="60000"/>
                  </a:lnTo>
                  <a:lnTo>
                    <a:pt x="0" y="120000"/>
                  </a:lnTo>
                </a:path>
              </a:pathLst>
            </a:custGeom>
            <a:noFill/>
            <a:ln w="12700" cap="flat" cmpd="sng">
              <a:solidFill>
                <a:srgbClr val="345A99"/>
              </a:solidFill>
              <a:prstDash val="solid"/>
              <a:miter lim="800000"/>
              <a:headEnd type="none" w="sm" len="sm"/>
              <a:tailEnd type="none" w="sm" len="sm"/>
            </a:ln>
          </p:spPr>
          <p:txBody>
            <a:bodyPr/>
            <a:lstStyle/>
            <a:p>
              <a:endParaRPr lang="es-CL"/>
            </a:p>
          </p:txBody>
        </p:sp>
        <p:sp>
          <p:nvSpPr>
            <p:cNvPr id="271" name="Google Shape;271;p30"/>
            <p:cNvSpPr/>
            <p:nvPr/>
          </p:nvSpPr>
          <p:spPr>
            <a:xfrm>
              <a:off x="161052" y="2043134"/>
              <a:ext cx="234600" cy="1829100"/>
            </a:xfrm>
            <a:custGeom>
              <a:avLst/>
              <a:gdLst/>
              <a:ahLst/>
              <a:cxnLst/>
              <a:rect l="l" t="t" r="r" b="b"/>
              <a:pathLst>
                <a:path w="120000" h="120000" extrusionOk="0">
                  <a:moveTo>
                    <a:pt x="0" y="0"/>
                  </a:moveTo>
                  <a:lnTo>
                    <a:pt x="0" y="120000"/>
                  </a:lnTo>
                  <a:lnTo>
                    <a:pt x="120000" y="120000"/>
                  </a:lnTo>
                </a:path>
              </a:pathLst>
            </a:custGeom>
            <a:noFill/>
            <a:ln w="12700" cap="flat" cmpd="sng">
              <a:solidFill>
                <a:srgbClr val="3A66B1"/>
              </a:solidFill>
              <a:prstDash val="solid"/>
              <a:miter lim="800000"/>
              <a:headEnd type="none" w="sm" len="sm"/>
              <a:tailEnd type="none" w="sm" len="sm"/>
            </a:ln>
          </p:spPr>
          <p:txBody>
            <a:bodyPr/>
            <a:lstStyle/>
            <a:p>
              <a:endParaRPr lang="es-CL"/>
            </a:p>
          </p:txBody>
        </p:sp>
        <p:sp>
          <p:nvSpPr>
            <p:cNvPr id="272" name="Google Shape;272;p30"/>
            <p:cNvSpPr/>
            <p:nvPr/>
          </p:nvSpPr>
          <p:spPr>
            <a:xfrm>
              <a:off x="161052" y="2043134"/>
              <a:ext cx="234600" cy="719100"/>
            </a:xfrm>
            <a:custGeom>
              <a:avLst/>
              <a:gdLst/>
              <a:ahLst/>
              <a:cxnLst/>
              <a:rect l="l" t="t" r="r" b="b"/>
              <a:pathLst>
                <a:path w="120000" h="120000" extrusionOk="0">
                  <a:moveTo>
                    <a:pt x="0" y="0"/>
                  </a:moveTo>
                  <a:lnTo>
                    <a:pt x="0" y="120000"/>
                  </a:lnTo>
                  <a:lnTo>
                    <a:pt x="120000" y="120000"/>
                  </a:lnTo>
                </a:path>
              </a:pathLst>
            </a:custGeom>
            <a:noFill/>
            <a:ln w="12700" cap="flat" cmpd="sng">
              <a:solidFill>
                <a:srgbClr val="3A66B1"/>
              </a:solidFill>
              <a:prstDash val="solid"/>
              <a:miter lim="800000"/>
              <a:headEnd type="none" w="sm" len="sm"/>
              <a:tailEnd type="none" w="sm" len="sm"/>
            </a:ln>
          </p:spPr>
          <p:txBody>
            <a:bodyPr/>
            <a:lstStyle/>
            <a:p>
              <a:endParaRPr lang="es-CL"/>
            </a:p>
          </p:txBody>
        </p:sp>
        <p:sp>
          <p:nvSpPr>
            <p:cNvPr id="273" name="Google Shape;273;p30"/>
            <p:cNvSpPr/>
            <p:nvPr/>
          </p:nvSpPr>
          <p:spPr>
            <a:xfrm>
              <a:off x="786348" y="933234"/>
              <a:ext cx="3032700" cy="328200"/>
            </a:xfrm>
            <a:custGeom>
              <a:avLst/>
              <a:gdLst/>
              <a:ahLst/>
              <a:cxnLst/>
              <a:rect l="l" t="t" r="r" b="b"/>
              <a:pathLst>
                <a:path w="120000" h="120000" extrusionOk="0">
                  <a:moveTo>
                    <a:pt x="120000" y="0"/>
                  </a:moveTo>
                  <a:lnTo>
                    <a:pt x="120000" y="60000"/>
                  </a:lnTo>
                  <a:lnTo>
                    <a:pt x="0" y="60000"/>
                  </a:lnTo>
                  <a:lnTo>
                    <a:pt x="0" y="120000"/>
                  </a:lnTo>
                </a:path>
              </a:pathLst>
            </a:custGeom>
            <a:noFill/>
            <a:ln w="12700" cap="flat" cmpd="sng">
              <a:solidFill>
                <a:srgbClr val="345A99"/>
              </a:solidFill>
              <a:prstDash val="solid"/>
              <a:miter lim="800000"/>
              <a:headEnd type="none" w="sm" len="sm"/>
              <a:tailEnd type="none" w="sm" len="sm"/>
            </a:ln>
          </p:spPr>
          <p:txBody>
            <a:bodyPr/>
            <a:lstStyle/>
            <a:p>
              <a:endParaRPr lang="es-CL"/>
            </a:p>
          </p:txBody>
        </p:sp>
        <p:sp>
          <p:nvSpPr>
            <p:cNvPr id="274" name="Google Shape;274;p30"/>
            <p:cNvSpPr/>
            <p:nvPr/>
          </p:nvSpPr>
          <p:spPr>
            <a:xfrm>
              <a:off x="3037414" y="151614"/>
              <a:ext cx="1563300" cy="781500"/>
            </a:xfrm>
            <a:prstGeom prst="rect">
              <a:avLst/>
            </a:prstGeom>
            <a:solidFill>
              <a:srgbClr val="A5A5A5"/>
            </a:solidFill>
            <a:ln w="12700" cap="flat" cmpd="sng">
              <a:solidFill>
                <a:srgbClr val="FFFFFF"/>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 name="Google Shape;275;p30"/>
            <p:cNvSpPr txBox="1"/>
            <p:nvPr/>
          </p:nvSpPr>
          <p:spPr>
            <a:xfrm>
              <a:off x="3037414" y="151614"/>
              <a:ext cx="1563300" cy="781500"/>
            </a:xfrm>
            <a:prstGeom prst="rect">
              <a:avLst/>
            </a:prstGeom>
            <a:solidFill>
              <a:schemeClr val="accent3"/>
            </a:solidFill>
            <a:ln>
              <a:noFill/>
            </a:ln>
          </p:spPr>
          <p:txBody>
            <a:bodyPr spcFirstLastPara="1" wrap="square" lIns="11425" tIns="11425" rIns="11425" bIns="11425" anchor="ctr" anchorCtr="0">
              <a:noAutofit/>
            </a:bodyPr>
            <a:lstStyle/>
            <a:p>
              <a:pPr marL="0" marR="0" lvl="0" indent="0" algn="ctr" rtl="0">
                <a:lnSpc>
                  <a:spcPct val="90000"/>
                </a:lnSpc>
                <a:spcBef>
                  <a:spcPts val="0"/>
                </a:spcBef>
                <a:spcAft>
                  <a:spcPts val="0"/>
                </a:spcAft>
                <a:buNone/>
              </a:pPr>
              <a:r>
                <a:rPr lang="es" sz="1800">
                  <a:solidFill>
                    <a:schemeClr val="lt2"/>
                  </a:solidFill>
                  <a:latin typeface="EB Garamond"/>
                  <a:ea typeface="EB Garamond"/>
                  <a:cs typeface="EB Garamond"/>
                  <a:sym typeface="EB Garamond"/>
                </a:rPr>
                <a:t>Investigación cuantitativa</a:t>
              </a:r>
              <a:endParaRPr>
                <a:solidFill>
                  <a:schemeClr val="lt2"/>
                </a:solidFill>
                <a:latin typeface="EB Garamond"/>
                <a:ea typeface="EB Garamond"/>
                <a:cs typeface="EB Garamond"/>
                <a:sym typeface="EB Garamond"/>
              </a:endParaRPr>
            </a:p>
          </p:txBody>
        </p:sp>
        <p:sp>
          <p:nvSpPr>
            <p:cNvPr id="276" name="Google Shape;276;p30"/>
            <p:cNvSpPr/>
            <p:nvPr/>
          </p:nvSpPr>
          <p:spPr>
            <a:xfrm>
              <a:off x="4728" y="1261514"/>
              <a:ext cx="1563300" cy="781500"/>
            </a:xfrm>
            <a:prstGeom prst="rect">
              <a:avLst/>
            </a:prstGeom>
            <a:solidFill>
              <a:srgbClr val="FBE4D4"/>
            </a:solidFill>
            <a:ln w="12700" cap="flat" cmpd="sng">
              <a:solidFill>
                <a:srgbClr val="FFFFFF"/>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30"/>
            <p:cNvSpPr txBox="1"/>
            <p:nvPr/>
          </p:nvSpPr>
          <p:spPr>
            <a:xfrm>
              <a:off x="4728" y="1261514"/>
              <a:ext cx="1563300" cy="781500"/>
            </a:xfrm>
            <a:prstGeom prst="rect">
              <a:avLst/>
            </a:prstGeom>
            <a:noFill/>
            <a:ln>
              <a:noFill/>
            </a:ln>
          </p:spPr>
          <p:txBody>
            <a:bodyPr spcFirstLastPara="1" wrap="square" lIns="11425" tIns="11425" rIns="11425" bIns="11425" anchor="ctr" anchorCtr="0">
              <a:noAutofit/>
            </a:bodyPr>
            <a:lstStyle/>
            <a:p>
              <a:pPr marL="0" marR="0" lvl="0" indent="0" algn="ctr" rtl="0">
                <a:lnSpc>
                  <a:spcPct val="90000"/>
                </a:lnSpc>
                <a:spcBef>
                  <a:spcPts val="0"/>
                </a:spcBef>
                <a:spcAft>
                  <a:spcPts val="0"/>
                </a:spcAft>
                <a:buNone/>
              </a:pPr>
              <a:r>
                <a:rPr lang="es" sz="1800">
                  <a:solidFill>
                    <a:schemeClr val="dk2"/>
                  </a:solidFill>
                  <a:latin typeface="EB Garamond"/>
                  <a:ea typeface="EB Garamond"/>
                  <a:cs typeface="EB Garamond"/>
                  <a:sym typeface="EB Garamond"/>
                </a:rPr>
                <a:t>Exploratoria</a:t>
              </a:r>
              <a:endParaRPr>
                <a:solidFill>
                  <a:schemeClr val="dk2"/>
                </a:solidFill>
                <a:latin typeface="EB Garamond"/>
                <a:ea typeface="EB Garamond"/>
                <a:cs typeface="EB Garamond"/>
                <a:sym typeface="EB Garamond"/>
              </a:endParaRPr>
            </a:p>
          </p:txBody>
        </p:sp>
        <p:sp>
          <p:nvSpPr>
            <p:cNvPr id="278" name="Google Shape;278;p30"/>
            <p:cNvSpPr/>
            <p:nvPr/>
          </p:nvSpPr>
          <p:spPr>
            <a:xfrm>
              <a:off x="395538" y="2371414"/>
              <a:ext cx="1563300" cy="781500"/>
            </a:xfrm>
            <a:prstGeom prst="rect">
              <a:avLst/>
            </a:prstGeom>
            <a:solidFill>
              <a:srgbClr val="FBE4D4"/>
            </a:solidFill>
            <a:ln w="12700" cap="flat" cmpd="sng">
              <a:solidFill>
                <a:srgbClr val="FFFFFF"/>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30"/>
            <p:cNvSpPr txBox="1"/>
            <p:nvPr/>
          </p:nvSpPr>
          <p:spPr>
            <a:xfrm>
              <a:off x="395538" y="2371414"/>
              <a:ext cx="1563300" cy="781500"/>
            </a:xfrm>
            <a:prstGeom prst="rect">
              <a:avLst/>
            </a:prstGeom>
            <a:noFill/>
            <a:ln>
              <a:noFill/>
            </a:ln>
          </p:spPr>
          <p:txBody>
            <a:bodyPr spcFirstLastPara="1" wrap="square" lIns="7600" tIns="7600" rIns="7600" bIns="7600" anchor="ctr" anchorCtr="0">
              <a:noAutofit/>
            </a:bodyPr>
            <a:lstStyle/>
            <a:p>
              <a:pPr marL="0" marR="0" lvl="0" indent="0" algn="ctr" rtl="0">
                <a:lnSpc>
                  <a:spcPct val="90000"/>
                </a:lnSpc>
                <a:spcBef>
                  <a:spcPts val="0"/>
                </a:spcBef>
                <a:spcAft>
                  <a:spcPts val="0"/>
                </a:spcAft>
                <a:buNone/>
              </a:pPr>
              <a:r>
                <a:rPr lang="es" sz="1200">
                  <a:solidFill>
                    <a:schemeClr val="dk2"/>
                  </a:solidFill>
                  <a:latin typeface="EB Garamond"/>
                  <a:ea typeface="EB Garamond"/>
                  <a:cs typeface="EB Garamond"/>
                  <a:sym typeface="EB Garamond"/>
                </a:rPr>
                <a:t>No se formulan</a:t>
              </a:r>
              <a:endParaRPr>
                <a:solidFill>
                  <a:schemeClr val="dk2"/>
                </a:solidFill>
                <a:latin typeface="EB Garamond"/>
                <a:ea typeface="EB Garamond"/>
                <a:cs typeface="EB Garamond"/>
                <a:sym typeface="EB Garamond"/>
              </a:endParaRPr>
            </a:p>
          </p:txBody>
        </p:sp>
        <p:sp>
          <p:nvSpPr>
            <p:cNvPr id="280" name="Google Shape;280;p30"/>
            <p:cNvSpPr/>
            <p:nvPr/>
          </p:nvSpPr>
          <p:spPr>
            <a:xfrm>
              <a:off x="395538" y="3481314"/>
              <a:ext cx="1563300" cy="781500"/>
            </a:xfrm>
            <a:prstGeom prst="rect">
              <a:avLst/>
            </a:prstGeom>
            <a:solidFill>
              <a:srgbClr val="D8165D"/>
            </a:solidFill>
            <a:ln w="12700" cap="flat" cmpd="sng">
              <a:solidFill>
                <a:srgbClr val="FFFFFF"/>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30"/>
            <p:cNvSpPr txBox="1"/>
            <p:nvPr/>
          </p:nvSpPr>
          <p:spPr>
            <a:xfrm>
              <a:off x="395538" y="3481314"/>
              <a:ext cx="1563300" cy="781500"/>
            </a:xfrm>
            <a:prstGeom prst="rect">
              <a:avLst/>
            </a:prstGeom>
            <a:solidFill>
              <a:srgbClr val="FBE4D4"/>
            </a:solidFill>
            <a:ln>
              <a:noFill/>
            </a:ln>
          </p:spPr>
          <p:txBody>
            <a:bodyPr spcFirstLastPara="1" wrap="square" lIns="7600" tIns="7600" rIns="7600" bIns="7600" anchor="ctr" anchorCtr="0">
              <a:noAutofit/>
            </a:bodyPr>
            <a:lstStyle/>
            <a:p>
              <a:pPr marL="0" marR="0" lvl="0" indent="0" algn="ctr" rtl="0">
                <a:lnSpc>
                  <a:spcPct val="90000"/>
                </a:lnSpc>
                <a:spcBef>
                  <a:spcPts val="0"/>
                </a:spcBef>
                <a:spcAft>
                  <a:spcPts val="0"/>
                </a:spcAft>
                <a:buNone/>
              </a:pPr>
              <a:r>
                <a:rPr lang="es" sz="1200">
                  <a:solidFill>
                    <a:schemeClr val="dk2"/>
                  </a:solidFill>
                  <a:latin typeface="EB Garamond"/>
                  <a:ea typeface="EB Garamond"/>
                  <a:cs typeface="EB Garamond"/>
                  <a:sym typeface="EB Garamond"/>
                </a:rPr>
                <a:t>-</a:t>
              </a:r>
              <a:endParaRPr>
                <a:solidFill>
                  <a:schemeClr val="dk2"/>
                </a:solidFill>
                <a:latin typeface="EB Garamond"/>
                <a:ea typeface="EB Garamond"/>
                <a:cs typeface="EB Garamond"/>
                <a:sym typeface="EB Garamond"/>
              </a:endParaRPr>
            </a:p>
          </p:txBody>
        </p:sp>
        <p:sp>
          <p:nvSpPr>
            <p:cNvPr id="282" name="Google Shape;282;p30"/>
            <p:cNvSpPr/>
            <p:nvPr/>
          </p:nvSpPr>
          <p:spPr>
            <a:xfrm>
              <a:off x="1896249" y="1261514"/>
              <a:ext cx="1563300" cy="781500"/>
            </a:xfrm>
            <a:prstGeom prst="rect">
              <a:avLst/>
            </a:prstGeom>
            <a:solidFill>
              <a:srgbClr val="FEE599"/>
            </a:solidFill>
            <a:ln w="12700" cap="flat" cmpd="sng">
              <a:solidFill>
                <a:srgbClr val="FFFFFF"/>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30"/>
            <p:cNvSpPr txBox="1"/>
            <p:nvPr/>
          </p:nvSpPr>
          <p:spPr>
            <a:xfrm>
              <a:off x="1896249" y="1261514"/>
              <a:ext cx="1563300" cy="781500"/>
            </a:xfrm>
            <a:prstGeom prst="rect">
              <a:avLst/>
            </a:prstGeom>
            <a:noFill/>
            <a:ln>
              <a:noFill/>
            </a:ln>
          </p:spPr>
          <p:txBody>
            <a:bodyPr spcFirstLastPara="1" wrap="square" lIns="11425" tIns="11425" rIns="11425" bIns="11425" anchor="ctr" anchorCtr="0">
              <a:noAutofit/>
            </a:bodyPr>
            <a:lstStyle/>
            <a:p>
              <a:pPr marL="0" marR="0" lvl="0" indent="0" algn="ctr" rtl="0">
                <a:lnSpc>
                  <a:spcPct val="90000"/>
                </a:lnSpc>
                <a:spcBef>
                  <a:spcPts val="0"/>
                </a:spcBef>
                <a:spcAft>
                  <a:spcPts val="0"/>
                </a:spcAft>
                <a:buNone/>
              </a:pPr>
              <a:r>
                <a:rPr lang="es" sz="1800">
                  <a:solidFill>
                    <a:schemeClr val="dk2"/>
                  </a:solidFill>
                  <a:latin typeface="EB Garamond"/>
                  <a:ea typeface="EB Garamond"/>
                  <a:cs typeface="EB Garamond"/>
                  <a:sym typeface="EB Garamond"/>
                </a:rPr>
                <a:t>Descriptiva</a:t>
              </a:r>
              <a:endParaRPr>
                <a:solidFill>
                  <a:schemeClr val="dk2"/>
                </a:solidFill>
                <a:latin typeface="EB Garamond"/>
                <a:ea typeface="EB Garamond"/>
                <a:cs typeface="EB Garamond"/>
                <a:sym typeface="EB Garamond"/>
              </a:endParaRPr>
            </a:p>
          </p:txBody>
        </p:sp>
        <p:sp>
          <p:nvSpPr>
            <p:cNvPr id="284" name="Google Shape;284;p30"/>
            <p:cNvSpPr/>
            <p:nvPr/>
          </p:nvSpPr>
          <p:spPr>
            <a:xfrm>
              <a:off x="2287059" y="2371414"/>
              <a:ext cx="1563300" cy="781500"/>
            </a:xfrm>
            <a:prstGeom prst="rect">
              <a:avLst/>
            </a:prstGeom>
            <a:solidFill>
              <a:srgbClr val="FFF2CC"/>
            </a:solidFill>
            <a:ln w="12700" cap="flat" cmpd="sng">
              <a:solidFill>
                <a:srgbClr val="FFFFFF"/>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30"/>
            <p:cNvSpPr txBox="1"/>
            <p:nvPr/>
          </p:nvSpPr>
          <p:spPr>
            <a:xfrm>
              <a:off x="2287059" y="2371414"/>
              <a:ext cx="1563300" cy="781500"/>
            </a:xfrm>
            <a:prstGeom prst="rect">
              <a:avLst/>
            </a:prstGeom>
            <a:noFill/>
            <a:ln>
              <a:noFill/>
            </a:ln>
          </p:spPr>
          <p:txBody>
            <a:bodyPr spcFirstLastPara="1" wrap="square" lIns="7600" tIns="7600" rIns="7600" bIns="7600" anchor="ctr" anchorCtr="0">
              <a:noAutofit/>
            </a:bodyPr>
            <a:lstStyle/>
            <a:p>
              <a:pPr marL="0" marR="0" lvl="0" indent="0" algn="ctr" rtl="0">
                <a:lnSpc>
                  <a:spcPct val="90000"/>
                </a:lnSpc>
                <a:spcBef>
                  <a:spcPts val="0"/>
                </a:spcBef>
                <a:spcAft>
                  <a:spcPts val="0"/>
                </a:spcAft>
                <a:buNone/>
              </a:pPr>
              <a:r>
                <a:rPr lang="es" sz="1200">
                  <a:solidFill>
                    <a:schemeClr val="dk2"/>
                  </a:solidFill>
                  <a:latin typeface="EB Garamond"/>
                  <a:ea typeface="EB Garamond"/>
                  <a:cs typeface="EB Garamond"/>
                  <a:sym typeface="EB Garamond"/>
                </a:rPr>
                <a:t>Solo se formulan cuando se pronostica un hecho o dato</a:t>
              </a:r>
              <a:endParaRPr>
                <a:solidFill>
                  <a:schemeClr val="dk2"/>
                </a:solidFill>
                <a:latin typeface="EB Garamond"/>
                <a:ea typeface="EB Garamond"/>
                <a:cs typeface="EB Garamond"/>
                <a:sym typeface="EB Garamond"/>
              </a:endParaRPr>
            </a:p>
          </p:txBody>
        </p:sp>
        <p:sp>
          <p:nvSpPr>
            <p:cNvPr id="286" name="Google Shape;286;p30"/>
            <p:cNvSpPr/>
            <p:nvPr/>
          </p:nvSpPr>
          <p:spPr>
            <a:xfrm>
              <a:off x="2287059" y="3481314"/>
              <a:ext cx="1563300" cy="781500"/>
            </a:xfrm>
            <a:prstGeom prst="rect">
              <a:avLst/>
            </a:prstGeom>
            <a:solidFill>
              <a:srgbClr val="FFC000"/>
            </a:solidFill>
            <a:ln w="12700" cap="flat" cmpd="sng">
              <a:solidFill>
                <a:srgbClr val="FFFFFF"/>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30"/>
            <p:cNvSpPr txBox="1"/>
            <p:nvPr/>
          </p:nvSpPr>
          <p:spPr>
            <a:xfrm>
              <a:off x="2287059" y="3481314"/>
              <a:ext cx="1563300" cy="781500"/>
            </a:xfrm>
            <a:prstGeom prst="rect">
              <a:avLst/>
            </a:prstGeom>
            <a:noFill/>
            <a:ln>
              <a:noFill/>
            </a:ln>
          </p:spPr>
          <p:txBody>
            <a:bodyPr spcFirstLastPara="1" wrap="square" lIns="6350" tIns="6350" rIns="6350" bIns="6350" anchor="ctr" anchorCtr="0">
              <a:noAutofit/>
            </a:bodyPr>
            <a:lstStyle/>
            <a:p>
              <a:pPr marL="0" marR="0" lvl="0" indent="0" algn="ctr" rtl="0">
                <a:lnSpc>
                  <a:spcPct val="90000"/>
                </a:lnSpc>
                <a:spcBef>
                  <a:spcPts val="0"/>
                </a:spcBef>
                <a:spcAft>
                  <a:spcPts val="0"/>
                </a:spcAft>
                <a:buNone/>
              </a:pPr>
              <a:r>
                <a:rPr lang="es" sz="1000">
                  <a:solidFill>
                    <a:schemeClr val="dk2"/>
                  </a:solidFill>
                  <a:latin typeface="EB Garamond"/>
                  <a:ea typeface="EB Garamond"/>
                  <a:cs typeface="EB Garamond"/>
                  <a:sym typeface="EB Garamond"/>
                </a:rPr>
                <a:t>Ej. "El índice delictivo para el siguiente semestre será menor a un delito por cada mil habitantes” </a:t>
              </a:r>
              <a:endParaRPr>
                <a:solidFill>
                  <a:schemeClr val="dk2"/>
                </a:solidFill>
                <a:latin typeface="EB Garamond"/>
                <a:ea typeface="EB Garamond"/>
                <a:cs typeface="EB Garamond"/>
                <a:sym typeface="EB Garamond"/>
              </a:endParaRPr>
            </a:p>
          </p:txBody>
        </p:sp>
        <p:sp>
          <p:nvSpPr>
            <p:cNvPr id="288" name="Google Shape;288;p30"/>
            <p:cNvSpPr/>
            <p:nvPr/>
          </p:nvSpPr>
          <p:spPr>
            <a:xfrm>
              <a:off x="4178579" y="1261514"/>
              <a:ext cx="1563300" cy="781500"/>
            </a:xfrm>
            <a:prstGeom prst="rect">
              <a:avLst/>
            </a:prstGeom>
            <a:solidFill>
              <a:srgbClr val="C4E0B2"/>
            </a:solidFill>
            <a:ln w="12700" cap="flat" cmpd="sng">
              <a:solidFill>
                <a:srgbClr val="FFFFFF"/>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89;p30"/>
            <p:cNvSpPr txBox="1"/>
            <p:nvPr/>
          </p:nvSpPr>
          <p:spPr>
            <a:xfrm>
              <a:off x="4178579" y="1261514"/>
              <a:ext cx="1563300" cy="781500"/>
            </a:xfrm>
            <a:prstGeom prst="rect">
              <a:avLst/>
            </a:prstGeom>
            <a:noFill/>
            <a:ln>
              <a:noFill/>
            </a:ln>
          </p:spPr>
          <p:txBody>
            <a:bodyPr spcFirstLastPara="1" wrap="square" lIns="11425" tIns="11425" rIns="11425" bIns="11425" anchor="ctr" anchorCtr="0">
              <a:noAutofit/>
            </a:bodyPr>
            <a:lstStyle/>
            <a:p>
              <a:pPr marL="0" marR="0" lvl="0" indent="0" algn="ctr" rtl="0">
                <a:lnSpc>
                  <a:spcPct val="90000"/>
                </a:lnSpc>
                <a:spcBef>
                  <a:spcPts val="0"/>
                </a:spcBef>
                <a:spcAft>
                  <a:spcPts val="0"/>
                </a:spcAft>
                <a:buNone/>
              </a:pPr>
              <a:r>
                <a:rPr lang="es" sz="1800">
                  <a:solidFill>
                    <a:schemeClr val="dk2"/>
                  </a:solidFill>
                  <a:latin typeface="EB Garamond"/>
                  <a:ea typeface="EB Garamond"/>
                  <a:cs typeface="EB Garamond"/>
                  <a:sym typeface="EB Garamond"/>
                </a:rPr>
                <a:t>Correlacional</a:t>
              </a:r>
              <a:endParaRPr>
                <a:solidFill>
                  <a:schemeClr val="dk2"/>
                </a:solidFill>
                <a:latin typeface="EB Garamond"/>
                <a:ea typeface="EB Garamond"/>
                <a:cs typeface="EB Garamond"/>
                <a:sym typeface="EB Garamond"/>
              </a:endParaRPr>
            </a:p>
          </p:txBody>
        </p:sp>
        <p:sp>
          <p:nvSpPr>
            <p:cNvPr id="290" name="Google Shape;290;p30"/>
            <p:cNvSpPr/>
            <p:nvPr/>
          </p:nvSpPr>
          <p:spPr>
            <a:xfrm>
              <a:off x="4553729" y="2371414"/>
              <a:ext cx="1563300" cy="781500"/>
            </a:xfrm>
            <a:prstGeom prst="rect">
              <a:avLst/>
            </a:prstGeom>
            <a:solidFill>
              <a:srgbClr val="C4E0B2"/>
            </a:solidFill>
            <a:ln w="12700" cap="flat" cmpd="sng">
              <a:solidFill>
                <a:srgbClr val="FFFFFF"/>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30"/>
            <p:cNvSpPr txBox="1"/>
            <p:nvPr/>
          </p:nvSpPr>
          <p:spPr>
            <a:xfrm>
              <a:off x="4506779" y="2371414"/>
              <a:ext cx="1563300" cy="781500"/>
            </a:xfrm>
            <a:prstGeom prst="rect">
              <a:avLst/>
            </a:prstGeom>
            <a:noFill/>
            <a:ln>
              <a:noFill/>
            </a:ln>
          </p:spPr>
          <p:txBody>
            <a:bodyPr spcFirstLastPara="1" wrap="square" lIns="7600" tIns="7600" rIns="7600" bIns="7600" anchor="ctr" anchorCtr="0">
              <a:noAutofit/>
            </a:bodyPr>
            <a:lstStyle/>
            <a:p>
              <a:pPr marL="0" marR="0" lvl="0" indent="0" algn="ctr" rtl="0">
                <a:lnSpc>
                  <a:spcPct val="90000"/>
                </a:lnSpc>
                <a:spcBef>
                  <a:spcPts val="0"/>
                </a:spcBef>
                <a:spcAft>
                  <a:spcPts val="0"/>
                </a:spcAft>
                <a:buNone/>
              </a:pPr>
              <a:r>
                <a:rPr lang="es" sz="1200">
                  <a:solidFill>
                    <a:schemeClr val="dk2"/>
                  </a:solidFill>
                  <a:latin typeface="EB Garamond"/>
                  <a:ea typeface="EB Garamond"/>
                  <a:cs typeface="EB Garamond"/>
                  <a:sym typeface="EB Garamond"/>
                </a:rPr>
                <a:t>Sí, correlacionales</a:t>
              </a:r>
              <a:endParaRPr>
                <a:solidFill>
                  <a:schemeClr val="dk2"/>
                </a:solidFill>
                <a:latin typeface="EB Garamond"/>
                <a:ea typeface="EB Garamond"/>
                <a:cs typeface="EB Garamond"/>
                <a:sym typeface="EB Garamond"/>
              </a:endParaRPr>
            </a:p>
          </p:txBody>
        </p:sp>
        <p:sp>
          <p:nvSpPr>
            <p:cNvPr id="292" name="Google Shape;292;p30"/>
            <p:cNvSpPr/>
            <p:nvPr/>
          </p:nvSpPr>
          <p:spPr>
            <a:xfrm>
              <a:off x="4569389" y="3481314"/>
              <a:ext cx="1563300" cy="781500"/>
            </a:xfrm>
            <a:prstGeom prst="rect">
              <a:avLst/>
            </a:prstGeom>
            <a:solidFill>
              <a:srgbClr val="70AD47"/>
            </a:solidFill>
            <a:ln w="12700" cap="flat" cmpd="sng">
              <a:solidFill>
                <a:srgbClr val="FFFFFF"/>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 name="Google Shape;293;p30"/>
            <p:cNvSpPr txBox="1"/>
            <p:nvPr/>
          </p:nvSpPr>
          <p:spPr>
            <a:xfrm>
              <a:off x="4569389" y="3481314"/>
              <a:ext cx="1563300" cy="781500"/>
            </a:xfrm>
            <a:prstGeom prst="rect">
              <a:avLst/>
            </a:prstGeom>
            <a:noFill/>
            <a:ln>
              <a:noFill/>
            </a:ln>
          </p:spPr>
          <p:txBody>
            <a:bodyPr spcFirstLastPara="1" wrap="square" lIns="6350" tIns="6350" rIns="6350" bIns="6350" anchor="ctr" anchorCtr="0">
              <a:noAutofit/>
            </a:bodyPr>
            <a:lstStyle/>
            <a:p>
              <a:pPr marL="0" marR="0" lvl="0" indent="0" algn="ctr" rtl="0">
                <a:lnSpc>
                  <a:spcPct val="90000"/>
                </a:lnSpc>
                <a:spcBef>
                  <a:spcPts val="0"/>
                </a:spcBef>
                <a:spcAft>
                  <a:spcPts val="0"/>
                </a:spcAft>
                <a:buNone/>
              </a:pPr>
              <a:r>
                <a:rPr lang="es" sz="1000">
                  <a:solidFill>
                    <a:schemeClr val="dk2"/>
                  </a:solidFill>
                  <a:latin typeface="EB Garamond"/>
                  <a:ea typeface="EB Garamond"/>
                  <a:cs typeface="EB Garamond"/>
                  <a:sym typeface="EB Garamond"/>
                </a:rPr>
                <a:t>Ej. "A mayor nivel educativo alcanzado por mujeres, se observará menor brecha salarial con hombres en mismo cargo" </a:t>
              </a:r>
              <a:endParaRPr>
                <a:solidFill>
                  <a:schemeClr val="dk2"/>
                </a:solidFill>
                <a:latin typeface="EB Garamond"/>
                <a:ea typeface="EB Garamond"/>
                <a:cs typeface="EB Garamond"/>
                <a:sym typeface="EB Garamond"/>
              </a:endParaRPr>
            </a:p>
          </p:txBody>
        </p:sp>
        <p:sp>
          <p:nvSpPr>
            <p:cNvPr id="294" name="Google Shape;294;p30"/>
            <p:cNvSpPr/>
            <p:nvPr/>
          </p:nvSpPr>
          <p:spPr>
            <a:xfrm>
              <a:off x="6070099" y="1261514"/>
              <a:ext cx="1563300" cy="781500"/>
            </a:xfrm>
            <a:prstGeom prst="rect">
              <a:avLst/>
            </a:prstGeom>
            <a:solidFill>
              <a:srgbClr val="C4E0B2"/>
            </a:solidFill>
            <a:ln w="12700" cap="flat" cmpd="sng">
              <a:solidFill>
                <a:srgbClr val="FFFFFF"/>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p30"/>
            <p:cNvSpPr txBox="1"/>
            <p:nvPr/>
          </p:nvSpPr>
          <p:spPr>
            <a:xfrm>
              <a:off x="6070099" y="1261514"/>
              <a:ext cx="1563300" cy="781500"/>
            </a:xfrm>
            <a:prstGeom prst="rect">
              <a:avLst/>
            </a:prstGeom>
            <a:noFill/>
            <a:ln>
              <a:noFill/>
            </a:ln>
          </p:spPr>
          <p:txBody>
            <a:bodyPr spcFirstLastPara="1" wrap="square" lIns="11425" tIns="11425" rIns="11425" bIns="11425" anchor="ctr" anchorCtr="0">
              <a:noAutofit/>
            </a:bodyPr>
            <a:lstStyle/>
            <a:p>
              <a:pPr marL="0" marR="0" lvl="0" indent="0" algn="ctr" rtl="0">
                <a:lnSpc>
                  <a:spcPct val="90000"/>
                </a:lnSpc>
                <a:spcBef>
                  <a:spcPts val="0"/>
                </a:spcBef>
                <a:spcAft>
                  <a:spcPts val="0"/>
                </a:spcAft>
                <a:buNone/>
              </a:pPr>
              <a:r>
                <a:rPr lang="es" sz="1800">
                  <a:solidFill>
                    <a:schemeClr val="dk2"/>
                  </a:solidFill>
                  <a:latin typeface="EB Garamond"/>
                  <a:ea typeface="EB Garamond"/>
                  <a:cs typeface="EB Garamond"/>
                  <a:sym typeface="EB Garamond"/>
                </a:rPr>
                <a:t>Causal</a:t>
              </a:r>
              <a:endParaRPr>
                <a:solidFill>
                  <a:schemeClr val="dk2"/>
                </a:solidFill>
                <a:latin typeface="EB Garamond"/>
                <a:ea typeface="EB Garamond"/>
                <a:cs typeface="EB Garamond"/>
                <a:sym typeface="EB Garamond"/>
              </a:endParaRPr>
            </a:p>
          </p:txBody>
        </p:sp>
        <p:sp>
          <p:nvSpPr>
            <p:cNvPr id="296" name="Google Shape;296;p30"/>
            <p:cNvSpPr/>
            <p:nvPr/>
          </p:nvSpPr>
          <p:spPr>
            <a:xfrm>
              <a:off x="6460909" y="2371414"/>
              <a:ext cx="1563300" cy="781500"/>
            </a:xfrm>
            <a:prstGeom prst="rect">
              <a:avLst/>
            </a:prstGeom>
            <a:solidFill>
              <a:srgbClr val="C4E0B2"/>
            </a:solidFill>
            <a:ln w="12700" cap="flat" cmpd="sng">
              <a:solidFill>
                <a:srgbClr val="FFFFFF"/>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 name="Google Shape;297;p30"/>
            <p:cNvSpPr txBox="1"/>
            <p:nvPr/>
          </p:nvSpPr>
          <p:spPr>
            <a:xfrm>
              <a:off x="6460909" y="2371414"/>
              <a:ext cx="1563300" cy="781500"/>
            </a:xfrm>
            <a:prstGeom prst="rect">
              <a:avLst/>
            </a:prstGeom>
            <a:noFill/>
            <a:ln>
              <a:noFill/>
            </a:ln>
          </p:spPr>
          <p:txBody>
            <a:bodyPr spcFirstLastPara="1" wrap="square" lIns="7600" tIns="7600" rIns="7600" bIns="7600" anchor="ctr" anchorCtr="0">
              <a:noAutofit/>
            </a:bodyPr>
            <a:lstStyle/>
            <a:p>
              <a:pPr marL="0" marR="0" lvl="0" indent="0" algn="ctr" rtl="0">
                <a:lnSpc>
                  <a:spcPct val="90000"/>
                </a:lnSpc>
                <a:spcBef>
                  <a:spcPts val="0"/>
                </a:spcBef>
                <a:spcAft>
                  <a:spcPts val="0"/>
                </a:spcAft>
                <a:buNone/>
              </a:pPr>
              <a:r>
                <a:rPr lang="es" sz="1200">
                  <a:solidFill>
                    <a:schemeClr val="dk2"/>
                  </a:solidFill>
                  <a:latin typeface="EB Garamond"/>
                  <a:ea typeface="EB Garamond"/>
                  <a:cs typeface="EB Garamond"/>
                  <a:sym typeface="EB Garamond"/>
                </a:rPr>
                <a:t>Sí, causales</a:t>
              </a:r>
              <a:endParaRPr>
                <a:solidFill>
                  <a:schemeClr val="dk2"/>
                </a:solidFill>
                <a:latin typeface="EB Garamond"/>
                <a:ea typeface="EB Garamond"/>
                <a:cs typeface="EB Garamond"/>
                <a:sym typeface="EB Garamond"/>
              </a:endParaRPr>
            </a:p>
          </p:txBody>
        </p:sp>
        <p:sp>
          <p:nvSpPr>
            <p:cNvPr id="298" name="Google Shape;298;p30"/>
            <p:cNvSpPr/>
            <p:nvPr/>
          </p:nvSpPr>
          <p:spPr>
            <a:xfrm>
              <a:off x="6460909" y="3481314"/>
              <a:ext cx="1563300" cy="781500"/>
            </a:xfrm>
            <a:prstGeom prst="rect">
              <a:avLst/>
            </a:prstGeom>
            <a:solidFill>
              <a:srgbClr val="70AD47"/>
            </a:solidFill>
            <a:ln w="12700" cap="flat" cmpd="sng">
              <a:solidFill>
                <a:srgbClr val="FFFFFF"/>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 name="Google Shape;299;p30"/>
            <p:cNvSpPr txBox="1"/>
            <p:nvPr/>
          </p:nvSpPr>
          <p:spPr>
            <a:xfrm>
              <a:off x="6460909" y="3481314"/>
              <a:ext cx="1563300" cy="781500"/>
            </a:xfrm>
            <a:prstGeom prst="rect">
              <a:avLst/>
            </a:prstGeom>
            <a:noFill/>
            <a:ln>
              <a:noFill/>
            </a:ln>
          </p:spPr>
          <p:txBody>
            <a:bodyPr spcFirstLastPara="1" wrap="square" lIns="6350" tIns="6350" rIns="6350" bIns="6350" anchor="ctr" anchorCtr="0">
              <a:noAutofit/>
            </a:bodyPr>
            <a:lstStyle/>
            <a:p>
              <a:pPr marL="0" marR="0" lvl="0" indent="0" algn="ctr" rtl="0">
                <a:lnSpc>
                  <a:spcPct val="90000"/>
                </a:lnSpc>
                <a:spcBef>
                  <a:spcPts val="0"/>
                </a:spcBef>
                <a:spcAft>
                  <a:spcPts val="0"/>
                </a:spcAft>
                <a:buNone/>
              </a:pPr>
              <a:r>
                <a:rPr lang="es" sz="1000">
                  <a:solidFill>
                    <a:schemeClr val="dk2"/>
                  </a:solidFill>
                  <a:latin typeface="EB Garamond"/>
                  <a:ea typeface="EB Garamond"/>
                  <a:cs typeface="EB Garamond"/>
                  <a:sym typeface="EB Garamond"/>
                </a:rPr>
                <a:t>Ej. "La vacuna generará anticuerpos que disminuirán las probabilidades de mortalidad por covid"</a:t>
              </a:r>
              <a:endParaRPr>
                <a:solidFill>
                  <a:schemeClr val="dk2"/>
                </a:solidFill>
                <a:latin typeface="EB Garamond"/>
                <a:ea typeface="EB Garamond"/>
                <a:cs typeface="EB Garamond"/>
                <a:sym typeface="EB Garamond"/>
              </a:endParaRPr>
            </a:p>
          </p:txBody>
        </p:sp>
      </p:grpSp>
      <p:sp>
        <p:nvSpPr>
          <p:cNvPr id="300" name="Google Shape;300;p30"/>
          <p:cNvSpPr/>
          <p:nvPr/>
        </p:nvSpPr>
        <p:spPr>
          <a:xfrm>
            <a:off x="4890959" y="2199800"/>
            <a:ext cx="234600" cy="1829100"/>
          </a:xfrm>
          <a:custGeom>
            <a:avLst/>
            <a:gdLst/>
            <a:ahLst/>
            <a:cxnLst/>
            <a:rect l="l" t="t" r="r" b="b"/>
            <a:pathLst>
              <a:path w="120000" h="120000" extrusionOk="0">
                <a:moveTo>
                  <a:pt x="0" y="0"/>
                </a:moveTo>
                <a:lnTo>
                  <a:pt x="0" y="120000"/>
                </a:lnTo>
                <a:lnTo>
                  <a:pt x="120000" y="120000"/>
                </a:lnTo>
              </a:path>
            </a:pathLst>
          </a:custGeom>
          <a:noFill/>
          <a:ln w="12700" cap="flat" cmpd="sng">
            <a:solidFill>
              <a:srgbClr val="3A66B1"/>
            </a:solidFill>
            <a:prstDash val="solid"/>
            <a:miter lim="800000"/>
            <a:headEnd type="none" w="sm" len="sm"/>
            <a:tailEnd type="none" w="sm" len="sm"/>
          </a:ln>
        </p:spPr>
        <p:txBody>
          <a:bodyPr/>
          <a:lstStyle/>
          <a:p>
            <a:endParaRPr lang="es-CL"/>
          </a:p>
        </p:txBody>
      </p:sp>
      <p:sp>
        <p:nvSpPr>
          <p:cNvPr id="301" name="Google Shape;301;p30"/>
          <p:cNvSpPr/>
          <p:nvPr/>
        </p:nvSpPr>
        <p:spPr>
          <a:xfrm>
            <a:off x="4890951" y="2199800"/>
            <a:ext cx="234600" cy="779100"/>
          </a:xfrm>
          <a:custGeom>
            <a:avLst/>
            <a:gdLst/>
            <a:ahLst/>
            <a:cxnLst/>
            <a:rect l="l" t="t" r="r" b="b"/>
            <a:pathLst>
              <a:path w="120000" h="120000" extrusionOk="0">
                <a:moveTo>
                  <a:pt x="0" y="0"/>
                </a:moveTo>
                <a:lnTo>
                  <a:pt x="0" y="120000"/>
                </a:lnTo>
                <a:lnTo>
                  <a:pt x="120000" y="120000"/>
                </a:lnTo>
              </a:path>
            </a:pathLst>
          </a:custGeom>
          <a:noFill/>
          <a:ln w="12700" cap="flat" cmpd="sng">
            <a:solidFill>
              <a:srgbClr val="3A66B1"/>
            </a:solidFill>
            <a:prstDash val="solid"/>
            <a:miter lim="800000"/>
            <a:headEnd type="none" w="sm" len="sm"/>
            <a:tailEnd type="none" w="sm" len="sm"/>
          </a:ln>
        </p:spPr>
        <p:txBody>
          <a:bodyPr/>
          <a:lstStyle/>
          <a:p>
            <a:endParaRPr lang="es-CL"/>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05"/>
        <p:cNvGrpSpPr/>
        <p:nvPr/>
      </p:nvGrpSpPr>
      <p:grpSpPr>
        <a:xfrm>
          <a:off x="0" y="0"/>
          <a:ext cx="0" cy="0"/>
          <a:chOff x="0" y="0"/>
          <a:chExt cx="0" cy="0"/>
        </a:xfrm>
      </p:grpSpPr>
      <p:sp>
        <p:nvSpPr>
          <p:cNvPr id="306" name="Google Shape;306;p31"/>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a:latin typeface="EB Garamond"/>
                <a:ea typeface="EB Garamond"/>
                <a:cs typeface="EB Garamond"/>
                <a:sym typeface="EB Garamond"/>
              </a:rPr>
              <a:t>Ejercicio: ¿cuáles variables se vinculan en cada ejemplo?</a:t>
            </a:r>
            <a:endParaRPr>
              <a:latin typeface="EB Garamond"/>
              <a:ea typeface="EB Garamond"/>
              <a:cs typeface="EB Garamond"/>
              <a:sym typeface="EB Garamond"/>
            </a:endParaRPr>
          </a:p>
        </p:txBody>
      </p:sp>
      <p:sp>
        <p:nvSpPr>
          <p:cNvPr id="307" name="Google Shape;307;p31"/>
          <p:cNvSpPr txBox="1">
            <a:spLocks noGrp="1"/>
          </p:cNvSpPr>
          <p:nvPr>
            <p:ph type="body" idx="1"/>
          </p:nvPr>
        </p:nvSpPr>
        <p:spPr>
          <a:xfrm>
            <a:off x="311700" y="1152475"/>
            <a:ext cx="4593600" cy="3416400"/>
          </a:xfrm>
          <a:prstGeom prst="rect">
            <a:avLst/>
          </a:prstGeom>
        </p:spPr>
        <p:txBody>
          <a:bodyPr spcFirstLastPara="1" wrap="square" lIns="91425" tIns="91425" rIns="91425" bIns="91425" anchor="t" anchorCtr="0">
            <a:normAutofit fontScale="92500" lnSpcReduction="20000"/>
          </a:bodyPr>
          <a:lstStyle/>
          <a:p>
            <a:pPr marL="0" lvl="0" indent="0" algn="l" rtl="0">
              <a:spcBef>
                <a:spcPts val="0"/>
              </a:spcBef>
              <a:spcAft>
                <a:spcPts val="0"/>
              </a:spcAft>
              <a:buClr>
                <a:schemeClr val="dk1"/>
              </a:buClr>
              <a:buSzPct val="61111"/>
              <a:buFont typeface="Arial"/>
              <a:buNone/>
            </a:pPr>
            <a:r>
              <a:rPr lang="es">
                <a:solidFill>
                  <a:schemeClr val="lt2"/>
                </a:solidFill>
                <a:highlight>
                  <a:srgbClr val="156C77"/>
                </a:highlight>
                <a:latin typeface="EB Garamond"/>
                <a:ea typeface="EB Garamond"/>
                <a:cs typeface="EB Garamond"/>
                <a:sym typeface="EB Garamond"/>
              </a:rPr>
              <a:t>Ejemplos</a:t>
            </a:r>
            <a:endParaRPr>
              <a:solidFill>
                <a:schemeClr val="lt2"/>
              </a:solidFill>
              <a:highlight>
                <a:srgbClr val="156C77"/>
              </a:highlight>
              <a:latin typeface="EB Garamond"/>
              <a:ea typeface="EB Garamond"/>
              <a:cs typeface="EB Garamond"/>
              <a:sym typeface="EB Garamond"/>
            </a:endParaRPr>
          </a:p>
          <a:p>
            <a:pPr marL="457200" lvl="0" indent="-334327" algn="l" rtl="0">
              <a:spcBef>
                <a:spcPts val="1200"/>
              </a:spcBef>
              <a:spcAft>
                <a:spcPts val="0"/>
              </a:spcAft>
              <a:buSzPct val="100000"/>
              <a:buFont typeface="EB Garamond"/>
              <a:buAutoNum type="arabicPeriod"/>
            </a:pPr>
            <a:r>
              <a:rPr lang="es">
                <a:latin typeface="EB Garamond"/>
                <a:ea typeface="EB Garamond"/>
                <a:cs typeface="EB Garamond"/>
                <a:sym typeface="EB Garamond"/>
              </a:rPr>
              <a:t>La proximidad geográfica entre los hogares de las parejas de novios está vinculada positivamente con el nivel de satisfacción que les proporciona su relación.</a:t>
            </a:r>
            <a:endParaRPr>
              <a:latin typeface="EB Garamond"/>
              <a:ea typeface="EB Garamond"/>
              <a:cs typeface="EB Garamond"/>
              <a:sym typeface="EB Garamond"/>
            </a:endParaRPr>
          </a:p>
          <a:p>
            <a:pPr marL="457200" lvl="0" indent="0" algn="l" rtl="0">
              <a:spcBef>
                <a:spcPts val="1200"/>
              </a:spcBef>
              <a:spcAft>
                <a:spcPts val="0"/>
              </a:spcAft>
              <a:buNone/>
            </a:pPr>
            <a:endParaRPr>
              <a:latin typeface="EB Garamond"/>
              <a:ea typeface="EB Garamond"/>
              <a:cs typeface="EB Garamond"/>
              <a:sym typeface="EB Garamond"/>
            </a:endParaRPr>
          </a:p>
          <a:p>
            <a:pPr marL="457200" lvl="0" indent="-334327" algn="l" rtl="0">
              <a:spcBef>
                <a:spcPts val="0"/>
              </a:spcBef>
              <a:spcAft>
                <a:spcPts val="0"/>
              </a:spcAft>
              <a:buSzPct val="100000"/>
              <a:buFont typeface="EB Garamond"/>
              <a:buAutoNum type="arabicPeriod"/>
            </a:pPr>
            <a:r>
              <a:rPr lang="es">
                <a:latin typeface="EB Garamond"/>
                <a:ea typeface="EB Garamond"/>
                <a:cs typeface="EB Garamond"/>
                <a:sym typeface="EB Garamond"/>
              </a:rPr>
              <a:t>El índice de cáncer pulmonar es mayor entre los fumadores que entre los no fumadores.</a:t>
            </a:r>
            <a:endParaRPr>
              <a:latin typeface="EB Garamond"/>
              <a:ea typeface="EB Garamond"/>
              <a:cs typeface="EB Garamond"/>
              <a:sym typeface="EB Garamond"/>
            </a:endParaRPr>
          </a:p>
          <a:p>
            <a:pPr marL="457200" lvl="0" indent="0" algn="l" rtl="0">
              <a:spcBef>
                <a:spcPts val="1200"/>
              </a:spcBef>
              <a:spcAft>
                <a:spcPts val="0"/>
              </a:spcAft>
              <a:buNone/>
            </a:pPr>
            <a:endParaRPr>
              <a:latin typeface="EB Garamond"/>
              <a:ea typeface="EB Garamond"/>
              <a:cs typeface="EB Garamond"/>
              <a:sym typeface="EB Garamond"/>
            </a:endParaRPr>
          </a:p>
          <a:p>
            <a:pPr marL="457200" lvl="0" indent="-334327" algn="l" rtl="0">
              <a:spcBef>
                <a:spcPts val="0"/>
              </a:spcBef>
              <a:spcAft>
                <a:spcPts val="0"/>
              </a:spcAft>
              <a:buSzPct val="100000"/>
              <a:buFont typeface="EB Garamond"/>
              <a:buAutoNum type="arabicPeriod"/>
            </a:pPr>
            <a:r>
              <a:rPr lang="es">
                <a:latin typeface="EB Garamond"/>
                <a:ea typeface="EB Garamond"/>
                <a:cs typeface="EB Garamond"/>
                <a:sym typeface="EB Garamond"/>
              </a:rPr>
              <a:t>A mayor variedad en el trabajo, habrá mayor motivación intrínseca hacia éste.</a:t>
            </a:r>
            <a:endParaRPr>
              <a:latin typeface="EB Garamond"/>
              <a:ea typeface="EB Garamond"/>
              <a:cs typeface="EB Garamond"/>
              <a:sym typeface="EB Garamond"/>
            </a:endParaRPr>
          </a:p>
        </p:txBody>
      </p:sp>
      <p:sp>
        <p:nvSpPr>
          <p:cNvPr id="308" name="Google Shape;308;p3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s"/>
              <a:t>19</a:t>
            </a:fld>
            <a:endParaRPr/>
          </a:p>
        </p:txBody>
      </p:sp>
      <p:sp>
        <p:nvSpPr>
          <p:cNvPr id="309" name="Google Shape;309;p31"/>
          <p:cNvSpPr txBox="1"/>
          <p:nvPr/>
        </p:nvSpPr>
        <p:spPr>
          <a:xfrm>
            <a:off x="5607075" y="1152475"/>
            <a:ext cx="1026900" cy="39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700">
                <a:solidFill>
                  <a:schemeClr val="lt2"/>
                </a:solidFill>
                <a:highlight>
                  <a:srgbClr val="156C77"/>
                </a:highlight>
                <a:latin typeface="EB Garamond"/>
                <a:ea typeface="EB Garamond"/>
                <a:cs typeface="EB Garamond"/>
                <a:sym typeface="EB Garamond"/>
              </a:rPr>
              <a:t>Variables</a:t>
            </a:r>
            <a:endParaRPr sz="1700">
              <a:solidFill>
                <a:schemeClr val="lt2"/>
              </a:solidFill>
              <a:highlight>
                <a:srgbClr val="156C77"/>
              </a:highlight>
              <a:latin typeface="EB Garamond"/>
              <a:ea typeface="EB Garamond"/>
              <a:cs typeface="EB Garamond"/>
              <a:sym typeface="EB Garamond"/>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13"/>
        <p:cNvGrpSpPr/>
        <p:nvPr/>
      </p:nvGrpSpPr>
      <p:grpSpPr>
        <a:xfrm>
          <a:off x="0" y="0"/>
          <a:ext cx="0" cy="0"/>
          <a:chOff x="0" y="0"/>
          <a:chExt cx="0" cy="0"/>
        </a:xfrm>
      </p:grpSpPr>
      <p:sp>
        <p:nvSpPr>
          <p:cNvPr id="314" name="Google Shape;314;p32"/>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b="1">
                <a:latin typeface="EB Garamond"/>
                <a:ea typeface="EB Garamond"/>
                <a:cs typeface="EB Garamond"/>
                <a:sym typeface="EB Garamond"/>
              </a:rPr>
              <a:t>Características de las hipótesis</a:t>
            </a:r>
            <a:endParaRPr b="1">
              <a:latin typeface="EB Garamond"/>
              <a:ea typeface="EB Garamond"/>
              <a:cs typeface="EB Garamond"/>
              <a:sym typeface="EB Garamond"/>
            </a:endParaRPr>
          </a:p>
        </p:txBody>
      </p:sp>
      <p:sp>
        <p:nvSpPr>
          <p:cNvPr id="315" name="Google Shape;315;p32"/>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Clr>
                <a:schemeClr val="dk1"/>
              </a:buClr>
              <a:buSzPts val="1100"/>
              <a:buFont typeface="Arial"/>
              <a:buNone/>
            </a:pPr>
            <a:r>
              <a:rPr lang="es">
                <a:latin typeface="EB Garamond"/>
                <a:ea typeface="EB Garamond"/>
                <a:cs typeface="EB Garamond"/>
                <a:sym typeface="EB Garamond"/>
              </a:rPr>
              <a:t>*</a:t>
            </a:r>
            <a:r>
              <a:rPr lang="es" b="1">
                <a:latin typeface="EB Garamond"/>
                <a:ea typeface="EB Garamond"/>
                <a:cs typeface="EB Garamond"/>
                <a:sym typeface="EB Garamond"/>
              </a:rPr>
              <a:t>Son la médula del método deductivo cuantitativo</a:t>
            </a:r>
            <a:r>
              <a:rPr lang="es">
                <a:latin typeface="EB Garamond"/>
                <a:ea typeface="EB Garamond"/>
                <a:cs typeface="EB Garamond"/>
                <a:sym typeface="EB Garamond"/>
              </a:rPr>
              <a:t>.</a:t>
            </a:r>
            <a:endParaRPr>
              <a:latin typeface="EB Garamond"/>
              <a:ea typeface="EB Garamond"/>
              <a:cs typeface="EB Garamond"/>
              <a:sym typeface="EB Garamond"/>
            </a:endParaRPr>
          </a:p>
          <a:p>
            <a:pPr marL="457200" lvl="0" indent="-342900" algn="l" rtl="0">
              <a:spcBef>
                <a:spcPts val="1200"/>
              </a:spcBef>
              <a:spcAft>
                <a:spcPts val="0"/>
              </a:spcAft>
              <a:buSzPts val="1800"/>
              <a:buFont typeface="EB Garamond"/>
              <a:buAutoNum type="arabicPeriod"/>
            </a:pPr>
            <a:r>
              <a:rPr lang="es">
                <a:solidFill>
                  <a:schemeClr val="lt2"/>
                </a:solidFill>
                <a:highlight>
                  <a:srgbClr val="156C77"/>
                </a:highlight>
                <a:latin typeface="EB Garamond"/>
                <a:ea typeface="EB Garamond"/>
                <a:cs typeface="EB Garamond"/>
                <a:sym typeface="EB Garamond"/>
              </a:rPr>
              <a:t>Reales</a:t>
            </a:r>
            <a:r>
              <a:rPr lang="es">
                <a:latin typeface="EB Garamond"/>
                <a:ea typeface="EB Garamond"/>
                <a:cs typeface="EB Garamond"/>
                <a:sym typeface="EB Garamond"/>
              </a:rPr>
              <a:t>: “Los niños han disminuido su aprendizaje”</a:t>
            </a:r>
            <a:endParaRPr>
              <a:latin typeface="EB Garamond"/>
              <a:ea typeface="EB Garamond"/>
              <a:cs typeface="EB Garamond"/>
              <a:sym typeface="EB Garamond"/>
            </a:endParaRPr>
          </a:p>
          <a:p>
            <a:pPr marL="457200" lvl="0" indent="-342900" algn="l" rtl="0">
              <a:spcBef>
                <a:spcPts val="0"/>
              </a:spcBef>
              <a:spcAft>
                <a:spcPts val="0"/>
              </a:spcAft>
              <a:buSzPts val="1800"/>
              <a:buFont typeface="EB Garamond"/>
              <a:buAutoNum type="arabicPeriod"/>
            </a:pPr>
            <a:r>
              <a:rPr lang="es">
                <a:solidFill>
                  <a:schemeClr val="lt2"/>
                </a:solidFill>
                <a:highlight>
                  <a:srgbClr val="156C77"/>
                </a:highlight>
                <a:latin typeface="EB Garamond"/>
                <a:ea typeface="EB Garamond"/>
                <a:cs typeface="EB Garamond"/>
                <a:sym typeface="EB Garamond"/>
              </a:rPr>
              <a:t>Variables precisas</a:t>
            </a:r>
            <a:r>
              <a:rPr lang="es">
                <a:latin typeface="EB Garamond"/>
                <a:ea typeface="EB Garamond"/>
                <a:cs typeface="EB Garamond"/>
                <a:sym typeface="EB Garamond"/>
              </a:rPr>
              <a:t>: “Cambiará el clima”</a:t>
            </a:r>
            <a:endParaRPr>
              <a:latin typeface="EB Garamond"/>
              <a:ea typeface="EB Garamond"/>
              <a:cs typeface="EB Garamond"/>
              <a:sym typeface="EB Garamond"/>
            </a:endParaRPr>
          </a:p>
          <a:p>
            <a:pPr marL="457200" lvl="0" indent="-342900" algn="l" rtl="0">
              <a:spcBef>
                <a:spcPts val="0"/>
              </a:spcBef>
              <a:spcAft>
                <a:spcPts val="0"/>
              </a:spcAft>
              <a:buSzPts val="1800"/>
              <a:buFont typeface="EB Garamond"/>
              <a:buAutoNum type="arabicPeriod"/>
            </a:pPr>
            <a:r>
              <a:rPr lang="es">
                <a:solidFill>
                  <a:schemeClr val="lt2"/>
                </a:solidFill>
                <a:highlight>
                  <a:srgbClr val="156C77"/>
                </a:highlight>
                <a:latin typeface="EB Garamond"/>
                <a:ea typeface="EB Garamond"/>
                <a:cs typeface="EB Garamond"/>
                <a:sym typeface="EB Garamond"/>
              </a:rPr>
              <a:t>Lógica clara y verosímil</a:t>
            </a:r>
            <a:r>
              <a:rPr lang="es">
                <a:latin typeface="EB Garamond"/>
                <a:ea typeface="EB Garamond"/>
                <a:cs typeface="EB Garamond"/>
                <a:sym typeface="EB Garamond"/>
              </a:rPr>
              <a:t>: “N. Cage influye en la producción de agua”</a:t>
            </a:r>
            <a:endParaRPr>
              <a:latin typeface="EB Garamond"/>
              <a:ea typeface="EB Garamond"/>
              <a:cs typeface="EB Garamond"/>
              <a:sym typeface="EB Garamond"/>
            </a:endParaRPr>
          </a:p>
          <a:p>
            <a:pPr marL="457200" lvl="0" indent="-342900" algn="l" rtl="0">
              <a:spcBef>
                <a:spcPts val="0"/>
              </a:spcBef>
              <a:spcAft>
                <a:spcPts val="0"/>
              </a:spcAft>
              <a:buSzPts val="1800"/>
              <a:buFont typeface="EB Garamond"/>
              <a:buAutoNum type="arabicPeriod"/>
            </a:pPr>
            <a:r>
              <a:rPr lang="es">
                <a:solidFill>
                  <a:schemeClr val="lt2"/>
                </a:solidFill>
                <a:highlight>
                  <a:srgbClr val="156C77"/>
                </a:highlight>
                <a:latin typeface="EB Garamond"/>
                <a:ea typeface="EB Garamond"/>
                <a:cs typeface="EB Garamond"/>
                <a:sym typeface="EB Garamond"/>
              </a:rPr>
              <a:t>Observable y medible</a:t>
            </a:r>
            <a:r>
              <a:rPr lang="es">
                <a:latin typeface="EB Garamond"/>
                <a:ea typeface="EB Garamond"/>
                <a:cs typeface="EB Garamond"/>
                <a:sym typeface="EB Garamond"/>
              </a:rPr>
              <a:t>: “La pandemia aumentó la fuerza espiritual”</a:t>
            </a:r>
            <a:endParaRPr>
              <a:latin typeface="EB Garamond"/>
              <a:ea typeface="EB Garamond"/>
              <a:cs typeface="EB Garamond"/>
              <a:sym typeface="EB Garamond"/>
            </a:endParaRPr>
          </a:p>
          <a:p>
            <a:pPr marL="457200" lvl="0" indent="-342900" algn="l" rtl="0">
              <a:spcBef>
                <a:spcPts val="0"/>
              </a:spcBef>
              <a:spcAft>
                <a:spcPts val="0"/>
              </a:spcAft>
              <a:buSzPts val="1800"/>
              <a:buFont typeface="EB Garamond"/>
              <a:buAutoNum type="arabicPeriod"/>
            </a:pPr>
            <a:r>
              <a:rPr lang="es">
                <a:solidFill>
                  <a:schemeClr val="lt2"/>
                </a:solidFill>
                <a:highlight>
                  <a:srgbClr val="156C77"/>
                </a:highlight>
                <a:latin typeface="EB Garamond"/>
                <a:ea typeface="EB Garamond"/>
                <a:cs typeface="EB Garamond"/>
                <a:sym typeface="EB Garamond"/>
              </a:rPr>
              <a:t>Condiciones disponibles</a:t>
            </a:r>
            <a:r>
              <a:rPr lang="es">
                <a:latin typeface="EB Garamond"/>
                <a:ea typeface="EB Garamond"/>
                <a:cs typeface="EB Garamond"/>
                <a:sym typeface="EB Garamond"/>
              </a:rPr>
              <a:t> para probarlas: técnicas o herramientas.</a:t>
            </a:r>
            <a:endParaRPr>
              <a:latin typeface="EB Garamond"/>
              <a:ea typeface="EB Garamond"/>
              <a:cs typeface="EB Garamond"/>
              <a:sym typeface="EB Garamond"/>
            </a:endParaRPr>
          </a:p>
        </p:txBody>
      </p:sp>
      <p:sp>
        <p:nvSpPr>
          <p:cNvPr id="316" name="Google Shape;316;p3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s"/>
              <a:t>20</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3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a:latin typeface="EB Garamond"/>
                <a:ea typeface="EB Garamond"/>
                <a:cs typeface="EB Garamond"/>
                <a:sym typeface="EB Garamond"/>
              </a:rPr>
              <a:t>Ejercicio</a:t>
            </a:r>
            <a:endParaRPr>
              <a:latin typeface="EB Garamond"/>
              <a:ea typeface="EB Garamond"/>
              <a:cs typeface="EB Garamond"/>
              <a:sym typeface="EB Garamond"/>
            </a:endParaRPr>
          </a:p>
        </p:txBody>
      </p:sp>
      <p:sp>
        <p:nvSpPr>
          <p:cNvPr id="322" name="Google Shape;322;p3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s"/>
              <a:t>21</a:t>
            </a:fld>
            <a:endParaRPr/>
          </a:p>
        </p:txBody>
      </p:sp>
      <p:pic>
        <p:nvPicPr>
          <p:cNvPr id="323" name="Google Shape;323;p33" descr="Imagen que contiene Escala de tiempo&#10;&#10;Descripción generada automáticamente"/>
          <p:cNvPicPr preferRelativeResize="0"/>
          <p:nvPr/>
        </p:nvPicPr>
        <p:blipFill rotWithShape="1">
          <a:blip r:embed="rId3">
            <a:alphaModFix/>
          </a:blip>
          <a:srcRect/>
          <a:stretch/>
        </p:blipFill>
        <p:spPr>
          <a:xfrm>
            <a:off x="1450899" y="1017725"/>
            <a:ext cx="6242224" cy="3893075"/>
          </a:xfrm>
          <a:prstGeom prst="rect">
            <a:avLst/>
          </a:prstGeom>
          <a:noFill/>
          <a:ln>
            <a:noFill/>
          </a:ln>
        </p:spPr>
      </p:pic>
      <p:sp>
        <p:nvSpPr>
          <p:cNvPr id="324" name="Google Shape;324;p33"/>
          <p:cNvSpPr/>
          <p:nvPr/>
        </p:nvSpPr>
        <p:spPr>
          <a:xfrm>
            <a:off x="3868075" y="1670275"/>
            <a:ext cx="3390600" cy="2543100"/>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rgbClr val="FFFFFF"/>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sp>
        <p:nvSpPr>
          <p:cNvPr id="329" name="Google Shape;329;p3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Clr>
                <a:schemeClr val="dk1"/>
              </a:buClr>
              <a:buSzPct val="39285"/>
              <a:buFont typeface="Arial"/>
              <a:buNone/>
            </a:pPr>
            <a:r>
              <a:rPr lang="es">
                <a:latin typeface="EB Garamond"/>
                <a:ea typeface="EB Garamond"/>
                <a:cs typeface="EB Garamond"/>
                <a:sym typeface="EB Garamond"/>
              </a:rPr>
              <a:t>Ejercicio</a:t>
            </a:r>
            <a:endParaRPr b="1">
              <a:latin typeface="EB Garamond"/>
              <a:ea typeface="EB Garamond"/>
              <a:cs typeface="EB Garamond"/>
              <a:sym typeface="EB Garamond"/>
            </a:endParaRPr>
          </a:p>
        </p:txBody>
      </p:sp>
      <p:sp>
        <p:nvSpPr>
          <p:cNvPr id="330" name="Google Shape;330;p3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s"/>
              <a:t>22</a:t>
            </a:fld>
            <a:endParaRPr/>
          </a:p>
        </p:txBody>
      </p:sp>
      <p:pic>
        <p:nvPicPr>
          <p:cNvPr id="331" name="Google Shape;331;p34" descr="Imagen que contiene Escala de tiempo&#10;&#10;Descripción generada automáticamente"/>
          <p:cNvPicPr preferRelativeResize="0"/>
          <p:nvPr/>
        </p:nvPicPr>
        <p:blipFill rotWithShape="1">
          <a:blip r:embed="rId3">
            <a:alphaModFix/>
          </a:blip>
          <a:srcRect/>
          <a:stretch/>
        </p:blipFill>
        <p:spPr>
          <a:xfrm>
            <a:off x="1450899" y="1017725"/>
            <a:ext cx="6242224" cy="3893075"/>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35"/>
        <p:cNvGrpSpPr/>
        <p:nvPr/>
      </p:nvGrpSpPr>
      <p:grpSpPr>
        <a:xfrm>
          <a:off x="0" y="0"/>
          <a:ext cx="0" cy="0"/>
          <a:chOff x="0" y="0"/>
          <a:chExt cx="0" cy="0"/>
        </a:xfrm>
      </p:grpSpPr>
      <p:sp>
        <p:nvSpPr>
          <p:cNvPr id="336" name="Google Shape;336;p3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Clr>
                <a:schemeClr val="dk1"/>
              </a:buClr>
              <a:buSzPct val="39285"/>
              <a:buFont typeface="Arial"/>
              <a:buNone/>
            </a:pPr>
            <a:r>
              <a:rPr lang="es">
                <a:latin typeface="EB Garamond"/>
                <a:ea typeface="EB Garamond"/>
                <a:cs typeface="EB Garamond"/>
                <a:sym typeface="EB Garamond"/>
              </a:rPr>
              <a:t>Ejercicio</a:t>
            </a:r>
            <a:endParaRPr b="1">
              <a:latin typeface="EB Garamond"/>
              <a:ea typeface="EB Garamond"/>
              <a:cs typeface="EB Garamond"/>
              <a:sym typeface="EB Garamond"/>
            </a:endParaRPr>
          </a:p>
        </p:txBody>
      </p:sp>
      <p:sp>
        <p:nvSpPr>
          <p:cNvPr id="337" name="Google Shape;337;p3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s"/>
              <a:t>23</a:t>
            </a:fld>
            <a:endParaRPr/>
          </a:p>
        </p:txBody>
      </p:sp>
      <p:pic>
        <p:nvPicPr>
          <p:cNvPr id="338" name="Google Shape;338;p35" descr="Gráfico, Gráfico de barras&#10;&#10;Descripción generada automáticamente"/>
          <p:cNvPicPr preferRelativeResize="0"/>
          <p:nvPr/>
        </p:nvPicPr>
        <p:blipFill rotWithShape="1">
          <a:blip r:embed="rId3">
            <a:alphaModFix/>
          </a:blip>
          <a:srcRect/>
          <a:stretch/>
        </p:blipFill>
        <p:spPr>
          <a:xfrm>
            <a:off x="1970000" y="976276"/>
            <a:ext cx="5204024" cy="3794150"/>
          </a:xfrm>
          <a:prstGeom prst="rect">
            <a:avLst/>
          </a:prstGeom>
          <a:noFill/>
          <a:ln>
            <a:noFill/>
          </a:ln>
        </p:spPr>
      </p:pic>
      <p:sp>
        <p:nvSpPr>
          <p:cNvPr id="339" name="Google Shape;339;p35"/>
          <p:cNvSpPr/>
          <p:nvPr/>
        </p:nvSpPr>
        <p:spPr>
          <a:xfrm>
            <a:off x="3987925" y="1601800"/>
            <a:ext cx="3390600" cy="2543100"/>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rgbClr val="FFFFFF"/>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sp>
        <p:nvSpPr>
          <p:cNvPr id="344" name="Google Shape;344;p3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Clr>
                <a:schemeClr val="dk1"/>
              </a:buClr>
              <a:buSzPct val="39285"/>
              <a:buFont typeface="Arial"/>
              <a:buNone/>
            </a:pPr>
            <a:r>
              <a:rPr lang="es">
                <a:latin typeface="EB Garamond"/>
                <a:ea typeface="EB Garamond"/>
                <a:cs typeface="EB Garamond"/>
                <a:sym typeface="EB Garamond"/>
              </a:rPr>
              <a:t>Ejercicio</a:t>
            </a:r>
            <a:endParaRPr b="1">
              <a:latin typeface="EB Garamond"/>
              <a:ea typeface="EB Garamond"/>
              <a:cs typeface="EB Garamond"/>
              <a:sym typeface="EB Garamond"/>
            </a:endParaRPr>
          </a:p>
        </p:txBody>
      </p:sp>
      <p:sp>
        <p:nvSpPr>
          <p:cNvPr id="345" name="Google Shape;345;p3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s"/>
              <a:t>24</a:t>
            </a:fld>
            <a:endParaRPr/>
          </a:p>
        </p:txBody>
      </p:sp>
      <p:pic>
        <p:nvPicPr>
          <p:cNvPr id="346" name="Google Shape;346;p36" descr="Gráfico, Gráfico de barras&#10;&#10;Descripción generada automáticamente"/>
          <p:cNvPicPr preferRelativeResize="0"/>
          <p:nvPr/>
        </p:nvPicPr>
        <p:blipFill rotWithShape="1">
          <a:blip r:embed="rId3">
            <a:alphaModFix/>
          </a:blip>
          <a:srcRect/>
          <a:stretch/>
        </p:blipFill>
        <p:spPr>
          <a:xfrm>
            <a:off x="1970000" y="976276"/>
            <a:ext cx="5204024" cy="379415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0"/>
        <p:cNvGrpSpPr/>
        <p:nvPr/>
      </p:nvGrpSpPr>
      <p:grpSpPr>
        <a:xfrm>
          <a:off x="0" y="0"/>
          <a:ext cx="0" cy="0"/>
          <a:chOff x="0" y="0"/>
          <a:chExt cx="0" cy="0"/>
        </a:xfrm>
      </p:grpSpPr>
      <p:sp>
        <p:nvSpPr>
          <p:cNvPr id="351" name="Google Shape;351;p3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a:latin typeface="EB Garamond"/>
                <a:ea typeface="EB Garamond"/>
                <a:cs typeface="EB Garamond"/>
                <a:sym typeface="EB Garamond"/>
              </a:rPr>
              <a:t>¿Qué dice el estudio?</a:t>
            </a:r>
            <a:endParaRPr>
              <a:latin typeface="EB Garamond"/>
              <a:ea typeface="EB Garamond"/>
              <a:cs typeface="EB Garamond"/>
              <a:sym typeface="EB Garamond"/>
            </a:endParaRPr>
          </a:p>
        </p:txBody>
      </p:sp>
      <p:sp>
        <p:nvSpPr>
          <p:cNvPr id="352" name="Google Shape;352;p37"/>
          <p:cNvSpPr txBox="1">
            <a:spLocks noGrp="1"/>
          </p:cNvSpPr>
          <p:nvPr>
            <p:ph type="body" idx="1"/>
          </p:nvPr>
        </p:nvSpPr>
        <p:spPr>
          <a:xfrm>
            <a:off x="311700" y="1152475"/>
            <a:ext cx="3781500" cy="3416400"/>
          </a:xfrm>
          <a:prstGeom prst="rect">
            <a:avLst/>
          </a:prstGeom>
        </p:spPr>
        <p:txBody>
          <a:bodyPr spcFirstLastPara="1" wrap="square" lIns="91425" tIns="91425" rIns="91425" bIns="91425" anchor="t" anchorCtr="0">
            <a:normAutofit fontScale="92500" lnSpcReduction="20000"/>
          </a:bodyPr>
          <a:lstStyle/>
          <a:p>
            <a:pPr marL="0" lvl="0" indent="0" algn="l" rtl="0">
              <a:spcBef>
                <a:spcPts val="0"/>
              </a:spcBef>
              <a:spcAft>
                <a:spcPts val="0"/>
              </a:spcAft>
              <a:buClr>
                <a:schemeClr val="dk1"/>
              </a:buClr>
              <a:buSzPct val="61111"/>
              <a:buFont typeface="Arial"/>
              <a:buNone/>
            </a:pPr>
            <a:r>
              <a:rPr lang="es">
                <a:latin typeface="EB Garamond"/>
                <a:ea typeface="EB Garamond"/>
                <a:cs typeface="EB Garamond"/>
                <a:sym typeface="EB Garamond"/>
              </a:rPr>
              <a:t>“Según el documento, la tasa de participación laboral de las mujeres se situó en 46% en 2020, mientras que la de los hombres en 69% (en 2019 alcanzaron un 52% y un 73,6%, respectivamente)2</a:t>
            </a:r>
            <a:endParaRPr>
              <a:latin typeface="EB Garamond"/>
              <a:ea typeface="EB Garamond"/>
              <a:cs typeface="EB Garamond"/>
              <a:sym typeface="EB Garamond"/>
            </a:endParaRPr>
          </a:p>
          <a:p>
            <a:pPr marL="0" lvl="0" indent="0" algn="l" rtl="0">
              <a:spcBef>
                <a:spcPts val="1200"/>
              </a:spcBef>
              <a:spcAft>
                <a:spcPts val="0"/>
              </a:spcAft>
              <a:buClr>
                <a:schemeClr val="dk1"/>
              </a:buClr>
              <a:buSzPct val="61111"/>
              <a:buFont typeface="Arial"/>
              <a:buNone/>
            </a:pPr>
            <a:endParaRPr>
              <a:latin typeface="EB Garamond"/>
              <a:ea typeface="EB Garamond"/>
              <a:cs typeface="EB Garamond"/>
              <a:sym typeface="EB Garamond"/>
            </a:endParaRPr>
          </a:p>
          <a:p>
            <a:pPr marL="0" lvl="0" indent="0" algn="l" rtl="0">
              <a:spcBef>
                <a:spcPts val="1200"/>
              </a:spcBef>
              <a:spcAft>
                <a:spcPts val="1200"/>
              </a:spcAft>
              <a:buNone/>
            </a:pPr>
            <a:r>
              <a:rPr lang="es">
                <a:latin typeface="EB Garamond"/>
                <a:ea typeface="EB Garamond"/>
                <a:cs typeface="EB Garamond"/>
                <a:sym typeface="EB Garamond"/>
              </a:rPr>
              <a:t>“En 2020, explica el estudio, se registró una contundente salida de mujeres de la fuerza laboral, quienes, por tener que atender las demandas de cuidados en sus hogares, no retomaron la búsqueda de empleo.”</a:t>
            </a:r>
            <a:endParaRPr>
              <a:latin typeface="EB Garamond"/>
              <a:ea typeface="EB Garamond"/>
              <a:cs typeface="EB Garamond"/>
              <a:sym typeface="EB Garamond"/>
            </a:endParaRPr>
          </a:p>
        </p:txBody>
      </p:sp>
      <p:sp>
        <p:nvSpPr>
          <p:cNvPr id="353" name="Google Shape;353;p3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s"/>
              <a:t>25</a:t>
            </a:fld>
            <a:endParaRPr/>
          </a:p>
        </p:txBody>
      </p:sp>
      <p:pic>
        <p:nvPicPr>
          <p:cNvPr id="354" name="Google Shape;354;p37" descr="Interfaz de usuario gráfica, Texto, Aplicación, Correo electrónico&#10;&#10;Descripción generada automáticamente"/>
          <p:cNvPicPr preferRelativeResize="0"/>
          <p:nvPr/>
        </p:nvPicPr>
        <p:blipFill rotWithShape="1">
          <a:blip r:embed="rId3">
            <a:alphaModFix/>
          </a:blip>
          <a:srcRect/>
          <a:stretch/>
        </p:blipFill>
        <p:spPr>
          <a:xfrm>
            <a:off x="4093315" y="0"/>
            <a:ext cx="5050686" cy="5143501"/>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58"/>
        <p:cNvGrpSpPr/>
        <p:nvPr/>
      </p:nvGrpSpPr>
      <p:grpSpPr>
        <a:xfrm>
          <a:off x="0" y="0"/>
          <a:ext cx="0" cy="0"/>
          <a:chOff x="0" y="0"/>
          <a:chExt cx="0" cy="0"/>
        </a:xfrm>
      </p:grpSpPr>
      <p:sp>
        <p:nvSpPr>
          <p:cNvPr id="359" name="Google Shape;359;p3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b="1">
                <a:latin typeface="EB Garamond"/>
                <a:ea typeface="EB Garamond"/>
                <a:cs typeface="EB Garamond"/>
                <a:sym typeface="EB Garamond"/>
              </a:rPr>
              <a:t>Estructura de hipótesis</a:t>
            </a:r>
            <a:endParaRPr b="1">
              <a:latin typeface="EB Garamond"/>
              <a:ea typeface="EB Garamond"/>
              <a:cs typeface="EB Garamond"/>
              <a:sym typeface="EB Garamond"/>
            </a:endParaRPr>
          </a:p>
        </p:txBody>
      </p:sp>
      <p:sp>
        <p:nvSpPr>
          <p:cNvPr id="360" name="Google Shape;360;p38"/>
          <p:cNvSpPr txBox="1">
            <a:spLocks noGrp="1"/>
          </p:cNvSpPr>
          <p:nvPr>
            <p:ph type="body" idx="1"/>
          </p:nvPr>
        </p:nvSpPr>
        <p:spPr>
          <a:xfrm>
            <a:off x="311700" y="1152475"/>
            <a:ext cx="8520600" cy="1580700"/>
          </a:xfrm>
          <a:prstGeom prst="rect">
            <a:avLst/>
          </a:prstGeom>
        </p:spPr>
        <p:txBody>
          <a:bodyPr spcFirstLastPara="1" wrap="square" lIns="91425" tIns="91425" rIns="91425" bIns="91425" anchor="t" anchorCtr="0">
            <a:normAutofit fontScale="62500" lnSpcReduction="20000"/>
          </a:bodyPr>
          <a:lstStyle/>
          <a:p>
            <a:pPr marL="0" lvl="0" indent="0" algn="l" rtl="0">
              <a:spcBef>
                <a:spcPts val="0"/>
              </a:spcBef>
              <a:spcAft>
                <a:spcPts val="0"/>
              </a:spcAft>
              <a:buClr>
                <a:schemeClr val="dk1"/>
              </a:buClr>
              <a:buSzPct val="61111"/>
              <a:buFont typeface="Arial"/>
              <a:buNone/>
            </a:pPr>
            <a:r>
              <a:rPr lang="es">
                <a:latin typeface="EB Garamond"/>
                <a:ea typeface="EB Garamond"/>
                <a:cs typeface="EB Garamond"/>
                <a:sym typeface="EB Garamond"/>
              </a:rPr>
              <a:t>Ejemplo:</a:t>
            </a:r>
            <a:endParaRPr>
              <a:latin typeface="EB Garamond"/>
              <a:ea typeface="EB Garamond"/>
              <a:cs typeface="EB Garamond"/>
              <a:sym typeface="EB Garamond"/>
            </a:endParaRPr>
          </a:p>
          <a:p>
            <a:pPr marL="0" lvl="0" indent="0" algn="l" rtl="0">
              <a:spcBef>
                <a:spcPts val="1200"/>
              </a:spcBef>
              <a:spcAft>
                <a:spcPts val="0"/>
              </a:spcAft>
              <a:buClr>
                <a:schemeClr val="dk1"/>
              </a:buClr>
              <a:buSzPct val="61111"/>
              <a:buFont typeface="Arial"/>
              <a:buNone/>
            </a:pPr>
            <a:r>
              <a:rPr lang="es" b="1">
                <a:latin typeface="EB Garamond"/>
                <a:ea typeface="EB Garamond"/>
                <a:cs typeface="EB Garamond"/>
                <a:sym typeface="EB Garamond"/>
              </a:rPr>
              <a:t>Pregunta</a:t>
            </a:r>
            <a:r>
              <a:rPr lang="es">
                <a:latin typeface="EB Garamond"/>
                <a:ea typeface="EB Garamond"/>
                <a:cs typeface="EB Garamond"/>
                <a:sym typeface="EB Garamond"/>
              </a:rPr>
              <a:t>: ¿Cuál es el efecto de la pandemia en la la participación laboral de mujeres?</a:t>
            </a:r>
            <a:endParaRPr>
              <a:latin typeface="EB Garamond"/>
              <a:ea typeface="EB Garamond"/>
              <a:cs typeface="EB Garamond"/>
              <a:sym typeface="EB Garamond"/>
            </a:endParaRPr>
          </a:p>
          <a:p>
            <a:pPr marL="0" lvl="0" indent="0" algn="l" rtl="0">
              <a:spcBef>
                <a:spcPts val="1200"/>
              </a:spcBef>
              <a:spcAft>
                <a:spcPts val="0"/>
              </a:spcAft>
              <a:buClr>
                <a:schemeClr val="dk1"/>
              </a:buClr>
              <a:buSzPct val="61111"/>
              <a:buFont typeface="Arial"/>
              <a:buNone/>
            </a:pPr>
            <a:r>
              <a:rPr lang="es" b="1">
                <a:latin typeface="EB Garamond"/>
                <a:ea typeface="EB Garamond"/>
                <a:cs typeface="EB Garamond"/>
                <a:sym typeface="EB Garamond"/>
              </a:rPr>
              <a:t>Objetivo</a:t>
            </a:r>
            <a:r>
              <a:rPr lang="es">
                <a:latin typeface="EB Garamond"/>
                <a:ea typeface="EB Garamond"/>
                <a:cs typeface="EB Garamond"/>
                <a:sym typeface="EB Garamond"/>
              </a:rPr>
              <a:t>: Determinar el efecto de la pandemia en la participación laboral de mujeres, que residen en la región metropolitana, entre el año 2019 y 2020.</a:t>
            </a:r>
            <a:endParaRPr>
              <a:latin typeface="EB Garamond"/>
              <a:ea typeface="EB Garamond"/>
              <a:cs typeface="EB Garamond"/>
              <a:sym typeface="EB Garamond"/>
            </a:endParaRPr>
          </a:p>
          <a:p>
            <a:pPr marL="0" lvl="0" indent="0" algn="l" rtl="0">
              <a:spcBef>
                <a:spcPts val="1200"/>
              </a:spcBef>
              <a:spcAft>
                <a:spcPts val="1200"/>
              </a:spcAft>
              <a:buNone/>
            </a:pPr>
            <a:r>
              <a:rPr lang="es" b="1">
                <a:latin typeface="EB Garamond"/>
                <a:ea typeface="EB Garamond"/>
                <a:cs typeface="EB Garamond"/>
                <a:sym typeface="EB Garamond"/>
              </a:rPr>
              <a:t>Hipótesis</a:t>
            </a:r>
            <a:r>
              <a:rPr lang="es">
                <a:latin typeface="EB Garamond"/>
                <a:ea typeface="EB Garamond"/>
                <a:cs typeface="EB Garamond"/>
                <a:sym typeface="EB Garamond"/>
              </a:rPr>
              <a:t>: El contexto de pandemia ha afectado negativamente la participación laboral de mujeres</a:t>
            </a:r>
            <a:endParaRPr>
              <a:latin typeface="EB Garamond"/>
              <a:ea typeface="EB Garamond"/>
              <a:cs typeface="EB Garamond"/>
              <a:sym typeface="EB Garamond"/>
            </a:endParaRPr>
          </a:p>
        </p:txBody>
      </p:sp>
      <p:sp>
        <p:nvSpPr>
          <p:cNvPr id="361" name="Google Shape;361;p3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s"/>
              <a:t>26</a:t>
            </a:fld>
            <a:endParaRPr/>
          </a:p>
        </p:txBody>
      </p:sp>
      <p:sp>
        <p:nvSpPr>
          <p:cNvPr id="362" name="Google Shape;362;p38"/>
          <p:cNvSpPr/>
          <p:nvPr/>
        </p:nvSpPr>
        <p:spPr>
          <a:xfrm>
            <a:off x="1439333" y="3251200"/>
            <a:ext cx="2446800" cy="516600"/>
          </a:xfrm>
          <a:prstGeom prst="roundRect">
            <a:avLst>
              <a:gd name="adj" fmla="val 16667"/>
            </a:avLst>
          </a:prstGeom>
          <a:solidFill>
            <a:srgbClr val="FFC000"/>
          </a:solidFill>
          <a:ln w="12700" cap="flat" cmpd="sng">
            <a:solidFill>
              <a:srgbClr val="BA8C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s" sz="1800">
                <a:solidFill>
                  <a:schemeClr val="dk2"/>
                </a:solidFill>
                <a:latin typeface="EB Garamond"/>
                <a:ea typeface="EB Garamond"/>
                <a:cs typeface="EB Garamond"/>
                <a:sym typeface="EB Garamond"/>
              </a:rPr>
              <a:t>Variable 1</a:t>
            </a:r>
            <a:endParaRPr>
              <a:solidFill>
                <a:schemeClr val="dk2"/>
              </a:solidFill>
              <a:latin typeface="EB Garamond"/>
              <a:ea typeface="EB Garamond"/>
              <a:cs typeface="EB Garamond"/>
              <a:sym typeface="EB Garamond"/>
            </a:endParaRPr>
          </a:p>
        </p:txBody>
      </p:sp>
      <p:sp>
        <p:nvSpPr>
          <p:cNvPr id="363" name="Google Shape;363;p38"/>
          <p:cNvSpPr/>
          <p:nvPr/>
        </p:nvSpPr>
        <p:spPr>
          <a:xfrm>
            <a:off x="5359400" y="3251200"/>
            <a:ext cx="2446800" cy="516600"/>
          </a:xfrm>
          <a:prstGeom prst="roundRect">
            <a:avLst>
              <a:gd name="adj" fmla="val 16667"/>
            </a:avLst>
          </a:prstGeom>
          <a:solidFill>
            <a:srgbClr val="FFC000"/>
          </a:solidFill>
          <a:ln w="12700" cap="flat" cmpd="sng">
            <a:solidFill>
              <a:srgbClr val="BA8C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s" sz="1800">
                <a:solidFill>
                  <a:schemeClr val="dk2"/>
                </a:solidFill>
                <a:latin typeface="EB Garamond"/>
                <a:ea typeface="EB Garamond"/>
                <a:cs typeface="EB Garamond"/>
                <a:sym typeface="EB Garamond"/>
              </a:rPr>
              <a:t>Variable 2</a:t>
            </a:r>
            <a:endParaRPr>
              <a:solidFill>
                <a:schemeClr val="dk2"/>
              </a:solidFill>
              <a:latin typeface="EB Garamond"/>
              <a:ea typeface="EB Garamond"/>
              <a:cs typeface="EB Garamond"/>
              <a:sym typeface="EB Garamond"/>
            </a:endParaRPr>
          </a:p>
        </p:txBody>
      </p:sp>
      <p:sp>
        <p:nvSpPr>
          <p:cNvPr id="364" name="Google Shape;364;p38"/>
          <p:cNvSpPr/>
          <p:nvPr/>
        </p:nvSpPr>
        <p:spPr>
          <a:xfrm>
            <a:off x="3487956" y="4248112"/>
            <a:ext cx="2446800" cy="516600"/>
          </a:xfrm>
          <a:prstGeom prst="roundRect">
            <a:avLst>
              <a:gd name="adj" fmla="val 16667"/>
            </a:avLst>
          </a:prstGeom>
          <a:solidFill>
            <a:srgbClr val="FFC000"/>
          </a:solidFill>
          <a:ln w="12700" cap="flat" cmpd="sng">
            <a:solidFill>
              <a:srgbClr val="BA8C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s" sz="1800">
                <a:solidFill>
                  <a:schemeClr val="dk2"/>
                </a:solidFill>
                <a:latin typeface="EB Garamond"/>
                <a:ea typeface="EB Garamond"/>
                <a:cs typeface="EB Garamond"/>
                <a:sym typeface="EB Garamond"/>
              </a:rPr>
              <a:t>Variable 3</a:t>
            </a:r>
            <a:endParaRPr>
              <a:solidFill>
                <a:schemeClr val="dk2"/>
              </a:solidFill>
              <a:latin typeface="EB Garamond"/>
              <a:ea typeface="EB Garamond"/>
              <a:cs typeface="EB Garamond"/>
              <a:sym typeface="EB Garamond"/>
            </a:endParaRPr>
          </a:p>
        </p:txBody>
      </p:sp>
      <p:cxnSp>
        <p:nvCxnSpPr>
          <p:cNvPr id="365" name="Google Shape;365;p38"/>
          <p:cNvCxnSpPr>
            <a:stCxn id="362" idx="3"/>
            <a:endCxn id="363" idx="1"/>
          </p:cNvCxnSpPr>
          <p:nvPr/>
        </p:nvCxnSpPr>
        <p:spPr>
          <a:xfrm>
            <a:off x="3886133" y="3509500"/>
            <a:ext cx="1473300" cy="0"/>
          </a:xfrm>
          <a:prstGeom prst="straightConnector1">
            <a:avLst/>
          </a:prstGeom>
          <a:noFill/>
          <a:ln w="38100" cap="flat" cmpd="sng">
            <a:solidFill>
              <a:srgbClr val="000000"/>
            </a:solidFill>
            <a:prstDash val="dash"/>
            <a:miter lim="800000"/>
            <a:headEnd type="none" w="sm" len="sm"/>
            <a:tailEnd type="triangle" w="med" len="med"/>
          </a:ln>
        </p:spPr>
      </p:cxnSp>
      <p:sp>
        <p:nvSpPr>
          <p:cNvPr id="366" name="Google Shape;366;p38"/>
          <p:cNvSpPr txBox="1"/>
          <p:nvPr/>
        </p:nvSpPr>
        <p:spPr>
          <a:xfrm>
            <a:off x="4271276" y="2955427"/>
            <a:ext cx="601500" cy="354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 sz="1700">
                <a:solidFill>
                  <a:schemeClr val="dk2"/>
                </a:solidFill>
                <a:latin typeface="EB Garamond"/>
                <a:ea typeface="EB Garamond"/>
                <a:cs typeface="EB Garamond"/>
                <a:sym typeface="EB Garamond"/>
              </a:rPr>
              <a:t>(+/-)</a:t>
            </a:r>
            <a:endParaRPr sz="1300">
              <a:solidFill>
                <a:schemeClr val="dk2"/>
              </a:solidFill>
              <a:latin typeface="EB Garamond"/>
              <a:ea typeface="EB Garamond"/>
              <a:cs typeface="EB Garamond"/>
              <a:sym typeface="EB Garamond"/>
            </a:endParaRPr>
          </a:p>
        </p:txBody>
      </p:sp>
      <p:cxnSp>
        <p:nvCxnSpPr>
          <p:cNvPr id="367" name="Google Shape;367;p38"/>
          <p:cNvCxnSpPr>
            <a:stCxn id="364" idx="0"/>
          </p:cNvCxnSpPr>
          <p:nvPr/>
        </p:nvCxnSpPr>
        <p:spPr>
          <a:xfrm rot="10800000">
            <a:off x="4711356" y="3694012"/>
            <a:ext cx="0" cy="554100"/>
          </a:xfrm>
          <a:prstGeom prst="straightConnector1">
            <a:avLst/>
          </a:prstGeom>
          <a:noFill/>
          <a:ln w="38100" cap="flat" cmpd="sng">
            <a:solidFill>
              <a:srgbClr val="000000"/>
            </a:solidFill>
            <a:prstDash val="dash"/>
            <a:miter lim="800000"/>
            <a:headEnd type="none" w="sm" len="sm"/>
            <a:tailEnd type="triangle" w="med" len="med"/>
          </a:ln>
        </p:spPr>
      </p:cxnSp>
      <p:sp>
        <p:nvSpPr>
          <p:cNvPr id="368" name="Google Shape;368;p38"/>
          <p:cNvSpPr txBox="1"/>
          <p:nvPr/>
        </p:nvSpPr>
        <p:spPr>
          <a:xfrm>
            <a:off x="4740788" y="3805214"/>
            <a:ext cx="601500" cy="354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 sz="1700">
                <a:solidFill>
                  <a:schemeClr val="dk2"/>
                </a:solidFill>
                <a:latin typeface="EB Garamond"/>
                <a:ea typeface="EB Garamond"/>
                <a:cs typeface="EB Garamond"/>
                <a:sym typeface="EB Garamond"/>
              </a:rPr>
              <a:t>(+/-)</a:t>
            </a:r>
            <a:endParaRPr sz="1300">
              <a:solidFill>
                <a:schemeClr val="dk2"/>
              </a:solidFill>
              <a:latin typeface="EB Garamond"/>
              <a:ea typeface="EB Garamond"/>
              <a:cs typeface="EB Garamond"/>
              <a:sym typeface="EB Garamond"/>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72"/>
        <p:cNvGrpSpPr/>
        <p:nvPr/>
      </p:nvGrpSpPr>
      <p:grpSpPr>
        <a:xfrm>
          <a:off x="0" y="0"/>
          <a:ext cx="0" cy="0"/>
          <a:chOff x="0" y="0"/>
          <a:chExt cx="0" cy="0"/>
        </a:xfrm>
      </p:grpSpPr>
      <p:sp>
        <p:nvSpPr>
          <p:cNvPr id="373" name="Google Shape;373;p3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b="1">
                <a:latin typeface="EB Garamond"/>
                <a:ea typeface="EB Garamond"/>
                <a:cs typeface="EB Garamond"/>
                <a:sym typeface="EB Garamond"/>
              </a:rPr>
              <a:t>Otro ejemplo</a:t>
            </a:r>
            <a:endParaRPr b="1">
              <a:latin typeface="EB Garamond"/>
              <a:ea typeface="EB Garamond"/>
              <a:cs typeface="EB Garamond"/>
              <a:sym typeface="EB Garamond"/>
            </a:endParaRPr>
          </a:p>
        </p:txBody>
      </p:sp>
      <p:sp>
        <p:nvSpPr>
          <p:cNvPr id="374" name="Google Shape;374;p39"/>
          <p:cNvSpPr txBox="1">
            <a:spLocks noGrp="1"/>
          </p:cNvSpPr>
          <p:nvPr>
            <p:ph type="body" idx="1"/>
          </p:nvPr>
        </p:nvSpPr>
        <p:spPr>
          <a:xfrm>
            <a:off x="311700" y="1152475"/>
            <a:ext cx="8520600" cy="3562500"/>
          </a:xfrm>
          <a:prstGeom prst="rect">
            <a:avLst/>
          </a:prstGeom>
        </p:spPr>
        <p:txBody>
          <a:bodyPr spcFirstLastPara="1" wrap="square" lIns="91425" tIns="91425" rIns="91425" bIns="91425" anchor="t" anchorCtr="0">
            <a:normAutofit fontScale="70000" lnSpcReduction="20000"/>
          </a:bodyPr>
          <a:lstStyle/>
          <a:p>
            <a:pPr marL="0" lvl="0" indent="0" algn="l" rtl="0">
              <a:spcBef>
                <a:spcPts val="0"/>
              </a:spcBef>
              <a:spcAft>
                <a:spcPts val="0"/>
              </a:spcAft>
              <a:buNone/>
            </a:pPr>
            <a:r>
              <a:rPr lang="es" b="1">
                <a:latin typeface="EB Garamond"/>
                <a:ea typeface="EB Garamond"/>
                <a:cs typeface="EB Garamond"/>
                <a:sym typeface="EB Garamond"/>
              </a:rPr>
              <a:t>EL EFECTO DE LA MATERNIDAD EN EL SALARIO FEMENINO EN CHILE, (Emilia Seissus E., 2017)</a:t>
            </a:r>
            <a:endParaRPr b="1">
              <a:latin typeface="EB Garamond"/>
              <a:ea typeface="EB Garamond"/>
              <a:cs typeface="EB Garamond"/>
              <a:sym typeface="EB Garamond"/>
            </a:endParaRPr>
          </a:p>
          <a:p>
            <a:pPr marL="0" lvl="0" indent="0" algn="l" rtl="0">
              <a:spcBef>
                <a:spcPts val="0"/>
              </a:spcBef>
              <a:spcAft>
                <a:spcPts val="0"/>
              </a:spcAft>
              <a:buNone/>
            </a:pPr>
            <a:endParaRPr b="1">
              <a:latin typeface="EB Garamond"/>
              <a:ea typeface="EB Garamond"/>
              <a:cs typeface="EB Garamond"/>
              <a:sym typeface="EB Garamond"/>
            </a:endParaRPr>
          </a:p>
          <a:p>
            <a:pPr marL="0" lvl="0" indent="0" algn="l" rtl="0">
              <a:spcBef>
                <a:spcPts val="0"/>
              </a:spcBef>
              <a:spcAft>
                <a:spcPts val="0"/>
              </a:spcAft>
              <a:buClr>
                <a:schemeClr val="dk1"/>
              </a:buClr>
              <a:buSzPct val="61111"/>
              <a:buFont typeface="Arial"/>
              <a:buNone/>
            </a:pPr>
            <a:r>
              <a:rPr lang="es" b="1">
                <a:latin typeface="EB Garamond"/>
                <a:ea typeface="EB Garamond"/>
                <a:cs typeface="EB Garamond"/>
                <a:sym typeface="EB Garamond"/>
              </a:rPr>
              <a:t>Pregunta de investigación</a:t>
            </a:r>
            <a:endParaRPr b="1">
              <a:latin typeface="EB Garamond"/>
              <a:ea typeface="EB Garamond"/>
              <a:cs typeface="EB Garamond"/>
              <a:sym typeface="EB Garamond"/>
            </a:endParaRPr>
          </a:p>
          <a:p>
            <a:pPr marL="0" lvl="0" indent="0" algn="l" rtl="0">
              <a:spcBef>
                <a:spcPts val="0"/>
              </a:spcBef>
              <a:spcAft>
                <a:spcPts val="0"/>
              </a:spcAft>
              <a:buClr>
                <a:schemeClr val="dk1"/>
              </a:buClr>
              <a:buSzPct val="61111"/>
              <a:buFont typeface="Arial"/>
              <a:buNone/>
            </a:pPr>
            <a:r>
              <a:rPr lang="es">
                <a:latin typeface="EB Garamond"/>
                <a:ea typeface="EB Garamond"/>
                <a:cs typeface="EB Garamond"/>
                <a:sym typeface="EB Garamond"/>
              </a:rPr>
              <a:t>¿Cuál es el efecto de la maternidad sobre los salarios obtenidos por las mujeres trabajadoras en Chile?</a:t>
            </a:r>
            <a:endParaRPr>
              <a:latin typeface="EB Garamond"/>
              <a:ea typeface="EB Garamond"/>
              <a:cs typeface="EB Garamond"/>
              <a:sym typeface="EB Garamond"/>
            </a:endParaRPr>
          </a:p>
          <a:p>
            <a:pPr marL="0" lvl="0" indent="0" algn="l" rtl="0">
              <a:spcBef>
                <a:spcPts val="1200"/>
              </a:spcBef>
              <a:spcAft>
                <a:spcPts val="0"/>
              </a:spcAft>
              <a:buClr>
                <a:schemeClr val="dk1"/>
              </a:buClr>
              <a:buSzPct val="61111"/>
              <a:buFont typeface="Arial"/>
              <a:buNone/>
            </a:pPr>
            <a:r>
              <a:rPr lang="es" b="1">
                <a:latin typeface="EB Garamond"/>
                <a:ea typeface="EB Garamond"/>
                <a:cs typeface="EB Garamond"/>
                <a:sym typeface="EB Garamond"/>
              </a:rPr>
              <a:t>Objetivo general</a:t>
            </a:r>
            <a:endParaRPr b="1">
              <a:latin typeface="EB Garamond"/>
              <a:ea typeface="EB Garamond"/>
              <a:cs typeface="EB Garamond"/>
              <a:sym typeface="EB Garamond"/>
            </a:endParaRPr>
          </a:p>
          <a:p>
            <a:pPr marL="0" lvl="0" indent="0" algn="l" rtl="0">
              <a:spcBef>
                <a:spcPts val="0"/>
              </a:spcBef>
              <a:spcAft>
                <a:spcPts val="0"/>
              </a:spcAft>
              <a:buClr>
                <a:schemeClr val="dk1"/>
              </a:buClr>
              <a:buSzPct val="61111"/>
              <a:buFont typeface="Arial"/>
              <a:buNone/>
            </a:pPr>
            <a:r>
              <a:rPr lang="es">
                <a:latin typeface="EB Garamond"/>
                <a:ea typeface="EB Garamond"/>
                <a:cs typeface="EB Garamond"/>
                <a:sym typeface="EB Garamond"/>
              </a:rPr>
              <a:t>Determinar el efecto de la maternidad sobre los salarios obtenidos por las mujeres trabajadoras en Chile.</a:t>
            </a:r>
            <a:endParaRPr>
              <a:latin typeface="EB Garamond"/>
              <a:ea typeface="EB Garamond"/>
              <a:cs typeface="EB Garamond"/>
              <a:sym typeface="EB Garamond"/>
            </a:endParaRPr>
          </a:p>
          <a:p>
            <a:pPr marL="0" lvl="0" indent="0" algn="l" rtl="0">
              <a:spcBef>
                <a:spcPts val="1200"/>
              </a:spcBef>
              <a:spcAft>
                <a:spcPts val="0"/>
              </a:spcAft>
              <a:buClr>
                <a:schemeClr val="dk1"/>
              </a:buClr>
              <a:buSzPct val="61111"/>
              <a:buFont typeface="Arial"/>
              <a:buNone/>
            </a:pPr>
            <a:r>
              <a:rPr lang="es" b="1">
                <a:latin typeface="EB Garamond"/>
                <a:ea typeface="EB Garamond"/>
                <a:cs typeface="EB Garamond"/>
                <a:sym typeface="EB Garamond"/>
              </a:rPr>
              <a:t>Objetivos específicos</a:t>
            </a:r>
            <a:endParaRPr b="1">
              <a:latin typeface="EB Garamond"/>
              <a:ea typeface="EB Garamond"/>
              <a:cs typeface="EB Garamond"/>
              <a:sym typeface="EB Garamond"/>
            </a:endParaRPr>
          </a:p>
          <a:p>
            <a:pPr marL="457200" lvl="0" indent="-300037" algn="l" rtl="0">
              <a:spcBef>
                <a:spcPts val="0"/>
              </a:spcBef>
              <a:spcAft>
                <a:spcPts val="0"/>
              </a:spcAft>
              <a:buSzPct val="100000"/>
              <a:buFont typeface="EB Garamond"/>
              <a:buAutoNum type="arabicPeriod"/>
            </a:pPr>
            <a:r>
              <a:rPr lang="es">
                <a:latin typeface="EB Garamond"/>
                <a:ea typeface="EB Garamond"/>
                <a:cs typeface="EB Garamond"/>
                <a:sym typeface="EB Garamond"/>
              </a:rPr>
              <a:t>Caracterizar según factores sociodemográficos a las madres trabajadoras en Chile, tanto aquellas que poseen un hijo como las que poseen dos.</a:t>
            </a:r>
            <a:endParaRPr>
              <a:latin typeface="EB Garamond"/>
              <a:ea typeface="EB Garamond"/>
              <a:cs typeface="EB Garamond"/>
              <a:sym typeface="EB Garamond"/>
            </a:endParaRPr>
          </a:p>
          <a:p>
            <a:pPr marL="457200" lvl="0" indent="-300037" algn="l" rtl="0">
              <a:spcBef>
                <a:spcPts val="0"/>
              </a:spcBef>
              <a:spcAft>
                <a:spcPts val="0"/>
              </a:spcAft>
              <a:buSzPct val="100000"/>
              <a:buFont typeface="EB Garamond"/>
              <a:buAutoNum type="arabicPeriod"/>
            </a:pPr>
            <a:r>
              <a:rPr lang="es">
                <a:latin typeface="EB Garamond"/>
                <a:ea typeface="EB Garamond"/>
                <a:cs typeface="EB Garamond"/>
                <a:sym typeface="EB Garamond"/>
              </a:rPr>
              <a:t>Determinar el efecto de tener un hijo (margen extensivo) sobre los salarios de las mujeres trabajadoras en Chile.</a:t>
            </a:r>
            <a:endParaRPr>
              <a:latin typeface="EB Garamond"/>
              <a:ea typeface="EB Garamond"/>
              <a:cs typeface="EB Garamond"/>
              <a:sym typeface="EB Garamond"/>
            </a:endParaRPr>
          </a:p>
          <a:p>
            <a:pPr marL="457200" lvl="0" indent="-300037" algn="l" rtl="0">
              <a:spcBef>
                <a:spcPts val="0"/>
              </a:spcBef>
              <a:spcAft>
                <a:spcPts val="0"/>
              </a:spcAft>
              <a:buSzPct val="100000"/>
              <a:buFont typeface="EB Garamond"/>
              <a:buAutoNum type="arabicPeriod"/>
            </a:pPr>
            <a:r>
              <a:rPr lang="es">
                <a:latin typeface="EB Garamond"/>
                <a:ea typeface="EB Garamond"/>
                <a:cs typeface="EB Garamond"/>
                <a:sym typeface="EB Garamond"/>
              </a:rPr>
              <a:t>Determinar el efecto de tener más de un hijo (margen intensivo) sobre los salarios de las mujeres trabajadoras en Chile.</a:t>
            </a:r>
            <a:endParaRPr>
              <a:latin typeface="EB Garamond"/>
              <a:ea typeface="EB Garamond"/>
              <a:cs typeface="EB Garamond"/>
              <a:sym typeface="EB Garamond"/>
            </a:endParaRPr>
          </a:p>
          <a:p>
            <a:pPr marL="457200" lvl="0" indent="-300037" algn="l" rtl="0">
              <a:spcBef>
                <a:spcPts val="0"/>
              </a:spcBef>
              <a:spcAft>
                <a:spcPts val="0"/>
              </a:spcAft>
              <a:buSzPct val="100000"/>
              <a:buFont typeface="EB Garamond"/>
              <a:buAutoNum type="arabicPeriod"/>
            </a:pPr>
            <a:r>
              <a:rPr lang="es">
                <a:latin typeface="EB Garamond"/>
                <a:ea typeface="EB Garamond"/>
                <a:cs typeface="EB Garamond"/>
                <a:sym typeface="EB Garamond"/>
              </a:rPr>
              <a:t>Analizar las diferencias en el efecto de la maternidad sobre los salarios de las mujeres en el margen extensivo e intensivo en Chile.</a:t>
            </a:r>
            <a:endParaRPr>
              <a:latin typeface="EB Garamond"/>
              <a:ea typeface="EB Garamond"/>
              <a:cs typeface="EB Garamond"/>
              <a:sym typeface="EB Garamond"/>
            </a:endParaRPr>
          </a:p>
          <a:p>
            <a:pPr marL="0" lvl="0" indent="0" algn="l" rtl="0">
              <a:spcBef>
                <a:spcPts val="1200"/>
              </a:spcBef>
              <a:spcAft>
                <a:spcPts val="0"/>
              </a:spcAft>
              <a:buClr>
                <a:schemeClr val="dk1"/>
              </a:buClr>
              <a:buSzPct val="61111"/>
              <a:buFont typeface="Arial"/>
              <a:buNone/>
            </a:pPr>
            <a:r>
              <a:rPr lang="es" b="1">
                <a:latin typeface="EB Garamond"/>
                <a:ea typeface="EB Garamond"/>
                <a:cs typeface="EB Garamond"/>
                <a:sym typeface="EB Garamond"/>
              </a:rPr>
              <a:t>Hipótesis</a:t>
            </a:r>
            <a:endParaRPr b="1">
              <a:latin typeface="EB Garamond"/>
              <a:ea typeface="EB Garamond"/>
              <a:cs typeface="EB Garamond"/>
              <a:sym typeface="EB Garamond"/>
            </a:endParaRPr>
          </a:p>
          <a:p>
            <a:pPr marL="457200" lvl="0" indent="-300037" algn="l" rtl="0">
              <a:spcBef>
                <a:spcPts val="0"/>
              </a:spcBef>
              <a:spcAft>
                <a:spcPts val="0"/>
              </a:spcAft>
              <a:buSzPct val="100000"/>
              <a:buFont typeface="EB Garamond"/>
              <a:buAutoNum type="arabicPeriod"/>
            </a:pPr>
            <a:r>
              <a:rPr lang="es">
                <a:latin typeface="EB Garamond"/>
                <a:ea typeface="EB Garamond"/>
                <a:cs typeface="EB Garamond"/>
                <a:sym typeface="EB Garamond"/>
              </a:rPr>
              <a:t>Tener un hijo disminuirá los salarios obtenidos por las mujeres trabajadoras (margen extensivo), en comparación con el de las mujeres embarazadas sin hijos.</a:t>
            </a:r>
            <a:endParaRPr>
              <a:latin typeface="EB Garamond"/>
              <a:ea typeface="EB Garamond"/>
              <a:cs typeface="EB Garamond"/>
              <a:sym typeface="EB Garamond"/>
            </a:endParaRPr>
          </a:p>
          <a:p>
            <a:pPr marL="457200" lvl="0" indent="-300037" algn="l" rtl="0">
              <a:spcBef>
                <a:spcPts val="0"/>
              </a:spcBef>
              <a:spcAft>
                <a:spcPts val="0"/>
              </a:spcAft>
              <a:buSzPct val="100000"/>
              <a:buFont typeface="EB Garamond"/>
              <a:buAutoNum type="arabicPeriod"/>
            </a:pPr>
            <a:r>
              <a:rPr lang="es">
                <a:latin typeface="EB Garamond"/>
                <a:ea typeface="EB Garamond"/>
                <a:cs typeface="EB Garamond"/>
                <a:sym typeface="EB Garamond"/>
              </a:rPr>
              <a:t>Tener más de un hijo disminuirá los salarios obtenidos por las mujeres trabajadoras (margen intensivo), en comparación con las madres de un hijo.</a:t>
            </a:r>
            <a:endParaRPr>
              <a:latin typeface="EB Garamond"/>
              <a:ea typeface="EB Garamond"/>
              <a:cs typeface="EB Garamond"/>
              <a:sym typeface="EB Garamond"/>
            </a:endParaRPr>
          </a:p>
          <a:p>
            <a:pPr marL="457200" lvl="0" indent="-300037" algn="l" rtl="0">
              <a:spcBef>
                <a:spcPts val="0"/>
              </a:spcBef>
              <a:spcAft>
                <a:spcPts val="0"/>
              </a:spcAft>
              <a:buSzPct val="100000"/>
              <a:buFont typeface="EB Garamond"/>
              <a:buAutoNum type="arabicPeriod"/>
            </a:pPr>
            <a:r>
              <a:rPr lang="es">
                <a:latin typeface="EB Garamond"/>
                <a:ea typeface="EB Garamond"/>
                <a:cs typeface="EB Garamond"/>
                <a:sym typeface="EB Garamond"/>
              </a:rPr>
              <a:t>El efecto de los hijos en el salario de las mujeres trabajadoras será mayor en el margen extensivo que en el intensivo.</a:t>
            </a:r>
            <a:endParaRPr>
              <a:latin typeface="EB Garamond"/>
              <a:ea typeface="EB Garamond"/>
              <a:cs typeface="EB Garamond"/>
              <a:sym typeface="EB Garamond"/>
            </a:endParaRPr>
          </a:p>
        </p:txBody>
      </p:sp>
      <p:sp>
        <p:nvSpPr>
          <p:cNvPr id="375" name="Google Shape;375;p3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s"/>
              <a:t>27</a:t>
            </a:fld>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79"/>
        <p:cNvGrpSpPr/>
        <p:nvPr/>
      </p:nvGrpSpPr>
      <p:grpSpPr>
        <a:xfrm>
          <a:off x="0" y="0"/>
          <a:ext cx="0" cy="0"/>
          <a:chOff x="0" y="0"/>
          <a:chExt cx="0" cy="0"/>
        </a:xfrm>
      </p:grpSpPr>
      <p:sp>
        <p:nvSpPr>
          <p:cNvPr id="380" name="Google Shape;380;p4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s"/>
              <a:t>28</a:t>
            </a:fld>
            <a:endParaRPr/>
          </a:p>
        </p:txBody>
      </p:sp>
      <p:pic>
        <p:nvPicPr>
          <p:cNvPr id="381" name="Google Shape;381;p40" descr="Diagrama&#10;&#10;Descripción generada automáticamente"/>
          <p:cNvPicPr preferRelativeResize="0"/>
          <p:nvPr/>
        </p:nvPicPr>
        <p:blipFill rotWithShape="1">
          <a:blip r:embed="rId3">
            <a:alphaModFix/>
          </a:blip>
          <a:srcRect/>
          <a:stretch/>
        </p:blipFill>
        <p:spPr>
          <a:xfrm>
            <a:off x="1796064" y="315600"/>
            <a:ext cx="5551874" cy="451230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85"/>
        <p:cNvGrpSpPr/>
        <p:nvPr/>
      </p:nvGrpSpPr>
      <p:grpSpPr>
        <a:xfrm>
          <a:off x="0" y="0"/>
          <a:ext cx="0" cy="0"/>
          <a:chOff x="0" y="0"/>
          <a:chExt cx="0" cy="0"/>
        </a:xfrm>
      </p:grpSpPr>
      <p:sp>
        <p:nvSpPr>
          <p:cNvPr id="386" name="Google Shape;386;p41"/>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b="1">
                <a:latin typeface="EB Garamond"/>
                <a:ea typeface="EB Garamond"/>
                <a:cs typeface="EB Garamond"/>
                <a:sym typeface="EB Garamond"/>
              </a:rPr>
              <a:t>Otro ejemplo</a:t>
            </a:r>
            <a:endParaRPr b="1">
              <a:latin typeface="EB Garamond"/>
              <a:ea typeface="EB Garamond"/>
              <a:cs typeface="EB Garamond"/>
              <a:sym typeface="EB Garamond"/>
            </a:endParaRPr>
          </a:p>
        </p:txBody>
      </p:sp>
      <p:sp>
        <p:nvSpPr>
          <p:cNvPr id="387" name="Google Shape;387;p41"/>
          <p:cNvSpPr txBox="1">
            <a:spLocks noGrp="1"/>
          </p:cNvSpPr>
          <p:nvPr>
            <p:ph type="body" idx="1"/>
          </p:nvPr>
        </p:nvSpPr>
        <p:spPr>
          <a:xfrm>
            <a:off x="311700" y="1152475"/>
            <a:ext cx="8520600" cy="35625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s" b="1">
                <a:latin typeface="EB Garamond"/>
                <a:ea typeface="EB Garamond"/>
                <a:cs typeface="EB Garamond"/>
                <a:sym typeface="EB Garamond"/>
              </a:rPr>
              <a:t>EL EFECTO DE LA MATERNIDAD EN EL SALARIO FEMENINO EN CHILE, (Emilia Seissus E., 2017)</a:t>
            </a:r>
            <a:endParaRPr b="1">
              <a:latin typeface="EB Garamond"/>
              <a:ea typeface="EB Garamond"/>
              <a:cs typeface="EB Garamond"/>
              <a:sym typeface="EB Garamond"/>
            </a:endParaRPr>
          </a:p>
          <a:p>
            <a:pPr marL="0" lvl="0" indent="0" algn="l" rtl="0">
              <a:spcBef>
                <a:spcPts val="0"/>
              </a:spcBef>
              <a:spcAft>
                <a:spcPts val="0"/>
              </a:spcAft>
              <a:buNone/>
            </a:pPr>
            <a:endParaRPr b="1">
              <a:latin typeface="EB Garamond"/>
              <a:ea typeface="EB Garamond"/>
              <a:cs typeface="EB Garamond"/>
              <a:sym typeface="EB Garamond"/>
            </a:endParaRPr>
          </a:p>
          <a:p>
            <a:pPr marL="0" lvl="0" indent="0" algn="l" rtl="0">
              <a:spcBef>
                <a:spcPts val="0"/>
              </a:spcBef>
              <a:spcAft>
                <a:spcPts val="0"/>
              </a:spcAft>
              <a:buNone/>
            </a:pPr>
            <a:r>
              <a:rPr lang="es" b="1">
                <a:latin typeface="EB Garamond"/>
                <a:ea typeface="EB Garamond"/>
                <a:cs typeface="EB Garamond"/>
                <a:sym typeface="EB Garamond"/>
              </a:rPr>
              <a:t>Resultado principal</a:t>
            </a:r>
            <a:endParaRPr b="1">
              <a:latin typeface="EB Garamond"/>
              <a:ea typeface="EB Garamond"/>
              <a:cs typeface="EB Garamond"/>
              <a:sym typeface="EB Garamond"/>
            </a:endParaRPr>
          </a:p>
          <a:p>
            <a:pPr marL="0" lvl="0" indent="0" algn="l" rtl="0">
              <a:spcBef>
                <a:spcPts val="1200"/>
              </a:spcBef>
              <a:spcAft>
                <a:spcPts val="1200"/>
              </a:spcAft>
              <a:buNone/>
            </a:pPr>
            <a:r>
              <a:rPr lang="es">
                <a:latin typeface="EB Garamond"/>
                <a:ea typeface="EB Garamond"/>
                <a:cs typeface="EB Garamond"/>
                <a:sym typeface="EB Garamond"/>
              </a:rPr>
              <a:t>Para el  margen extensivo, efectivamente existe una disminución del salario hora promedio para las madres de un hijo en relación a las mujeres embarazadas. Sin embargo, para el margen intensivo, las madres de dos hijos obtienen una bonificación por este hijo extra al compararlas con las madres de uno.</a:t>
            </a:r>
            <a:endParaRPr>
              <a:latin typeface="EB Garamond"/>
              <a:ea typeface="EB Garamond"/>
              <a:cs typeface="EB Garamond"/>
              <a:sym typeface="EB Garamond"/>
            </a:endParaRPr>
          </a:p>
        </p:txBody>
      </p:sp>
      <p:sp>
        <p:nvSpPr>
          <p:cNvPr id="388" name="Google Shape;388;p4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s"/>
              <a:t>29</a:t>
            </a:fld>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a:latin typeface="EB Garamond"/>
                <a:ea typeface="EB Garamond"/>
                <a:cs typeface="EB Garamond"/>
                <a:sym typeface="EB Garamond"/>
              </a:rPr>
              <a:t>Actividad</a:t>
            </a:r>
            <a:endParaRPr>
              <a:latin typeface="EB Garamond"/>
              <a:ea typeface="EB Garamond"/>
              <a:cs typeface="EB Garamond"/>
              <a:sym typeface="EB Garamond"/>
            </a:endParaRPr>
          </a:p>
        </p:txBody>
      </p:sp>
      <p:sp>
        <p:nvSpPr>
          <p:cNvPr id="394" name="Google Shape;394;p4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s"/>
              <a:t>30</a:t>
            </a:fld>
            <a:endParaRPr/>
          </a:p>
        </p:txBody>
      </p:sp>
      <p:graphicFrame>
        <p:nvGraphicFramePr>
          <p:cNvPr id="395" name="Google Shape;395;p42"/>
          <p:cNvGraphicFramePr/>
          <p:nvPr/>
        </p:nvGraphicFramePr>
        <p:xfrm>
          <a:off x="848072" y="1152536"/>
          <a:ext cx="3000000" cy="3000000"/>
        </p:xfrm>
        <a:graphic>
          <a:graphicData uri="http://schemas.openxmlformats.org/drawingml/2006/table">
            <a:tbl>
              <a:tblPr>
                <a:noFill/>
                <a:tableStyleId>{C56CF66F-1F46-4ACB-8706-68A7E53BE109}</a:tableStyleId>
              </a:tblPr>
              <a:tblGrid>
                <a:gridCol w="1860700">
                  <a:extLst>
                    <a:ext uri="{9D8B030D-6E8A-4147-A177-3AD203B41FA5}">
                      <a16:colId xmlns:a16="http://schemas.microsoft.com/office/drawing/2014/main" val="20000"/>
                    </a:ext>
                  </a:extLst>
                </a:gridCol>
                <a:gridCol w="1860700">
                  <a:extLst>
                    <a:ext uri="{9D8B030D-6E8A-4147-A177-3AD203B41FA5}">
                      <a16:colId xmlns:a16="http://schemas.microsoft.com/office/drawing/2014/main" val="20001"/>
                    </a:ext>
                  </a:extLst>
                </a:gridCol>
                <a:gridCol w="2044800">
                  <a:extLst>
                    <a:ext uri="{9D8B030D-6E8A-4147-A177-3AD203B41FA5}">
                      <a16:colId xmlns:a16="http://schemas.microsoft.com/office/drawing/2014/main" val="20002"/>
                    </a:ext>
                  </a:extLst>
                </a:gridCol>
                <a:gridCol w="1860700">
                  <a:extLst>
                    <a:ext uri="{9D8B030D-6E8A-4147-A177-3AD203B41FA5}">
                      <a16:colId xmlns:a16="http://schemas.microsoft.com/office/drawing/2014/main" val="20003"/>
                    </a:ext>
                  </a:extLst>
                </a:gridCol>
              </a:tblGrid>
              <a:tr h="478950">
                <a:tc gridSpan="4">
                  <a:txBody>
                    <a:bodyPr/>
                    <a:lstStyle/>
                    <a:p>
                      <a:pPr marL="0" marR="0" lvl="0" indent="0" algn="ctr" rtl="0">
                        <a:spcBef>
                          <a:spcPts val="0"/>
                        </a:spcBef>
                        <a:spcAft>
                          <a:spcPts val="0"/>
                        </a:spcAft>
                        <a:buNone/>
                      </a:pPr>
                      <a:r>
                        <a:rPr lang="es" sz="1200" b="1" i="0" u="none" strike="noStrike" cap="none">
                          <a:solidFill>
                            <a:schemeClr val="dk2"/>
                          </a:solidFill>
                          <a:latin typeface="EB Garamond"/>
                          <a:ea typeface="EB Garamond"/>
                          <a:cs typeface="EB Garamond"/>
                          <a:sym typeface="EB Garamond"/>
                        </a:rPr>
                        <a:t>EJECICIO PROPUESTA DE INVESTIGACIÓN</a:t>
                      </a:r>
                      <a:endParaRPr>
                        <a:solidFill>
                          <a:schemeClr val="dk2"/>
                        </a:solidFill>
                        <a:latin typeface="EB Garamond"/>
                        <a:ea typeface="EB Garamond"/>
                        <a:cs typeface="EB Garamond"/>
                        <a:sym typeface="EB Garamond"/>
                      </a:endParaRPr>
                    </a:p>
                  </a:txBody>
                  <a:tcPr marL="5075" marR="5075" marT="5075" marB="0" anchor="ctr">
                    <a:lnL w="12700" cap="flat" cmpd="sng">
                      <a:solidFill>
                        <a:srgbClr val="000000"/>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C000"/>
                    </a:solidFill>
                  </a:tcPr>
                </a:tc>
                <a:tc hMerge="1">
                  <a:txBody>
                    <a:bodyPr/>
                    <a:lstStyle/>
                    <a:p>
                      <a:endParaRPr lang="es-CL"/>
                    </a:p>
                  </a:txBody>
                  <a:tcPr/>
                </a:tc>
                <a:tc hMerge="1">
                  <a:txBody>
                    <a:bodyPr/>
                    <a:lstStyle/>
                    <a:p>
                      <a:endParaRPr lang="es-CL"/>
                    </a:p>
                  </a:txBody>
                  <a:tcPr/>
                </a:tc>
                <a:tc hMerge="1">
                  <a:txBody>
                    <a:bodyPr/>
                    <a:lstStyle/>
                    <a:p>
                      <a:endParaRPr lang="es-CL"/>
                    </a:p>
                  </a:txBody>
                  <a:tcPr/>
                </a:tc>
                <a:extLst>
                  <a:ext uri="{0D108BD9-81ED-4DB2-BD59-A6C34878D82A}">
                    <a16:rowId xmlns:a16="http://schemas.microsoft.com/office/drawing/2014/main" val="10000"/>
                  </a:ext>
                </a:extLst>
              </a:tr>
              <a:tr h="685525">
                <a:tc gridSpan="4">
                  <a:txBody>
                    <a:bodyPr/>
                    <a:lstStyle/>
                    <a:p>
                      <a:pPr marL="0" marR="0" lvl="0" indent="0" algn="l" rtl="0">
                        <a:spcBef>
                          <a:spcPts val="0"/>
                        </a:spcBef>
                        <a:spcAft>
                          <a:spcPts val="0"/>
                        </a:spcAft>
                        <a:buNone/>
                      </a:pPr>
                      <a:r>
                        <a:rPr lang="es" sz="1100" b="1" i="0" u="none" strike="noStrike" cap="none">
                          <a:solidFill>
                            <a:schemeClr val="dk2"/>
                          </a:solidFill>
                          <a:latin typeface="EB Garamond"/>
                          <a:ea typeface="EB Garamond"/>
                          <a:cs typeface="EB Garamond"/>
                          <a:sym typeface="EB Garamond"/>
                        </a:rPr>
                        <a:t>1. Problema de investigación</a:t>
                      </a:r>
                      <a:endParaRPr>
                        <a:solidFill>
                          <a:schemeClr val="dk2"/>
                        </a:solidFill>
                        <a:latin typeface="EB Garamond"/>
                        <a:ea typeface="EB Garamond"/>
                        <a:cs typeface="EB Garamond"/>
                        <a:sym typeface="EB Garamond"/>
                      </a:endParaRPr>
                    </a:p>
                  </a:txBody>
                  <a:tcPr marL="5075" marR="5075" marT="5075"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FF"/>
                    </a:solidFill>
                  </a:tcPr>
                </a:tc>
                <a:tc hMerge="1">
                  <a:txBody>
                    <a:bodyPr/>
                    <a:lstStyle/>
                    <a:p>
                      <a:endParaRPr lang="es-CL"/>
                    </a:p>
                  </a:txBody>
                  <a:tcPr/>
                </a:tc>
                <a:tc hMerge="1">
                  <a:txBody>
                    <a:bodyPr/>
                    <a:lstStyle/>
                    <a:p>
                      <a:endParaRPr lang="es-CL"/>
                    </a:p>
                  </a:txBody>
                  <a:tcPr/>
                </a:tc>
                <a:tc hMerge="1">
                  <a:txBody>
                    <a:bodyPr/>
                    <a:lstStyle/>
                    <a:p>
                      <a:endParaRPr lang="es-CL"/>
                    </a:p>
                  </a:txBody>
                  <a:tcPr/>
                </a:tc>
                <a:extLst>
                  <a:ext uri="{0D108BD9-81ED-4DB2-BD59-A6C34878D82A}">
                    <a16:rowId xmlns:a16="http://schemas.microsoft.com/office/drawing/2014/main" val="10001"/>
                  </a:ext>
                </a:extLst>
              </a:tr>
              <a:tr h="685525">
                <a:tc gridSpan="4">
                  <a:txBody>
                    <a:bodyPr/>
                    <a:lstStyle/>
                    <a:p>
                      <a:pPr marL="0" marR="0" lvl="0" indent="0" algn="l" rtl="0">
                        <a:spcBef>
                          <a:spcPts val="0"/>
                        </a:spcBef>
                        <a:spcAft>
                          <a:spcPts val="0"/>
                        </a:spcAft>
                        <a:buNone/>
                      </a:pPr>
                      <a:r>
                        <a:rPr lang="es" sz="1100" b="1" i="0" u="none" strike="noStrike" cap="none">
                          <a:solidFill>
                            <a:schemeClr val="dk2"/>
                          </a:solidFill>
                          <a:latin typeface="EB Garamond"/>
                          <a:ea typeface="EB Garamond"/>
                          <a:cs typeface="EB Garamond"/>
                          <a:sym typeface="EB Garamond"/>
                        </a:rPr>
                        <a:t>2. Pregunta de investigación</a:t>
                      </a:r>
                      <a:endParaRPr>
                        <a:solidFill>
                          <a:schemeClr val="dk2"/>
                        </a:solidFill>
                        <a:latin typeface="EB Garamond"/>
                        <a:ea typeface="EB Garamond"/>
                        <a:cs typeface="EB Garamond"/>
                        <a:sym typeface="EB Garamond"/>
                      </a:endParaRPr>
                    </a:p>
                  </a:txBody>
                  <a:tcPr marL="5075" marR="5075" marT="5075"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FF"/>
                    </a:solidFill>
                  </a:tcPr>
                </a:tc>
                <a:tc hMerge="1">
                  <a:txBody>
                    <a:bodyPr/>
                    <a:lstStyle/>
                    <a:p>
                      <a:endParaRPr lang="es-CL"/>
                    </a:p>
                  </a:txBody>
                  <a:tcPr/>
                </a:tc>
                <a:tc hMerge="1">
                  <a:txBody>
                    <a:bodyPr/>
                    <a:lstStyle/>
                    <a:p>
                      <a:endParaRPr lang="es-CL"/>
                    </a:p>
                  </a:txBody>
                  <a:tcPr/>
                </a:tc>
                <a:tc hMerge="1">
                  <a:txBody>
                    <a:bodyPr/>
                    <a:lstStyle/>
                    <a:p>
                      <a:endParaRPr lang="es-CL"/>
                    </a:p>
                  </a:txBody>
                  <a:tcPr/>
                </a:tc>
                <a:extLst>
                  <a:ext uri="{0D108BD9-81ED-4DB2-BD59-A6C34878D82A}">
                    <a16:rowId xmlns:a16="http://schemas.microsoft.com/office/drawing/2014/main" val="10002"/>
                  </a:ext>
                </a:extLst>
              </a:tr>
              <a:tr h="685525">
                <a:tc gridSpan="4">
                  <a:txBody>
                    <a:bodyPr/>
                    <a:lstStyle/>
                    <a:p>
                      <a:pPr marL="0" marR="0" lvl="0" indent="0" algn="l" rtl="0">
                        <a:spcBef>
                          <a:spcPts val="0"/>
                        </a:spcBef>
                        <a:spcAft>
                          <a:spcPts val="0"/>
                        </a:spcAft>
                        <a:buNone/>
                      </a:pPr>
                      <a:r>
                        <a:rPr lang="es" sz="1100" b="1" i="0" u="none" strike="noStrike" cap="none">
                          <a:solidFill>
                            <a:schemeClr val="dk2"/>
                          </a:solidFill>
                          <a:latin typeface="EB Garamond"/>
                          <a:ea typeface="EB Garamond"/>
                          <a:cs typeface="EB Garamond"/>
                          <a:sym typeface="EB Garamond"/>
                        </a:rPr>
                        <a:t>3. Hipótesis de investigación </a:t>
                      </a:r>
                      <a:endParaRPr sz="1100" i="0" u="none" strike="noStrike" cap="none">
                        <a:solidFill>
                          <a:schemeClr val="dk2"/>
                        </a:solidFill>
                        <a:latin typeface="EB Garamond"/>
                        <a:ea typeface="EB Garamond"/>
                        <a:cs typeface="EB Garamond"/>
                        <a:sym typeface="EB Garamond"/>
                      </a:endParaRPr>
                    </a:p>
                  </a:txBody>
                  <a:tcPr marL="5075" marR="5075" marT="5075"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FF"/>
                    </a:solidFill>
                  </a:tcPr>
                </a:tc>
                <a:tc hMerge="1">
                  <a:txBody>
                    <a:bodyPr/>
                    <a:lstStyle/>
                    <a:p>
                      <a:endParaRPr lang="es-CL"/>
                    </a:p>
                  </a:txBody>
                  <a:tcPr/>
                </a:tc>
                <a:tc hMerge="1">
                  <a:txBody>
                    <a:bodyPr/>
                    <a:lstStyle/>
                    <a:p>
                      <a:endParaRPr lang="es-CL"/>
                    </a:p>
                  </a:txBody>
                  <a:tcPr/>
                </a:tc>
                <a:tc hMerge="1">
                  <a:txBody>
                    <a:bodyPr/>
                    <a:lstStyle/>
                    <a:p>
                      <a:endParaRPr lang="es-CL"/>
                    </a:p>
                  </a:txBody>
                  <a:tcPr/>
                </a:tc>
                <a:extLst>
                  <a:ext uri="{0D108BD9-81ED-4DB2-BD59-A6C34878D82A}">
                    <a16:rowId xmlns:a16="http://schemas.microsoft.com/office/drawing/2014/main" val="10003"/>
                  </a:ext>
                </a:extLst>
              </a:tr>
              <a:tr h="171050">
                <a:tc gridSpan="4">
                  <a:txBody>
                    <a:bodyPr/>
                    <a:lstStyle/>
                    <a:p>
                      <a:pPr marL="0" marR="0" lvl="0" indent="0" algn="l" rtl="0">
                        <a:spcBef>
                          <a:spcPts val="0"/>
                        </a:spcBef>
                        <a:spcAft>
                          <a:spcPts val="0"/>
                        </a:spcAft>
                        <a:buNone/>
                      </a:pPr>
                      <a:r>
                        <a:rPr lang="es" sz="1100" b="1" i="0" u="none" strike="noStrike" cap="none">
                          <a:solidFill>
                            <a:schemeClr val="dk2"/>
                          </a:solidFill>
                          <a:latin typeface="EB Garamond"/>
                          <a:ea typeface="EB Garamond"/>
                          <a:cs typeface="EB Garamond"/>
                          <a:sym typeface="EB Garamond"/>
                        </a:rPr>
                        <a:t>4. Operacionalización</a:t>
                      </a:r>
                      <a:endParaRPr sz="1100" b="1" i="0" u="none" strike="noStrike" cap="none">
                        <a:solidFill>
                          <a:schemeClr val="dk2"/>
                        </a:solidFill>
                        <a:latin typeface="EB Garamond"/>
                        <a:ea typeface="EB Garamond"/>
                        <a:cs typeface="EB Garamond"/>
                        <a:sym typeface="EB Garamond"/>
                      </a:endParaRPr>
                    </a:p>
                  </a:txBody>
                  <a:tcPr marL="5075" marR="5075" marT="50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hMerge="1">
                  <a:txBody>
                    <a:bodyPr/>
                    <a:lstStyle/>
                    <a:p>
                      <a:endParaRPr lang="es-CL"/>
                    </a:p>
                  </a:txBody>
                  <a:tcPr/>
                </a:tc>
                <a:tc hMerge="1">
                  <a:txBody>
                    <a:bodyPr/>
                    <a:lstStyle/>
                    <a:p>
                      <a:endParaRPr lang="es-CL"/>
                    </a:p>
                  </a:txBody>
                  <a:tcPr/>
                </a:tc>
                <a:tc hMerge="1">
                  <a:txBody>
                    <a:bodyPr/>
                    <a:lstStyle/>
                    <a:p>
                      <a:endParaRPr lang="es-CL"/>
                    </a:p>
                  </a:txBody>
                  <a:tcPr/>
                </a:tc>
                <a:extLst>
                  <a:ext uri="{0D108BD9-81ED-4DB2-BD59-A6C34878D82A}">
                    <a16:rowId xmlns:a16="http://schemas.microsoft.com/office/drawing/2014/main" val="10004"/>
                  </a:ext>
                </a:extLst>
              </a:tr>
              <a:tr h="171050">
                <a:tc>
                  <a:txBody>
                    <a:bodyPr/>
                    <a:lstStyle/>
                    <a:p>
                      <a:pPr marL="0" marR="0" lvl="0" indent="0" algn="ctr" rtl="0">
                        <a:spcBef>
                          <a:spcPts val="0"/>
                        </a:spcBef>
                        <a:spcAft>
                          <a:spcPts val="0"/>
                        </a:spcAft>
                        <a:buNone/>
                      </a:pPr>
                      <a:r>
                        <a:rPr lang="es" sz="1100" b="1" i="0" u="none" strike="noStrike" cap="none">
                          <a:solidFill>
                            <a:schemeClr val="dk2"/>
                          </a:solidFill>
                          <a:latin typeface="EB Garamond"/>
                          <a:ea typeface="EB Garamond"/>
                          <a:cs typeface="EB Garamond"/>
                          <a:sym typeface="EB Garamond"/>
                        </a:rPr>
                        <a:t>Concepto</a:t>
                      </a:r>
                      <a:endParaRPr>
                        <a:solidFill>
                          <a:schemeClr val="dk2"/>
                        </a:solidFill>
                        <a:latin typeface="EB Garamond"/>
                        <a:ea typeface="EB Garamond"/>
                        <a:cs typeface="EB Garamond"/>
                        <a:sym typeface="EB Garamond"/>
                      </a:endParaRPr>
                    </a:p>
                  </a:txBody>
                  <a:tcPr marL="5075" marR="5075" marT="50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solidFill>
                      <a:srgbClr val="9CC2E5"/>
                    </a:solidFill>
                  </a:tcPr>
                </a:tc>
                <a:tc>
                  <a:txBody>
                    <a:bodyPr/>
                    <a:lstStyle/>
                    <a:p>
                      <a:pPr marL="0" marR="0" lvl="0" indent="0" algn="ctr" rtl="0">
                        <a:spcBef>
                          <a:spcPts val="0"/>
                        </a:spcBef>
                        <a:spcAft>
                          <a:spcPts val="0"/>
                        </a:spcAft>
                        <a:buNone/>
                      </a:pPr>
                      <a:r>
                        <a:rPr lang="es" sz="1100" b="1" i="0" u="none" strike="noStrike" cap="none">
                          <a:solidFill>
                            <a:schemeClr val="dk2"/>
                          </a:solidFill>
                          <a:latin typeface="EB Garamond"/>
                          <a:ea typeface="EB Garamond"/>
                          <a:cs typeface="EB Garamond"/>
                          <a:sym typeface="EB Garamond"/>
                        </a:rPr>
                        <a:t>Dimensiones</a:t>
                      </a:r>
                      <a:endParaRPr>
                        <a:solidFill>
                          <a:schemeClr val="dk2"/>
                        </a:solidFill>
                        <a:latin typeface="EB Garamond"/>
                        <a:ea typeface="EB Garamond"/>
                        <a:cs typeface="EB Garamond"/>
                        <a:sym typeface="EB Garamond"/>
                      </a:endParaRPr>
                    </a:p>
                  </a:txBody>
                  <a:tcPr marL="5075" marR="5075" marT="50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solidFill>
                      <a:srgbClr val="9CC2E5"/>
                    </a:solidFill>
                  </a:tcPr>
                </a:tc>
                <a:tc>
                  <a:txBody>
                    <a:bodyPr/>
                    <a:lstStyle/>
                    <a:p>
                      <a:pPr marL="0" marR="0" lvl="0" indent="0" algn="ctr" rtl="0">
                        <a:spcBef>
                          <a:spcPts val="0"/>
                        </a:spcBef>
                        <a:spcAft>
                          <a:spcPts val="0"/>
                        </a:spcAft>
                        <a:buNone/>
                      </a:pPr>
                      <a:r>
                        <a:rPr lang="es" sz="1100" b="1" i="0" u="none" strike="noStrike" cap="none">
                          <a:solidFill>
                            <a:schemeClr val="dk2"/>
                          </a:solidFill>
                          <a:latin typeface="EB Garamond"/>
                          <a:ea typeface="EB Garamond"/>
                          <a:cs typeface="EB Garamond"/>
                          <a:sym typeface="EB Garamond"/>
                        </a:rPr>
                        <a:t>Indicador y atributo</a:t>
                      </a:r>
                      <a:endParaRPr>
                        <a:solidFill>
                          <a:schemeClr val="dk2"/>
                        </a:solidFill>
                        <a:latin typeface="EB Garamond"/>
                        <a:ea typeface="EB Garamond"/>
                        <a:cs typeface="EB Garamond"/>
                        <a:sym typeface="EB Garamond"/>
                      </a:endParaRPr>
                    </a:p>
                  </a:txBody>
                  <a:tcPr marL="5075" marR="5075" marT="50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solidFill>
                      <a:srgbClr val="9CC2E5"/>
                    </a:solidFill>
                  </a:tcPr>
                </a:tc>
                <a:tc>
                  <a:txBody>
                    <a:bodyPr/>
                    <a:lstStyle/>
                    <a:p>
                      <a:pPr marL="0" marR="0" lvl="0" indent="0" algn="ctr" rtl="0">
                        <a:spcBef>
                          <a:spcPts val="0"/>
                        </a:spcBef>
                        <a:spcAft>
                          <a:spcPts val="0"/>
                        </a:spcAft>
                        <a:buNone/>
                      </a:pPr>
                      <a:r>
                        <a:rPr lang="es" sz="1100" b="1" i="0" u="none" strike="noStrike" cap="none">
                          <a:solidFill>
                            <a:schemeClr val="dk2"/>
                          </a:solidFill>
                          <a:latin typeface="EB Garamond"/>
                          <a:ea typeface="EB Garamond"/>
                          <a:cs typeface="EB Garamond"/>
                          <a:sym typeface="EB Garamond"/>
                        </a:rPr>
                        <a:t>Pregunta y atributo</a:t>
                      </a:r>
                      <a:endParaRPr>
                        <a:solidFill>
                          <a:schemeClr val="dk2"/>
                        </a:solidFill>
                        <a:latin typeface="EB Garamond"/>
                        <a:ea typeface="EB Garamond"/>
                        <a:cs typeface="EB Garamond"/>
                        <a:sym typeface="EB Garamond"/>
                      </a:endParaRPr>
                    </a:p>
                  </a:txBody>
                  <a:tcPr marL="5075" marR="5075" marT="50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solidFill>
                      <a:srgbClr val="9CC2E5"/>
                    </a:solidFill>
                  </a:tcPr>
                </a:tc>
                <a:extLst>
                  <a:ext uri="{0D108BD9-81ED-4DB2-BD59-A6C34878D82A}">
                    <a16:rowId xmlns:a16="http://schemas.microsoft.com/office/drawing/2014/main" val="10005"/>
                  </a:ext>
                </a:extLst>
              </a:tr>
              <a:tr h="337125">
                <a:tc rowSpan="4">
                  <a:txBody>
                    <a:bodyPr/>
                    <a:lstStyle/>
                    <a:p>
                      <a:pPr marL="0" marR="0" lvl="0" indent="0" algn="ctr" rtl="0">
                        <a:spcBef>
                          <a:spcPts val="0"/>
                        </a:spcBef>
                        <a:spcAft>
                          <a:spcPts val="0"/>
                        </a:spcAft>
                        <a:buNone/>
                      </a:pPr>
                      <a:r>
                        <a:rPr lang="es" sz="1100" i="0" u="none" strike="noStrike" cap="none">
                          <a:solidFill>
                            <a:schemeClr val="dk2"/>
                          </a:solidFill>
                          <a:latin typeface="EB Garamond"/>
                          <a:ea typeface="EB Garamond"/>
                          <a:cs typeface="EB Garamond"/>
                          <a:sym typeface="EB Garamond"/>
                        </a:rPr>
                        <a:t>*Nombre concepto y definición breve</a:t>
                      </a:r>
                      <a:endParaRPr>
                        <a:solidFill>
                          <a:schemeClr val="dk2"/>
                        </a:solidFill>
                        <a:latin typeface="EB Garamond"/>
                        <a:ea typeface="EB Garamond"/>
                        <a:cs typeface="EB Garamond"/>
                        <a:sym typeface="EB Garamond"/>
                      </a:endParaRPr>
                    </a:p>
                  </a:txBody>
                  <a:tcPr marL="5075" marR="5075" marT="50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2F2F2"/>
                    </a:solidFill>
                  </a:tcPr>
                </a:tc>
                <a:tc>
                  <a:txBody>
                    <a:bodyPr/>
                    <a:lstStyle/>
                    <a:p>
                      <a:pPr marL="0" marR="0" lvl="0" indent="0" algn="l" rtl="0">
                        <a:spcBef>
                          <a:spcPts val="0"/>
                        </a:spcBef>
                        <a:spcAft>
                          <a:spcPts val="0"/>
                        </a:spcAft>
                        <a:buNone/>
                      </a:pPr>
                      <a:r>
                        <a:rPr lang="es" sz="1100" i="0" u="none" strike="noStrike" cap="none">
                          <a:solidFill>
                            <a:schemeClr val="dk2"/>
                          </a:solidFill>
                          <a:latin typeface="EB Garamond"/>
                          <a:ea typeface="EB Garamond"/>
                          <a:cs typeface="EB Garamond"/>
                          <a:sym typeface="EB Garamond"/>
                        </a:rPr>
                        <a:t>1.</a:t>
                      </a:r>
                      <a:endParaRPr>
                        <a:solidFill>
                          <a:schemeClr val="dk2"/>
                        </a:solidFill>
                        <a:latin typeface="EB Garamond"/>
                        <a:ea typeface="EB Garamond"/>
                        <a:cs typeface="EB Garamond"/>
                        <a:sym typeface="EB Garamond"/>
                      </a:endParaRPr>
                    </a:p>
                  </a:txBody>
                  <a:tcPr marL="5075" marR="5075" marT="50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2F2F2"/>
                    </a:solidFill>
                  </a:tcPr>
                </a:tc>
                <a:tc>
                  <a:txBody>
                    <a:bodyPr/>
                    <a:lstStyle/>
                    <a:p>
                      <a:pPr marL="0" marR="0" lvl="0" indent="0" algn="l" rtl="0">
                        <a:spcBef>
                          <a:spcPts val="0"/>
                        </a:spcBef>
                        <a:spcAft>
                          <a:spcPts val="0"/>
                        </a:spcAft>
                        <a:buNone/>
                      </a:pPr>
                      <a:r>
                        <a:rPr lang="es" sz="1100" i="1" u="none" strike="noStrike" cap="none">
                          <a:solidFill>
                            <a:schemeClr val="dk2"/>
                          </a:solidFill>
                          <a:latin typeface="EB Garamond"/>
                          <a:ea typeface="EB Garamond"/>
                          <a:cs typeface="EB Garamond"/>
                          <a:sym typeface="EB Garamond"/>
                        </a:rPr>
                        <a:t>*Se recomienda 1 indicador por dimensión</a:t>
                      </a:r>
                      <a:endParaRPr>
                        <a:solidFill>
                          <a:schemeClr val="dk2"/>
                        </a:solidFill>
                        <a:latin typeface="EB Garamond"/>
                        <a:ea typeface="EB Garamond"/>
                        <a:cs typeface="EB Garamond"/>
                        <a:sym typeface="EB Garamond"/>
                      </a:endParaRPr>
                    </a:p>
                  </a:txBody>
                  <a:tcPr marL="5075" marR="5075" marT="50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2F2F2"/>
                    </a:solidFill>
                  </a:tcPr>
                </a:tc>
                <a:tc>
                  <a:txBody>
                    <a:bodyPr/>
                    <a:lstStyle/>
                    <a:p>
                      <a:pPr marL="0" marR="0" lvl="0" indent="0" algn="l" rtl="0">
                        <a:spcBef>
                          <a:spcPts val="0"/>
                        </a:spcBef>
                        <a:spcAft>
                          <a:spcPts val="0"/>
                        </a:spcAft>
                        <a:buNone/>
                      </a:pPr>
                      <a:r>
                        <a:rPr lang="es" sz="1100" i="1" u="none" strike="noStrike" cap="none">
                          <a:solidFill>
                            <a:schemeClr val="dk2"/>
                          </a:solidFill>
                          <a:latin typeface="EB Garamond"/>
                          <a:ea typeface="EB Garamond"/>
                          <a:cs typeface="EB Garamond"/>
                          <a:sym typeface="EB Garamond"/>
                        </a:rPr>
                        <a:t>*Se recomienda 1 pregunta  por indicador</a:t>
                      </a:r>
                      <a:endParaRPr>
                        <a:solidFill>
                          <a:schemeClr val="dk2"/>
                        </a:solidFill>
                        <a:latin typeface="EB Garamond"/>
                        <a:ea typeface="EB Garamond"/>
                        <a:cs typeface="EB Garamond"/>
                        <a:sym typeface="EB Garamond"/>
                      </a:endParaRPr>
                    </a:p>
                  </a:txBody>
                  <a:tcPr marL="5075" marR="5075" marT="50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2F2F2"/>
                    </a:solidFill>
                  </a:tcPr>
                </a:tc>
                <a:extLst>
                  <a:ext uri="{0D108BD9-81ED-4DB2-BD59-A6C34878D82A}">
                    <a16:rowId xmlns:a16="http://schemas.microsoft.com/office/drawing/2014/main" val="10006"/>
                  </a:ext>
                </a:extLst>
              </a:tr>
              <a:tr h="234775">
                <a:tc vMerge="1">
                  <a:txBody>
                    <a:bodyPr/>
                    <a:lstStyle/>
                    <a:p>
                      <a:endParaRPr lang="es-CL"/>
                    </a:p>
                  </a:txBody>
                  <a:tcPr/>
                </a:tc>
                <a:tc>
                  <a:txBody>
                    <a:bodyPr/>
                    <a:lstStyle/>
                    <a:p>
                      <a:pPr marL="0" marR="0" lvl="0" indent="0" algn="l" rtl="0">
                        <a:spcBef>
                          <a:spcPts val="0"/>
                        </a:spcBef>
                        <a:spcAft>
                          <a:spcPts val="0"/>
                        </a:spcAft>
                        <a:buNone/>
                      </a:pPr>
                      <a:r>
                        <a:rPr lang="es" sz="1100" i="0" u="none" strike="noStrike" cap="none">
                          <a:solidFill>
                            <a:schemeClr val="dk2"/>
                          </a:solidFill>
                          <a:latin typeface="EB Garamond"/>
                          <a:ea typeface="EB Garamond"/>
                          <a:cs typeface="EB Garamond"/>
                          <a:sym typeface="EB Garamond"/>
                        </a:rPr>
                        <a:t>2.</a:t>
                      </a:r>
                      <a:endParaRPr>
                        <a:solidFill>
                          <a:schemeClr val="dk2"/>
                        </a:solidFill>
                        <a:latin typeface="EB Garamond"/>
                        <a:ea typeface="EB Garamond"/>
                        <a:cs typeface="EB Garamond"/>
                        <a:sym typeface="EB Garamond"/>
                      </a:endParaRPr>
                    </a:p>
                  </a:txBody>
                  <a:tcPr marL="5075" marR="5075" marT="50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2F2F2"/>
                    </a:solidFill>
                  </a:tcPr>
                </a:tc>
                <a:tc>
                  <a:txBody>
                    <a:bodyPr/>
                    <a:lstStyle/>
                    <a:p>
                      <a:pPr marL="0" marR="0" lvl="0" indent="0" algn="ctr" rtl="0">
                        <a:spcBef>
                          <a:spcPts val="0"/>
                        </a:spcBef>
                        <a:spcAft>
                          <a:spcPts val="0"/>
                        </a:spcAft>
                        <a:buNone/>
                      </a:pPr>
                      <a:r>
                        <a:rPr lang="es" sz="1100" b="1" i="0" u="none" strike="noStrike" cap="none">
                          <a:solidFill>
                            <a:schemeClr val="dk2"/>
                          </a:solidFill>
                          <a:latin typeface="EB Garamond"/>
                          <a:ea typeface="EB Garamond"/>
                          <a:cs typeface="EB Garamond"/>
                          <a:sym typeface="EB Garamond"/>
                        </a:rPr>
                        <a:t> </a:t>
                      </a:r>
                      <a:endParaRPr>
                        <a:solidFill>
                          <a:schemeClr val="dk2"/>
                        </a:solidFill>
                        <a:latin typeface="EB Garamond"/>
                        <a:ea typeface="EB Garamond"/>
                        <a:cs typeface="EB Garamond"/>
                        <a:sym typeface="EB Garamond"/>
                      </a:endParaRPr>
                    </a:p>
                  </a:txBody>
                  <a:tcPr marL="5075" marR="5075" marT="50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2F2F2"/>
                    </a:solidFill>
                  </a:tcPr>
                </a:tc>
                <a:tc>
                  <a:txBody>
                    <a:bodyPr/>
                    <a:lstStyle/>
                    <a:p>
                      <a:pPr marL="0" marR="0" lvl="0" indent="0" algn="l" rtl="0">
                        <a:spcBef>
                          <a:spcPts val="0"/>
                        </a:spcBef>
                        <a:spcAft>
                          <a:spcPts val="0"/>
                        </a:spcAft>
                        <a:buNone/>
                      </a:pPr>
                      <a:r>
                        <a:rPr lang="es" sz="1100" i="0" u="none" strike="noStrike" cap="none">
                          <a:solidFill>
                            <a:schemeClr val="dk2"/>
                          </a:solidFill>
                          <a:latin typeface="EB Garamond"/>
                          <a:ea typeface="EB Garamond"/>
                          <a:cs typeface="EB Garamond"/>
                          <a:sym typeface="EB Garamond"/>
                        </a:rPr>
                        <a:t> </a:t>
                      </a:r>
                      <a:endParaRPr>
                        <a:solidFill>
                          <a:schemeClr val="dk2"/>
                        </a:solidFill>
                        <a:latin typeface="EB Garamond"/>
                        <a:ea typeface="EB Garamond"/>
                        <a:cs typeface="EB Garamond"/>
                        <a:sym typeface="EB Garamond"/>
                      </a:endParaRPr>
                    </a:p>
                  </a:txBody>
                  <a:tcPr marL="5075" marR="5075" marT="50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2F2F2"/>
                    </a:solidFill>
                  </a:tcPr>
                </a:tc>
                <a:extLst>
                  <a:ext uri="{0D108BD9-81ED-4DB2-BD59-A6C34878D82A}">
                    <a16:rowId xmlns:a16="http://schemas.microsoft.com/office/drawing/2014/main" val="10007"/>
                  </a:ext>
                </a:extLst>
              </a:tr>
              <a:tr h="234775">
                <a:tc vMerge="1">
                  <a:txBody>
                    <a:bodyPr/>
                    <a:lstStyle/>
                    <a:p>
                      <a:endParaRPr lang="es-CL"/>
                    </a:p>
                  </a:txBody>
                  <a:tcPr/>
                </a:tc>
                <a:tc>
                  <a:txBody>
                    <a:bodyPr/>
                    <a:lstStyle/>
                    <a:p>
                      <a:pPr marL="0" marR="0" lvl="0" indent="0" algn="l" rtl="0">
                        <a:spcBef>
                          <a:spcPts val="0"/>
                        </a:spcBef>
                        <a:spcAft>
                          <a:spcPts val="0"/>
                        </a:spcAft>
                        <a:buNone/>
                      </a:pPr>
                      <a:r>
                        <a:rPr lang="es" sz="1100" i="0" u="none" strike="noStrike" cap="none">
                          <a:solidFill>
                            <a:schemeClr val="dk2"/>
                          </a:solidFill>
                          <a:latin typeface="EB Garamond"/>
                          <a:ea typeface="EB Garamond"/>
                          <a:cs typeface="EB Garamond"/>
                          <a:sym typeface="EB Garamond"/>
                        </a:rPr>
                        <a:t>3.</a:t>
                      </a:r>
                      <a:endParaRPr>
                        <a:solidFill>
                          <a:schemeClr val="dk2"/>
                        </a:solidFill>
                        <a:latin typeface="EB Garamond"/>
                        <a:ea typeface="EB Garamond"/>
                        <a:cs typeface="EB Garamond"/>
                        <a:sym typeface="EB Garamond"/>
                      </a:endParaRPr>
                    </a:p>
                  </a:txBody>
                  <a:tcPr marL="5075" marR="5075" marT="50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2F2F2"/>
                    </a:solidFill>
                  </a:tcPr>
                </a:tc>
                <a:tc>
                  <a:txBody>
                    <a:bodyPr/>
                    <a:lstStyle/>
                    <a:p>
                      <a:pPr marL="0" marR="0" lvl="0" indent="0" algn="ctr" rtl="0">
                        <a:spcBef>
                          <a:spcPts val="0"/>
                        </a:spcBef>
                        <a:spcAft>
                          <a:spcPts val="0"/>
                        </a:spcAft>
                        <a:buNone/>
                      </a:pPr>
                      <a:r>
                        <a:rPr lang="es" sz="1100" b="1" i="0" u="none" strike="noStrike" cap="none">
                          <a:solidFill>
                            <a:schemeClr val="dk2"/>
                          </a:solidFill>
                          <a:latin typeface="EB Garamond"/>
                          <a:ea typeface="EB Garamond"/>
                          <a:cs typeface="EB Garamond"/>
                          <a:sym typeface="EB Garamond"/>
                        </a:rPr>
                        <a:t> </a:t>
                      </a:r>
                      <a:endParaRPr>
                        <a:solidFill>
                          <a:schemeClr val="dk2"/>
                        </a:solidFill>
                        <a:latin typeface="EB Garamond"/>
                        <a:ea typeface="EB Garamond"/>
                        <a:cs typeface="EB Garamond"/>
                        <a:sym typeface="EB Garamond"/>
                      </a:endParaRPr>
                    </a:p>
                  </a:txBody>
                  <a:tcPr marL="5075" marR="5075" marT="50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2F2F2"/>
                    </a:solidFill>
                  </a:tcPr>
                </a:tc>
                <a:tc>
                  <a:txBody>
                    <a:bodyPr/>
                    <a:lstStyle/>
                    <a:p>
                      <a:pPr marL="0" marR="0" lvl="0" indent="0" algn="l" rtl="0">
                        <a:spcBef>
                          <a:spcPts val="0"/>
                        </a:spcBef>
                        <a:spcAft>
                          <a:spcPts val="0"/>
                        </a:spcAft>
                        <a:buNone/>
                      </a:pPr>
                      <a:r>
                        <a:rPr lang="es" sz="1100" i="0" u="none" strike="noStrike" cap="none">
                          <a:solidFill>
                            <a:schemeClr val="dk2"/>
                          </a:solidFill>
                          <a:latin typeface="EB Garamond"/>
                          <a:ea typeface="EB Garamond"/>
                          <a:cs typeface="EB Garamond"/>
                          <a:sym typeface="EB Garamond"/>
                        </a:rPr>
                        <a:t> </a:t>
                      </a:r>
                      <a:endParaRPr>
                        <a:solidFill>
                          <a:schemeClr val="dk2"/>
                        </a:solidFill>
                        <a:latin typeface="EB Garamond"/>
                        <a:ea typeface="EB Garamond"/>
                        <a:cs typeface="EB Garamond"/>
                        <a:sym typeface="EB Garamond"/>
                      </a:endParaRPr>
                    </a:p>
                  </a:txBody>
                  <a:tcPr marL="5075" marR="5075" marT="50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2F2F2"/>
                    </a:solidFill>
                  </a:tcPr>
                </a:tc>
                <a:extLst>
                  <a:ext uri="{0D108BD9-81ED-4DB2-BD59-A6C34878D82A}">
                    <a16:rowId xmlns:a16="http://schemas.microsoft.com/office/drawing/2014/main" val="10008"/>
                  </a:ext>
                </a:extLst>
              </a:tr>
              <a:tr h="234775">
                <a:tc vMerge="1">
                  <a:txBody>
                    <a:bodyPr/>
                    <a:lstStyle/>
                    <a:p>
                      <a:endParaRPr lang="es-CL"/>
                    </a:p>
                  </a:txBody>
                  <a:tcPr/>
                </a:tc>
                <a:tc>
                  <a:txBody>
                    <a:bodyPr/>
                    <a:lstStyle/>
                    <a:p>
                      <a:pPr marL="0" marR="0" lvl="0" indent="0" algn="l" rtl="0">
                        <a:spcBef>
                          <a:spcPts val="0"/>
                        </a:spcBef>
                        <a:spcAft>
                          <a:spcPts val="0"/>
                        </a:spcAft>
                        <a:buNone/>
                      </a:pPr>
                      <a:r>
                        <a:rPr lang="es" sz="1100" i="1" u="none" strike="noStrike" cap="none">
                          <a:solidFill>
                            <a:schemeClr val="dk2"/>
                          </a:solidFill>
                          <a:latin typeface="EB Garamond"/>
                          <a:ea typeface="EB Garamond"/>
                          <a:cs typeface="EB Garamond"/>
                          <a:sym typeface="EB Garamond"/>
                        </a:rPr>
                        <a:t>n. *Pueden ser más de 3</a:t>
                      </a:r>
                      <a:endParaRPr>
                        <a:solidFill>
                          <a:schemeClr val="dk2"/>
                        </a:solidFill>
                        <a:latin typeface="EB Garamond"/>
                        <a:ea typeface="EB Garamond"/>
                        <a:cs typeface="EB Garamond"/>
                        <a:sym typeface="EB Garamond"/>
                      </a:endParaRPr>
                    </a:p>
                  </a:txBody>
                  <a:tcPr marL="5075" marR="5075" marT="50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solidFill>
                      <a:srgbClr val="F2F2F2"/>
                    </a:solidFill>
                  </a:tcPr>
                </a:tc>
                <a:tc>
                  <a:txBody>
                    <a:bodyPr/>
                    <a:lstStyle/>
                    <a:p>
                      <a:pPr marL="0" marR="0" lvl="0" indent="0" algn="ctr" rtl="0">
                        <a:spcBef>
                          <a:spcPts val="0"/>
                        </a:spcBef>
                        <a:spcAft>
                          <a:spcPts val="0"/>
                        </a:spcAft>
                        <a:buNone/>
                      </a:pPr>
                      <a:r>
                        <a:rPr lang="es" sz="1100" b="1" i="0" u="none" strike="noStrike" cap="none">
                          <a:solidFill>
                            <a:schemeClr val="dk2"/>
                          </a:solidFill>
                          <a:latin typeface="EB Garamond"/>
                          <a:ea typeface="EB Garamond"/>
                          <a:cs typeface="EB Garamond"/>
                          <a:sym typeface="EB Garamond"/>
                        </a:rPr>
                        <a:t> </a:t>
                      </a:r>
                      <a:endParaRPr>
                        <a:solidFill>
                          <a:schemeClr val="dk2"/>
                        </a:solidFill>
                        <a:latin typeface="EB Garamond"/>
                        <a:ea typeface="EB Garamond"/>
                        <a:cs typeface="EB Garamond"/>
                        <a:sym typeface="EB Garamond"/>
                      </a:endParaRPr>
                    </a:p>
                  </a:txBody>
                  <a:tcPr marL="5075" marR="5075" marT="50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solidFill>
                      <a:srgbClr val="F2F2F2"/>
                    </a:solidFill>
                  </a:tcPr>
                </a:tc>
                <a:tc>
                  <a:txBody>
                    <a:bodyPr/>
                    <a:lstStyle/>
                    <a:p>
                      <a:pPr marL="0" marR="0" lvl="0" indent="0" algn="l" rtl="0">
                        <a:spcBef>
                          <a:spcPts val="0"/>
                        </a:spcBef>
                        <a:spcAft>
                          <a:spcPts val="0"/>
                        </a:spcAft>
                        <a:buNone/>
                      </a:pPr>
                      <a:r>
                        <a:rPr lang="es" sz="1100" i="0" u="none" strike="noStrike" cap="none">
                          <a:solidFill>
                            <a:schemeClr val="dk2"/>
                          </a:solidFill>
                          <a:latin typeface="EB Garamond"/>
                          <a:ea typeface="EB Garamond"/>
                          <a:cs typeface="EB Garamond"/>
                          <a:sym typeface="EB Garamond"/>
                        </a:rPr>
                        <a:t> </a:t>
                      </a:r>
                      <a:endParaRPr>
                        <a:solidFill>
                          <a:schemeClr val="dk2"/>
                        </a:solidFill>
                        <a:latin typeface="EB Garamond"/>
                        <a:ea typeface="EB Garamond"/>
                        <a:cs typeface="EB Garamond"/>
                        <a:sym typeface="EB Garamond"/>
                      </a:endParaRPr>
                    </a:p>
                  </a:txBody>
                  <a:tcPr marL="5075" marR="5075" marT="50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solidFill>
                      <a:srgbClr val="F2F2F2"/>
                    </a:solid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99"/>
        <p:cNvGrpSpPr/>
        <p:nvPr/>
      </p:nvGrpSpPr>
      <p:grpSpPr>
        <a:xfrm>
          <a:off x="0" y="0"/>
          <a:ext cx="0" cy="0"/>
          <a:chOff x="0" y="0"/>
          <a:chExt cx="0" cy="0"/>
        </a:xfrm>
      </p:grpSpPr>
      <p:sp>
        <p:nvSpPr>
          <p:cNvPr id="400" name="Google Shape;400;p43"/>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r>
              <a:rPr lang="es">
                <a:latin typeface="EB Garamond"/>
                <a:ea typeface="EB Garamond"/>
                <a:cs typeface="EB Garamond"/>
                <a:sym typeface="EB Garamond"/>
              </a:rPr>
              <a:t>Métodos Cuantitativos</a:t>
            </a:r>
            <a:endParaRPr>
              <a:latin typeface="EB Garamond"/>
              <a:ea typeface="EB Garamond"/>
              <a:cs typeface="EB Garamond"/>
              <a:sym typeface="EB Garamond"/>
            </a:endParaRPr>
          </a:p>
        </p:txBody>
      </p:sp>
      <p:sp>
        <p:nvSpPr>
          <p:cNvPr id="401" name="Google Shape;401;p43"/>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fontScale="92500"/>
          </a:bodyPr>
          <a:lstStyle/>
          <a:p>
            <a:pPr marL="0" lvl="0" indent="0" algn="ctr" rtl="0">
              <a:spcBef>
                <a:spcPts val="0"/>
              </a:spcBef>
              <a:spcAft>
                <a:spcPts val="0"/>
              </a:spcAft>
              <a:buNone/>
            </a:pPr>
            <a:r>
              <a:rPr lang="es" sz="2600">
                <a:latin typeface="EB Garamond"/>
                <a:ea typeface="EB Garamond"/>
                <a:cs typeface="EB Garamond"/>
                <a:sym typeface="EB Garamond"/>
              </a:rPr>
              <a:t>Clase 01: Unidad I. Introducción a la investigación social cuantitativa</a:t>
            </a:r>
            <a:endParaRPr sz="2600">
              <a:latin typeface="EB Garamond"/>
              <a:ea typeface="EB Garamond"/>
              <a:cs typeface="EB Garamond"/>
              <a:sym typeface="EB Garamond"/>
            </a:endParaRPr>
          </a:p>
        </p:txBody>
      </p:sp>
      <p:sp>
        <p:nvSpPr>
          <p:cNvPr id="402" name="Google Shape;402;p43"/>
          <p:cNvSpPr txBox="1">
            <a:spLocks noGrp="1"/>
          </p:cNvSpPr>
          <p:nvPr>
            <p:ph type="subTitle" idx="1"/>
          </p:nvPr>
        </p:nvSpPr>
        <p:spPr>
          <a:xfrm>
            <a:off x="311700" y="384875"/>
            <a:ext cx="8520600" cy="792600"/>
          </a:xfrm>
          <a:prstGeom prst="rect">
            <a:avLst/>
          </a:prstGeom>
        </p:spPr>
        <p:txBody>
          <a:bodyPr spcFirstLastPara="1" wrap="square" lIns="91425" tIns="91425" rIns="91425" bIns="91425" anchor="t" anchorCtr="0">
            <a:normAutofit/>
          </a:bodyPr>
          <a:lstStyle/>
          <a:p>
            <a:pPr marL="0" lvl="0" indent="0" algn="l" rtl="0">
              <a:lnSpc>
                <a:spcPct val="80000"/>
              </a:lnSpc>
              <a:spcBef>
                <a:spcPts val="0"/>
              </a:spcBef>
              <a:spcAft>
                <a:spcPts val="0"/>
              </a:spcAft>
              <a:buNone/>
            </a:pPr>
            <a:r>
              <a:rPr lang="es" sz="1400">
                <a:latin typeface="EB Garamond"/>
                <a:ea typeface="EB Garamond"/>
                <a:cs typeface="EB Garamond"/>
                <a:sym typeface="EB Garamond"/>
              </a:rPr>
              <a:t>Universidad Diego Portales</a:t>
            </a:r>
            <a:endParaRPr sz="1400">
              <a:latin typeface="EB Garamond"/>
              <a:ea typeface="EB Garamond"/>
              <a:cs typeface="EB Garamond"/>
              <a:sym typeface="EB Garamond"/>
            </a:endParaRPr>
          </a:p>
          <a:p>
            <a:pPr marL="0" lvl="0" indent="0" algn="l" rtl="0">
              <a:lnSpc>
                <a:spcPct val="80000"/>
              </a:lnSpc>
              <a:spcBef>
                <a:spcPts val="0"/>
              </a:spcBef>
              <a:spcAft>
                <a:spcPts val="0"/>
              </a:spcAft>
              <a:buNone/>
            </a:pPr>
            <a:r>
              <a:rPr lang="es" sz="1400">
                <a:latin typeface="EB Garamond"/>
                <a:ea typeface="EB Garamond"/>
                <a:cs typeface="EB Garamond"/>
                <a:sym typeface="EB Garamond"/>
              </a:rPr>
              <a:t>Facultad de Ciencias Sociales e Historia</a:t>
            </a:r>
            <a:endParaRPr sz="1400">
              <a:latin typeface="EB Garamond"/>
              <a:ea typeface="EB Garamond"/>
              <a:cs typeface="EB Garamond"/>
              <a:sym typeface="EB Garamond"/>
            </a:endParaRPr>
          </a:p>
          <a:p>
            <a:pPr marL="0" lvl="0" indent="0" algn="l" rtl="0">
              <a:lnSpc>
                <a:spcPct val="80000"/>
              </a:lnSpc>
              <a:spcBef>
                <a:spcPts val="0"/>
              </a:spcBef>
              <a:spcAft>
                <a:spcPts val="0"/>
              </a:spcAft>
              <a:buClr>
                <a:schemeClr val="dk1"/>
              </a:buClr>
              <a:buSzPts val="1100"/>
              <a:buFont typeface="Arial"/>
              <a:buNone/>
            </a:pPr>
            <a:r>
              <a:rPr lang="es" sz="1400">
                <a:latin typeface="EB Garamond"/>
                <a:ea typeface="EB Garamond"/>
                <a:cs typeface="EB Garamond"/>
                <a:sym typeface="EB Garamond"/>
              </a:rPr>
              <a:t>Antropología</a:t>
            </a:r>
            <a:endParaRPr sz="1400">
              <a:latin typeface="EB Garamond"/>
              <a:ea typeface="EB Garamond"/>
              <a:cs typeface="EB Garamond"/>
              <a:sym typeface="EB Garamond"/>
            </a:endParaRPr>
          </a:p>
        </p:txBody>
      </p:sp>
      <p:sp>
        <p:nvSpPr>
          <p:cNvPr id="403" name="Google Shape;403;p43"/>
          <p:cNvSpPr txBox="1">
            <a:spLocks noGrp="1"/>
          </p:cNvSpPr>
          <p:nvPr>
            <p:ph type="subTitle" idx="1"/>
          </p:nvPr>
        </p:nvSpPr>
        <p:spPr>
          <a:xfrm>
            <a:off x="311700" y="4033150"/>
            <a:ext cx="8520600" cy="792600"/>
          </a:xfrm>
          <a:prstGeom prst="rect">
            <a:avLst/>
          </a:prstGeom>
        </p:spPr>
        <p:txBody>
          <a:bodyPr spcFirstLastPara="1" wrap="square" lIns="91425" tIns="91425" rIns="91425" bIns="91425" anchor="t" anchorCtr="0">
            <a:normAutofit/>
          </a:bodyPr>
          <a:lstStyle/>
          <a:p>
            <a:pPr marL="0" lvl="0" indent="0" algn="r" rtl="0">
              <a:lnSpc>
                <a:spcPct val="80000"/>
              </a:lnSpc>
              <a:spcBef>
                <a:spcPts val="0"/>
              </a:spcBef>
              <a:spcAft>
                <a:spcPts val="0"/>
              </a:spcAft>
              <a:buClr>
                <a:schemeClr val="dk1"/>
              </a:buClr>
              <a:buSzPts val="1018"/>
              <a:buFont typeface="Arial"/>
              <a:buNone/>
            </a:pPr>
            <a:r>
              <a:rPr lang="es" sz="1405">
                <a:latin typeface="EB Garamond"/>
                <a:ea typeface="EB Garamond"/>
                <a:cs typeface="EB Garamond"/>
                <a:sym typeface="EB Garamond"/>
              </a:rPr>
              <a:t>Profesora: Daniela Olivares Collío</a:t>
            </a:r>
            <a:endParaRPr sz="1405">
              <a:latin typeface="EB Garamond"/>
              <a:ea typeface="EB Garamond"/>
              <a:cs typeface="EB Garamond"/>
              <a:sym typeface="EB Garamond"/>
            </a:endParaRPr>
          </a:p>
          <a:p>
            <a:pPr marL="0" lvl="0" indent="0" algn="r" rtl="0">
              <a:lnSpc>
                <a:spcPct val="80000"/>
              </a:lnSpc>
              <a:spcBef>
                <a:spcPts val="0"/>
              </a:spcBef>
              <a:spcAft>
                <a:spcPts val="0"/>
              </a:spcAft>
              <a:buClr>
                <a:schemeClr val="dk1"/>
              </a:buClr>
              <a:buSzPts val="1018"/>
              <a:buFont typeface="Arial"/>
              <a:buNone/>
            </a:pPr>
            <a:r>
              <a:rPr lang="es" sz="1405">
                <a:latin typeface="EB Garamond"/>
                <a:ea typeface="EB Garamond"/>
                <a:cs typeface="EB Garamond"/>
                <a:sym typeface="EB Garamond"/>
              </a:rPr>
              <a:t>Ayudante: María Fernanda Núñez</a:t>
            </a:r>
            <a:endParaRPr sz="1405">
              <a:latin typeface="EB Garamond"/>
              <a:ea typeface="EB Garamond"/>
              <a:cs typeface="EB Garamond"/>
              <a:sym typeface="EB Garamond"/>
            </a:endParaRPr>
          </a:p>
          <a:p>
            <a:pPr marL="0" lvl="0" indent="0" algn="r" rtl="0">
              <a:lnSpc>
                <a:spcPct val="80000"/>
              </a:lnSpc>
              <a:spcBef>
                <a:spcPts val="0"/>
              </a:spcBef>
              <a:spcAft>
                <a:spcPts val="0"/>
              </a:spcAft>
              <a:buClr>
                <a:schemeClr val="dk1"/>
              </a:buClr>
              <a:buSzPts val="1018"/>
              <a:buFont typeface="Arial"/>
              <a:buNone/>
            </a:pPr>
            <a:r>
              <a:rPr lang="es" sz="1405">
                <a:latin typeface="EB Garamond"/>
                <a:ea typeface="EB Garamond"/>
                <a:cs typeface="EB Garamond"/>
                <a:sym typeface="EB Garamond"/>
              </a:rPr>
              <a:t>2do semestre 2026</a:t>
            </a:r>
            <a:endParaRPr sz="1405">
              <a:latin typeface="EB Garamond"/>
              <a:ea typeface="EB Garamond"/>
              <a:cs typeface="EB Garamond"/>
              <a:sym typeface="EB Garamond"/>
            </a:endParaRPr>
          </a:p>
        </p:txBody>
      </p:sp>
      <p:pic>
        <p:nvPicPr>
          <p:cNvPr id="404" name="Google Shape;404;p43" title="UDP_LogoRGB_2lineas_Color_SinFondo.png"/>
          <p:cNvPicPr preferRelativeResize="0"/>
          <p:nvPr/>
        </p:nvPicPr>
        <p:blipFill>
          <a:blip r:embed="rId3">
            <a:alphaModFix/>
          </a:blip>
          <a:stretch>
            <a:fillRect/>
          </a:stretch>
        </p:blipFill>
        <p:spPr>
          <a:xfrm>
            <a:off x="6169400" y="132725"/>
            <a:ext cx="2662900" cy="648275"/>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1384</Words>
  <Application>Microsoft Office PowerPoint</Application>
  <PresentationFormat>Presentación en pantalla (16:9)</PresentationFormat>
  <Paragraphs>235</Paragraphs>
  <Slides>31</Slides>
  <Notes>31</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31</vt:i4>
      </vt:variant>
    </vt:vector>
  </HeadingPairs>
  <TitlesOfParts>
    <vt:vector size="35" baseType="lpstr">
      <vt:lpstr>EB Garamond</vt:lpstr>
      <vt:lpstr>Arial</vt:lpstr>
      <vt:lpstr>Calibri</vt:lpstr>
      <vt:lpstr>Simple Light</vt:lpstr>
      <vt:lpstr>Métodos Cuantitativos</vt:lpstr>
      <vt:lpstr>Profesora: Daniela Olivares Collío daniela.olivares2@mail.udp.cl  Ayudante: Katherine Aravena Herrera katherine.aravena@ug.uchile.cl</vt:lpstr>
      <vt:lpstr>Objetivos</vt:lpstr>
      <vt:lpstr>I.2. Características de la Investigación Cuantitativa  I.2.2. Tipos de investigación social cuantitativa</vt:lpstr>
      <vt:lpstr>Investigación social cuantitativa</vt:lpstr>
      <vt:lpstr>Investigación social cuantitativa</vt:lpstr>
      <vt:lpstr>Investigación social cuantitativa</vt:lpstr>
      <vt:lpstr>I.3. Construcción de un problema de Investigación Cuantitativa  I.3.1. Problematización</vt:lpstr>
      <vt:lpstr>Pregunta-Objetivos-Hipótesis</vt:lpstr>
      <vt:lpstr>Ejemplo</vt:lpstr>
      <vt:lpstr>I.3. Construcción de un problema de Investigación Cuantitativa  I.3.2. Pregunta de Investigación</vt:lpstr>
      <vt:lpstr>I.3. Construcción de un problema de Investigación Cuantitativa  I.3.3. Objetivos de Investigación</vt:lpstr>
      <vt:lpstr>I.3. Construcción de un problema de Investigación Cuantitativa  I.3.4. Formulación de hipótesis de investigación</vt:lpstr>
      <vt:lpstr>¿Qué son las hipótesis de investigación?</vt:lpstr>
      <vt:lpstr>Lo que NO son</vt:lpstr>
      <vt:lpstr>Tipos de hipótesis de investigación según tipo de investigación</vt:lpstr>
      <vt:lpstr>Tipos de hipótesis de investigación según tipo de investigación</vt:lpstr>
      <vt:lpstr>Presentación de PowerPoint</vt:lpstr>
      <vt:lpstr>Ejercicio: ¿cuáles variables se vinculan en cada ejemplo?</vt:lpstr>
      <vt:lpstr>Características de las hipótesis</vt:lpstr>
      <vt:lpstr>Ejercicio</vt:lpstr>
      <vt:lpstr>Ejercicio</vt:lpstr>
      <vt:lpstr>Ejercicio</vt:lpstr>
      <vt:lpstr>Ejercicio</vt:lpstr>
      <vt:lpstr>¿Qué dice el estudio?</vt:lpstr>
      <vt:lpstr>Estructura de hipótesis</vt:lpstr>
      <vt:lpstr>Otro ejemplo</vt:lpstr>
      <vt:lpstr>Presentación de PowerPoint</vt:lpstr>
      <vt:lpstr>Otro ejemplo</vt:lpstr>
      <vt:lpstr>Actividad</vt:lpstr>
      <vt:lpstr>Métodos Cuantitativos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Katherine Ninoska Aravena Herrera (katherine.aravena)</cp:lastModifiedBy>
  <cp:revision>1</cp:revision>
  <dcterms:modified xsi:type="dcterms:W3CDTF">2026-05-01T22:04:20Z</dcterms:modified>
</cp:coreProperties>
</file>